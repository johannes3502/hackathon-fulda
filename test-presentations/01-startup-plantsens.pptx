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Synthetische Pilotbefragung mit 14 Betrieben in Nordhessen, März 2025. Die 38 % sind eine Schätzung aus Betriebsangaben, keine Messreihe.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Die 27 % beziehen sich auf neun Pilotbetriebe mit je drei Sensoren über sechs Wochen. Die Zahl ist nicht unabhängig validiert.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Eigene Auswertung von 14 Landkreisen. Keine externe Marktstudie, keine Kaufkraftanalyse.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Die Amortisation ist aus Wasserkosten und Ertragsstabilisierung modelliert, nicht gemessen.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Stand Oktober 2025. 9 Abos zu 79 € ergeben 711 € MRR. Keine Investorenfinanzierung.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Wettbewerbspreise aus öffentlichen Preislisten, Stand September 2025. Lokale Beratung ist eine Einschätzung aus zwölf Sondierungsgesprächen.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Keine Namen und keine Lebensläufe in dieser synthetischen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Die Aufteilung ist ein Planwert. Es gibt noch keine Investorenzusagen.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Alle Ziele sind Planwerte, keine Zusagen.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960120"/>
            <a:ext cx="731520" cy="64008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ADE80"/>
                </a:solidFill>
                <a:latin typeface="Calibri"/>
              </a:rPr>
              <a:t>PITCH DECK · SYNTHETISCHE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987552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FFFFFF"/>
                </a:solidFill>
                <a:latin typeface="Calibri"/>
              </a:rPr>
              <a:t>PlantSens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063240"/>
            <a:ext cx="96926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D7F5E4"/>
                </a:solidFill>
                <a:latin typeface="Calibri"/>
              </a:rPr>
              <a:t>Bewässerung nach Bedarf für kleine Gewächshäuser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709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D7F5E4"/>
                </a:solidFill>
                <a:latin typeface="Calibri"/>
              </a:rPr>
              <a:t>PlantSens GmbH · Kassel · Pilot 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0749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8FB9A0"/>
                </a:solidFill>
                <a:latin typeface="Calibri"/>
              </a:rPr>
              <a:t>Stand: Oktober 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08076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FB9A0"/>
                </a:solidFill>
                <a:latin typeface="Calibri"/>
              </a:rPr>
              <a:t>Synthetische Daten. Kein echtes Unternehmen, keine echten Personen.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502920"/>
            <a:ext cx="502920" cy="50292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6B45"/>
                </a:solidFill>
                <a:latin typeface="Calibri"/>
              </a:rPr>
              <a:t>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60120"/>
            <a:ext cx="10424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1">
                <a:solidFill>
                  <a:srgbClr val="16241D"/>
                </a:solidFill>
                <a:latin typeface="Calibri"/>
              </a:rPr>
              <a:t>Kleine Betriebe gießen nach Zeitplan, nicht nach Bedarf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965960"/>
            <a:ext cx="722376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56032" indent="-256032">
              <a:lnSpc>
                <a:spcPct val="112000"/>
              </a:lnSpc>
              <a:spcAft>
                <a:spcPts val="1400"/>
              </a:spcAft>
              <a:buClr>
                <a:srgbClr val="4ADE80"/>
              </a:buClr>
              <a:buFont typeface="Arial"/>
              <a:buChar char="•"/>
            </a:pPr>
            <a:r>
              <a:rPr sz="1900">
                <a:solidFill>
                  <a:srgbClr val="16241D"/>
                </a:solidFill>
                <a:latin typeface="Calibri"/>
              </a:rPr>
              <a:t>Kleine Gewächshäuser gießen nach festen Zeitplänen statt nach der Bodenfeuchte.</a:t>
            </a:r>
          </a:p>
          <a:p>
            <a:pPr marL="256032" indent="-256032">
              <a:lnSpc>
                <a:spcPct val="112000"/>
              </a:lnSpc>
              <a:spcAft>
                <a:spcPts val="1400"/>
              </a:spcAft>
              <a:buClr>
                <a:srgbClr val="4ADE80"/>
              </a:buClr>
              <a:buFont typeface="Arial"/>
              <a:buChar char="•"/>
            </a:pPr>
            <a:r>
              <a:rPr sz="1900">
                <a:solidFill>
                  <a:srgbClr val="16241D"/>
                </a:solidFill>
                <a:latin typeface="Calibri"/>
              </a:rPr>
              <a:t>In der Pilotbefragung gaben 12 von 14 Betrieben an, nach Gefühl zu gießen.</a:t>
            </a:r>
          </a:p>
          <a:p>
            <a:pPr marL="256032" indent="-256032">
              <a:lnSpc>
                <a:spcPct val="112000"/>
              </a:lnSpc>
              <a:spcAft>
                <a:spcPts val="1400"/>
              </a:spcAft>
              <a:buClr>
                <a:srgbClr val="4ADE80"/>
              </a:buClr>
              <a:buFont typeface="Arial"/>
              <a:buChar char="•"/>
            </a:pPr>
            <a:r>
              <a:rPr sz="1900">
                <a:solidFill>
                  <a:srgbClr val="16241D"/>
                </a:solidFill>
                <a:latin typeface="Calibri"/>
              </a:rPr>
              <a:t>Im Schnitt gehen 38 % des Wassers verloren.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03920" y="1783080"/>
            <a:ext cx="2926080" cy="3108960"/>
          </a:xfrm>
          <a:prstGeom prst="roundRect">
            <a:avLst>
              <a:gd name="adj" fmla="val 6000"/>
            </a:avLst>
          </a:prstGeom>
          <a:solidFill>
            <a:srgbClr val="EAF5EF"/>
          </a:solidFill>
          <a:ln w="13716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0" y="2103120"/>
            <a:ext cx="23774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146B45"/>
                </a:solidFill>
                <a:latin typeface="Calibri"/>
              </a:rPr>
              <a:t>38 %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0" y="3291839"/>
            <a:ext cx="23774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5F7268"/>
                </a:solidFill>
                <a:latin typeface="Calibri"/>
              </a:rPr>
              <a:t>Wasserverlust in kleinen Gewächshäusern ohne Messung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502920"/>
            <a:ext cx="502920" cy="50292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6B45"/>
                </a:solidFill>
                <a:latin typeface="Calibri"/>
              </a:rPr>
              <a:t>LÖSUNG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60120"/>
            <a:ext cx="10424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1">
                <a:solidFill>
                  <a:srgbClr val="16241D"/>
                </a:solidFill>
                <a:latin typeface="Calibri"/>
              </a:rPr>
              <a:t>Drei Sensoren, eine App, 27 % weniger Wasser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965960"/>
            <a:ext cx="722376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56032" indent="-256032">
              <a:lnSpc>
                <a:spcPct val="112000"/>
              </a:lnSpc>
              <a:spcAft>
                <a:spcPts val="1400"/>
              </a:spcAft>
              <a:buClr>
                <a:srgbClr val="4ADE80"/>
              </a:buClr>
              <a:buFont typeface="Arial"/>
              <a:buChar char="•"/>
            </a:pPr>
            <a:r>
              <a:rPr sz="1900">
                <a:solidFill>
                  <a:srgbClr val="16241D"/>
                </a:solidFill>
                <a:latin typeface="Calibri"/>
              </a:rPr>
              <a:t>Drei Bodenfeuchtesensoren pro 100 m² messen alle zehn Minuten.</a:t>
            </a:r>
          </a:p>
          <a:p>
            <a:pPr marL="256032" indent="-256032">
              <a:lnSpc>
                <a:spcPct val="112000"/>
              </a:lnSpc>
              <a:spcAft>
                <a:spcPts val="1400"/>
              </a:spcAft>
              <a:buClr>
                <a:srgbClr val="4ADE80"/>
              </a:buClr>
              <a:buFont typeface="Arial"/>
              <a:buChar char="•"/>
            </a:pPr>
            <a:r>
              <a:rPr sz="1900">
                <a:solidFill>
                  <a:srgbClr val="16241D"/>
                </a:solidFill>
                <a:latin typeface="Calibri"/>
              </a:rPr>
              <a:t>Die App empfiehlt Bewässerung erst unter 35 % Bodenfeuchte.</a:t>
            </a:r>
          </a:p>
          <a:p>
            <a:pPr marL="256032" indent="-256032">
              <a:lnSpc>
                <a:spcPct val="112000"/>
              </a:lnSpc>
              <a:spcAft>
                <a:spcPts val="1400"/>
              </a:spcAft>
              <a:buClr>
                <a:srgbClr val="4ADE80"/>
              </a:buClr>
              <a:buFont typeface="Arial"/>
              <a:buChar char="•"/>
            </a:pPr>
            <a:r>
              <a:rPr sz="1900">
                <a:solidFill>
                  <a:srgbClr val="16241D"/>
                </a:solidFill>
                <a:latin typeface="Calibri"/>
              </a:rPr>
              <a:t>Im sechswöchigen Pilot sank der Wasserverbrauch um 27 %.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03920" y="1783080"/>
            <a:ext cx="2926080" cy="3108960"/>
          </a:xfrm>
          <a:prstGeom prst="roundRect">
            <a:avLst>
              <a:gd name="adj" fmla="val 6000"/>
            </a:avLst>
          </a:prstGeom>
          <a:solidFill>
            <a:srgbClr val="EAF5EF"/>
          </a:solidFill>
          <a:ln w="13716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0" y="2103120"/>
            <a:ext cx="23774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146B45"/>
                </a:solidFill>
                <a:latin typeface="Calibri"/>
              </a:rPr>
              <a:t>27 %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0" y="3291839"/>
            <a:ext cx="23774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5F7268"/>
                </a:solidFill>
                <a:latin typeface="Calibri"/>
              </a:rPr>
              <a:t>weniger Wasserverbrauch im sechswöchigen Pilot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502920"/>
            <a:ext cx="502920" cy="50292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6B45"/>
                </a:solidFill>
                <a:latin typeface="Calibri"/>
              </a:rPr>
              <a:t>MARKT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60120"/>
            <a:ext cx="10424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1">
                <a:solidFill>
                  <a:srgbClr val="16241D"/>
                </a:solidFill>
                <a:latin typeface="Calibri"/>
              </a:rPr>
              <a:t>4.200 Betriebe in Hessen, 15 % Zielanteil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965960"/>
            <a:ext cx="722376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56032" indent="-256032">
              <a:lnSpc>
                <a:spcPct val="112000"/>
              </a:lnSpc>
              <a:spcAft>
                <a:spcPts val="1400"/>
              </a:spcAft>
              <a:buClr>
                <a:srgbClr val="4ADE80"/>
              </a:buClr>
              <a:buFont typeface="Arial"/>
              <a:buChar char="•"/>
            </a:pPr>
            <a:r>
              <a:rPr sz="1900">
                <a:solidFill>
                  <a:srgbClr val="16241D"/>
                </a:solidFill>
                <a:latin typeface="Calibri"/>
              </a:rPr>
              <a:t>4.200 Kleinbetriebe mit 100 bis 1.000 m² in Hessen.</a:t>
            </a:r>
          </a:p>
          <a:p>
            <a:pPr marL="256032" indent="-256032">
              <a:lnSpc>
                <a:spcPct val="112000"/>
              </a:lnSpc>
              <a:spcAft>
                <a:spcPts val="1400"/>
              </a:spcAft>
              <a:buClr>
                <a:srgbClr val="4ADE80"/>
              </a:buClr>
              <a:buFont typeface="Arial"/>
              <a:buChar char="•"/>
            </a:pPr>
            <a:r>
              <a:rPr sz="1900">
                <a:solidFill>
                  <a:srgbClr val="16241D"/>
                </a:solidFill>
                <a:latin typeface="Calibri"/>
              </a:rPr>
              <a:t>Zielmarkt sind Betriebe ohne feste Bewässerungsanlage.</a:t>
            </a:r>
          </a:p>
          <a:p>
            <a:pPr marL="256032" indent="-256032">
              <a:lnSpc>
                <a:spcPct val="112000"/>
              </a:lnSpc>
              <a:spcAft>
                <a:spcPts val="1400"/>
              </a:spcAft>
              <a:buClr>
                <a:srgbClr val="4ADE80"/>
              </a:buClr>
              <a:buFont typeface="Arial"/>
              <a:buChar char="•"/>
            </a:pPr>
            <a:r>
              <a:rPr sz="1900">
                <a:solidFill>
                  <a:srgbClr val="16241D"/>
                </a:solidFill>
                <a:latin typeface="Calibri"/>
              </a:rPr>
              <a:t>Geplanter Marktanteil: 15 % in drei Jahren.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03920" y="1783080"/>
            <a:ext cx="2926080" cy="3108960"/>
          </a:xfrm>
          <a:prstGeom prst="roundRect">
            <a:avLst>
              <a:gd name="adj" fmla="val 6000"/>
            </a:avLst>
          </a:prstGeom>
          <a:solidFill>
            <a:srgbClr val="EAF5EF"/>
          </a:solidFill>
          <a:ln w="13716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0" y="2103120"/>
            <a:ext cx="23774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146B45"/>
                </a:solidFill>
                <a:latin typeface="Calibri"/>
              </a:rPr>
              <a:t>4.200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0" y="3291839"/>
            <a:ext cx="23774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5F7268"/>
                </a:solidFill>
                <a:latin typeface="Calibri"/>
              </a:rPr>
              <a:t>Kleinbetriebe im Zielmarkt Hessen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502920"/>
            <a:ext cx="502920" cy="50292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6B45"/>
                </a:solidFill>
                <a:latin typeface="Calibri"/>
              </a:rPr>
              <a:t>GESCHÄFTSMODELL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60120"/>
            <a:ext cx="10424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1">
                <a:solidFill>
                  <a:srgbClr val="16241D"/>
                </a:solidFill>
                <a:latin typeface="Calibri"/>
              </a:rPr>
              <a:t>Hardware plus Abo, amortisiert in 14 Monaten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828800"/>
          <a:ext cx="10607040" cy="3291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80560"/>
                <a:gridCol w="6126480"/>
              </a:tblGrid>
              <a:tr h="658368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Position</a:t>
                      </a:r>
                    </a:p>
                  </a:txBody>
                  <a:tcPr marL="128016" marR="128016" marT="54864" marB="54864" anchor="ctr">
                    <a:solidFill>
                      <a:srgbClr val="146B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Wert</a:t>
                      </a:r>
                    </a:p>
                  </a:txBody>
                  <a:tcPr marL="128016" marR="128016" marT="54864" marB="54864" anchor="ctr">
                    <a:solidFill>
                      <a:srgbClr val="146B45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6241D"/>
                          </a:solidFill>
                          <a:latin typeface="Calibri"/>
                        </a:rPr>
                        <a:t>Hardware</a:t>
                      </a:r>
                    </a:p>
                  </a:txBody>
                  <a:tcPr marL="128016" marR="128016" marT="54864" marB="54864" anchor="ctr">
                    <a:solidFill>
                      <a:srgbClr val="EA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6241D"/>
                          </a:solidFill>
                          <a:latin typeface="Calibri"/>
                        </a:rPr>
                        <a:t>149 € einmalig</a:t>
                      </a:r>
                    </a:p>
                  </a:txBody>
                  <a:tcPr marL="128016" marR="128016" marT="54864" marB="54864" anchor="ctr">
                    <a:solidFill>
                      <a:srgbClr val="EAF5E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6241D"/>
                          </a:solidFill>
                          <a:latin typeface="Calibri"/>
                        </a:rPr>
                        <a:t>Abo</a:t>
                      </a:r>
                    </a:p>
                  </a:txBody>
                  <a:tcPr marL="128016" marR="12801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6241D"/>
                          </a:solidFill>
                          <a:latin typeface="Calibri"/>
                        </a:rPr>
                        <a:t>79 € pro Monat</a:t>
                      </a:r>
                    </a:p>
                  </a:txBody>
                  <a:tcPr marL="128016" marR="128016" marT="54864" marB="54864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6241D"/>
                          </a:solidFill>
                          <a:latin typeface="Calibri"/>
                        </a:rPr>
                        <a:t>Sensoren pro Betrieb</a:t>
                      </a:r>
                    </a:p>
                  </a:txBody>
                  <a:tcPr marL="128016" marR="128016" marT="54864" marB="54864" anchor="ctr">
                    <a:solidFill>
                      <a:srgbClr val="EA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6241D"/>
                          </a:solidFill>
                          <a:latin typeface="Calibri"/>
                        </a:rPr>
                        <a:t>3 pro 100 m²</a:t>
                      </a:r>
                    </a:p>
                  </a:txBody>
                  <a:tcPr marL="128016" marR="128016" marT="54864" marB="54864" anchor="ctr">
                    <a:solidFill>
                      <a:srgbClr val="EAF5E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6241D"/>
                          </a:solidFill>
                          <a:latin typeface="Calibri"/>
                        </a:rPr>
                        <a:t>Amortisation für den Kunden</a:t>
                      </a:r>
                    </a:p>
                  </a:txBody>
                  <a:tcPr marL="128016" marR="12801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6241D"/>
                          </a:solidFill>
                          <a:latin typeface="Calibri"/>
                        </a:rPr>
                        <a:t>14 Monate</a:t>
                      </a:r>
                    </a:p>
                  </a:txBody>
                  <a:tcPr marL="128016" marR="128016" marT="54864" marB="5486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502920"/>
            <a:ext cx="502920" cy="50292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6B45"/>
                </a:solidFill>
                <a:latin typeface="Calibri"/>
              </a:rPr>
              <a:t>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60120"/>
            <a:ext cx="10424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1">
                <a:solidFill>
                  <a:srgbClr val="16241D"/>
                </a:solidFill>
                <a:latin typeface="Calibri"/>
              </a:rPr>
              <a:t>Neun Pilotbetriebe, alle zahlen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965960"/>
            <a:ext cx="722376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56032" indent="-256032">
              <a:lnSpc>
                <a:spcPct val="112000"/>
              </a:lnSpc>
              <a:spcAft>
                <a:spcPts val="1400"/>
              </a:spcAft>
              <a:buClr>
                <a:srgbClr val="4ADE80"/>
              </a:buClr>
              <a:buFont typeface="Arial"/>
              <a:buChar char="•"/>
            </a:pPr>
            <a:r>
              <a:rPr sz="1900">
                <a:solidFill>
                  <a:srgbClr val="16241D"/>
                </a:solidFill>
                <a:latin typeface="Calibri"/>
              </a:rPr>
              <a:t>9 Pilotbetriebe, alle 9 zahlen das Abo.</a:t>
            </a:r>
          </a:p>
          <a:p>
            <a:pPr marL="256032" indent="-256032">
              <a:lnSpc>
                <a:spcPct val="112000"/>
              </a:lnSpc>
              <a:spcAft>
                <a:spcPts val="1400"/>
              </a:spcAft>
              <a:buClr>
                <a:srgbClr val="4ADE80"/>
              </a:buClr>
              <a:buFont typeface="Arial"/>
              <a:buChar char="•"/>
            </a:pPr>
            <a:r>
              <a:rPr sz="1900">
                <a:solidFill>
                  <a:srgbClr val="16241D"/>
                </a:solidFill>
                <a:latin typeface="Calibri"/>
              </a:rPr>
              <a:t>Monatlich wiederkehrender Umsatz: 711 €.</a:t>
            </a:r>
          </a:p>
          <a:p>
            <a:pPr marL="256032" indent="-256032">
              <a:lnSpc>
                <a:spcPct val="112000"/>
              </a:lnSpc>
              <a:spcAft>
                <a:spcPts val="1400"/>
              </a:spcAft>
              <a:buClr>
                <a:srgbClr val="4ADE80"/>
              </a:buClr>
              <a:buFont typeface="Arial"/>
              <a:buChar char="•"/>
            </a:pPr>
            <a:r>
              <a:rPr sz="1900">
                <a:solidFill>
                  <a:srgbClr val="16241D"/>
                </a:solidFill>
                <a:latin typeface="Calibri"/>
              </a:rPr>
              <a:t>Churn seit dem Start: 0.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03920" y="1783080"/>
            <a:ext cx="2926080" cy="3108960"/>
          </a:xfrm>
          <a:prstGeom prst="roundRect">
            <a:avLst>
              <a:gd name="adj" fmla="val 6000"/>
            </a:avLst>
          </a:prstGeom>
          <a:solidFill>
            <a:srgbClr val="EAF5EF"/>
          </a:solidFill>
          <a:ln w="13716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0" y="2103120"/>
            <a:ext cx="23774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146B45"/>
                </a:solidFill>
                <a:latin typeface="Calibri"/>
              </a:rPr>
              <a:t>711 €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0" y="3291839"/>
            <a:ext cx="23774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5F7268"/>
                </a:solidFill>
                <a:latin typeface="Calibri"/>
              </a:rPr>
              <a:t>MRR aus neun Abos zu je 79 €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502920"/>
            <a:ext cx="502920" cy="50292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6B45"/>
                </a:solidFill>
                <a:latin typeface="Calibri"/>
              </a:rPr>
              <a:t>WETTBEWERB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60120"/>
            <a:ext cx="10424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1">
                <a:solidFill>
                  <a:srgbClr val="16241D"/>
                </a:solidFill>
                <a:latin typeface="Calibri"/>
              </a:rPr>
              <a:t>Günstiger und lokal beraten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965960"/>
            <a:ext cx="722376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56032" indent="-256032">
              <a:lnSpc>
                <a:spcPct val="112000"/>
              </a:lnSpc>
              <a:spcAft>
                <a:spcPts val="1400"/>
              </a:spcAft>
              <a:buClr>
                <a:srgbClr val="4ADE80"/>
              </a:buClr>
              <a:buFont typeface="Arial"/>
              <a:buChar char="•"/>
            </a:pPr>
            <a:r>
              <a:rPr sz="1900">
                <a:solidFill>
                  <a:srgbClr val="16241D"/>
                </a:solidFill>
                <a:latin typeface="Calibri"/>
              </a:rPr>
              <a:t>Bestehende Systeme kosten ab 900 € Anschaffung.</a:t>
            </a:r>
          </a:p>
          <a:p>
            <a:pPr marL="256032" indent="-256032">
              <a:lnSpc>
                <a:spcPct val="112000"/>
              </a:lnSpc>
              <a:spcAft>
                <a:spcPts val="1400"/>
              </a:spcAft>
              <a:buClr>
                <a:srgbClr val="4ADE80"/>
              </a:buClr>
              <a:buFont typeface="Arial"/>
              <a:buChar char="•"/>
            </a:pPr>
            <a:r>
              <a:rPr sz="1900">
                <a:solidFill>
                  <a:srgbClr val="16241D"/>
                </a:solidFill>
                <a:latin typeface="Calibri"/>
              </a:rPr>
              <a:t>Kein Anbieter bietet lokale Beratung in Hessen.</a:t>
            </a:r>
          </a:p>
          <a:p>
            <a:pPr marL="256032" indent="-256032">
              <a:lnSpc>
                <a:spcPct val="112000"/>
              </a:lnSpc>
              <a:spcAft>
                <a:spcPts val="1400"/>
              </a:spcAft>
              <a:buClr>
                <a:srgbClr val="4ADE80"/>
              </a:buClr>
              <a:buFont typeface="Arial"/>
              <a:buChar char="•"/>
            </a:pPr>
            <a:r>
              <a:rPr sz="1900">
                <a:solidFill>
                  <a:srgbClr val="16241D"/>
                </a:solidFill>
                <a:latin typeface="Calibri"/>
              </a:rPr>
              <a:t>Unsere Installation dauert unter zwei Stunden.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03920" y="1783080"/>
            <a:ext cx="2926080" cy="3108960"/>
          </a:xfrm>
          <a:prstGeom prst="roundRect">
            <a:avLst>
              <a:gd name="adj" fmla="val 6000"/>
            </a:avLst>
          </a:prstGeom>
          <a:solidFill>
            <a:srgbClr val="EAF5EF"/>
          </a:solidFill>
          <a:ln w="13716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0" y="2103120"/>
            <a:ext cx="23774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146B45"/>
                </a:solidFill>
                <a:latin typeface="Calibri"/>
              </a:rPr>
              <a:t>ab 900 €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0" y="3291839"/>
            <a:ext cx="23774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5F7268"/>
                </a:solidFill>
                <a:latin typeface="Calibri"/>
              </a:rPr>
              <a:t>Anschaffung bei bestehenden Systemen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502920"/>
            <a:ext cx="502920" cy="50292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6B45"/>
                </a:solidFill>
                <a:latin typeface="Calibri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60120"/>
            <a:ext cx="10424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1">
                <a:solidFill>
                  <a:srgbClr val="16241D"/>
                </a:solidFill>
                <a:latin typeface="Calibri"/>
              </a:rPr>
              <a:t>Drei Personen, drei Disziplinen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965960"/>
            <a:ext cx="722376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56032" indent="-256032">
              <a:lnSpc>
                <a:spcPct val="112000"/>
              </a:lnSpc>
              <a:spcAft>
                <a:spcPts val="1400"/>
              </a:spcAft>
              <a:buClr>
                <a:srgbClr val="4ADE80"/>
              </a:buClr>
              <a:buFont typeface="Arial"/>
              <a:buChar char="•"/>
            </a:pPr>
            <a:r>
              <a:rPr sz="1900">
                <a:solidFill>
                  <a:srgbClr val="16241D"/>
                </a:solidFill>
                <a:latin typeface="Calibri"/>
              </a:rPr>
              <a:t>Drei Personen im Kernteam, alle in Vollzeit.</a:t>
            </a:r>
          </a:p>
          <a:p>
            <a:pPr marL="256032" indent="-256032">
              <a:lnSpc>
                <a:spcPct val="112000"/>
              </a:lnSpc>
              <a:spcAft>
                <a:spcPts val="1400"/>
              </a:spcAft>
              <a:buClr>
                <a:srgbClr val="4ADE80"/>
              </a:buClr>
              <a:buFont typeface="Arial"/>
              <a:buChar char="•"/>
            </a:pPr>
            <a:r>
              <a:rPr sz="1900">
                <a:solidFill>
                  <a:srgbClr val="16241D"/>
                </a:solidFill>
                <a:latin typeface="Calibri"/>
              </a:rPr>
              <a:t>Agrarwissenschaft, IoT-Entwicklung und Vertrieb.</a:t>
            </a:r>
          </a:p>
          <a:p>
            <a:pPr marL="256032" indent="-256032">
              <a:lnSpc>
                <a:spcPct val="112000"/>
              </a:lnSpc>
              <a:spcAft>
                <a:spcPts val="1400"/>
              </a:spcAft>
              <a:buClr>
                <a:srgbClr val="4ADE80"/>
              </a:buClr>
              <a:buFont typeface="Arial"/>
              <a:buChar char="•"/>
            </a:pPr>
            <a:r>
              <a:rPr sz="1900">
                <a:solidFill>
                  <a:srgbClr val="16241D"/>
                </a:solidFill>
                <a:latin typeface="Calibri"/>
              </a:rPr>
              <a:t>Zwei Gründerinnen und ein Gründer.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03920" y="1783080"/>
            <a:ext cx="2926080" cy="3108960"/>
          </a:xfrm>
          <a:prstGeom prst="roundRect">
            <a:avLst>
              <a:gd name="adj" fmla="val 6000"/>
            </a:avLst>
          </a:prstGeom>
          <a:solidFill>
            <a:srgbClr val="EAF5EF"/>
          </a:solidFill>
          <a:ln w="13716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0" y="2103120"/>
            <a:ext cx="23774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146B45"/>
                </a:solidFill>
                <a:latin typeface="Calibr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0" y="3291839"/>
            <a:ext cx="23774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5F7268"/>
                </a:solidFill>
                <a:latin typeface="Calibri"/>
              </a:rPr>
              <a:t>Personen im Kernteam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502920"/>
            <a:ext cx="502920" cy="50292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6B45"/>
                </a:solidFill>
                <a:latin typeface="Calibri"/>
              </a:rPr>
              <a:t>FINANZIERUNG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60120"/>
            <a:ext cx="10424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1">
                <a:solidFill>
                  <a:srgbClr val="16241D"/>
                </a:solidFill>
                <a:latin typeface="Calibri"/>
              </a:rPr>
              <a:t>250.000 € für 18 Monate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965960"/>
            <a:ext cx="722376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56032" indent="-256032">
              <a:lnSpc>
                <a:spcPct val="112000"/>
              </a:lnSpc>
              <a:spcAft>
                <a:spcPts val="1400"/>
              </a:spcAft>
              <a:buClr>
                <a:srgbClr val="4ADE80"/>
              </a:buClr>
              <a:buFont typeface="Arial"/>
              <a:buChar char="•"/>
            </a:pPr>
            <a:r>
              <a:rPr sz="1900">
                <a:solidFill>
                  <a:srgbClr val="16241D"/>
                </a:solidFill>
                <a:latin typeface="Calibri"/>
              </a:rPr>
              <a:t>250.000 € für 18 Monate Laufzeit.</a:t>
            </a:r>
          </a:p>
          <a:p>
            <a:pPr marL="256032" indent="-256032">
              <a:lnSpc>
                <a:spcPct val="112000"/>
              </a:lnSpc>
              <a:spcAft>
                <a:spcPts val="1400"/>
              </a:spcAft>
              <a:buClr>
                <a:srgbClr val="4ADE80"/>
              </a:buClr>
              <a:buFont typeface="Arial"/>
              <a:buChar char="•"/>
            </a:pPr>
            <a:r>
              <a:rPr sz="1900">
                <a:solidFill>
                  <a:srgbClr val="16241D"/>
                </a:solidFill>
                <a:latin typeface="Calibri"/>
              </a:rPr>
              <a:t>60 % Produktentwicklung, 40 % Vertrieb.</a:t>
            </a:r>
          </a:p>
          <a:p>
            <a:pPr marL="256032" indent="-256032">
              <a:lnSpc>
                <a:spcPct val="112000"/>
              </a:lnSpc>
              <a:spcAft>
                <a:spcPts val="1400"/>
              </a:spcAft>
              <a:buClr>
                <a:srgbClr val="4ADE80"/>
              </a:buClr>
              <a:buFont typeface="Arial"/>
              <a:buChar char="•"/>
            </a:pPr>
            <a:r>
              <a:rPr sz="1900">
                <a:solidFill>
                  <a:srgbClr val="16241D"/>
                </a:solidFill>
                <a:latin typeface="Calibri"/>
              </a:rPr>
              <a:t>Meilenstein: 60 zahlende Betriebe bis Q4 2026.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03920" y="1783080"/>
            <a:ext cx="2926080" cy="3108960"/>
          </a:xfrm>
          <a:prstGeom prst="roundRect">
            <a:avLst>
              <a:gd name="adj" fmla="val 6000"/>
            </a:avLst>
          </a:prstGeom>
          <a:solidFill>
            <a:srgbClr val="EAF5EF"/>
          </a:solidFill>
          <a:ln w="13716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0" y="2103120"/>
            <a:ext cx="23774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146B45"/>
                </a:solidFill>
                <a:latin typeface="Calibri"/>
              </a:rPr>
              <a:t>250.000 €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0" y="3291839"/>
            <a:ext cx="23774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5F7268"/>
                </a:solidFill>
                <a:latin typeface="Calibri"/>
              </a:rPr>
              <a:t>Finanzierungsbedarf für 18 Monate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502920"/>
            <a:ext cx="502920" cy="50292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6B45"/>
                </a:solidFill>
                <a:latin typeface="Calibri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60120"/>
            <a:ext cx="10424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1">
                <a:solidFill>
                  <a:srgbClr val="16241D"/>
                </a:solidFill>
                <a:latin typeface="Calibri"/>
              </a:rPr>
              <a:t>Vom Pilot zur Serie in vier Quartalen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828800"/>
          <a:ext cx="10607040" cy="3291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77440"/>
                <a:gridCol w="8229600"/>
              </a:tblGrid>
              <a:tr h="658368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Quartal</a:t>
                      </a:r>
                    </a:p>
                  </a:txBody>
                  <a:tcPr marL="128016" marR="128016" marT="54864" marB="54864" anchor="ctr">
                    <a:solidFill>
                      <a:srgbClr val="146B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Meilenstein</a:t>
                      </a:r>
                    </a:p>
                  </a:txBody>
                  <a:tcPr marL="128016" marR="128016" marT="54864" marB="54864" anchor="ctr">
                    <a:solidFill>
                      <a:srgbClr val="146B45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6241D"/>
                          </a:solidFill>
                          <a:latin typeface="Calibri"/>
                        </a:rPr>
                        <a:t>Q1 2026</a:t>
                      </a:r>
                    </a:p>
                  </a:txBody>
                  <a:tcPr marL="128016" marR="128016" marT="54864" marB="54864" anchor="ctr">
                    <a:solidFill>
                      <a:srgbClr val="EA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6241D"/>
                          </a:solidFill>
                          <a:latin typeface="Calibri"/>
                        </a:rPr>
                        <a:t>Sensor v2 mit Solarbetrieb</a:t>
                      </a:r>
                    </a:p>
                  </a:txBody>
                  <a:tcPr marL="128016" marR="128016" marT="54864" marB="54864" anchor="ctr">
                    <a:solidFill>
                      <a:srgbClr val="EAF5E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6241D"/>
                          </a:solidFill>
                          <a:latin typeface="Calibri"/>
                        </a:rPr>
                        <a:t>Q2 2026</a:t>
                      </a:r>
                    </a:p>
                  </a:txBody>
                  <a:tcPr marL="128016" marR="12801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6241D"/>
                          </a:solidFill>
                          <a:latin typeface="Calibri"/>
                        </a:rPr>
                        <a:t>Serienfertigung bei einem Partner in Hessen</a:t>
                      </a:r>
                    </a:p>
                  </a:txBody>
                  <a:tcPr marL="128016" marR="128016" marT="54864" marB="54864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6241D"/>
                          </a:solidFill>
                          <a:latin typeface="Calibri"/>
                        </a:rPr>
                        <a:t>Q3 2026</a:t>
                      </a:r>
                    </a:p>
                  </a:txBody>
                  <a:tcPr marL="128016" marR="128016" marT="54864" marB="54864" anchor="ctr">
                    <a:solidFill>
                      <a:srgbClr val="EA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6241D"/>
                          </a:solidFill>
                          <a:latin typeface="Calibri"/>
                        </a:rPr>
                        <a:t>40 zahlende Betriebe</a:t>
                      </a:r>
                    </a:p>
                  </a:txBody>
                  <a:tcPr marL="128016" marR="128016" marT="54864" marB="54864" anchor="ctr">
                    <a:solidFill>
                      <a:srgbClr val="EAF5E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6241D"/>
                          </a:solidFill>
                          <a:latin typeface="Calibri"/>
                        </a:rPr>
                        <a:t>Q4 2026</a:t>
                      </a:r>
                    </a:p>
                  </a:txBody>
                  <a:tcPr marL="128016" marR="12801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6241D"/>
                          </a:solidFill>
                          <a:latin typeface="Calibri"/>
                        </a:rPr>
                        <a:t>60 zahlende Betriebe</a:t>
                      </a:r>
                    </a:p>
                  </a:txBody>
                  <a:tcPr marL="128016" marR="128016" marT="54864" marB="5486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PlantSens — Bewässerung nach Bedarf</dc:title>
  <dc:subject>Testpräsentation für den Präsentationstrainer</dc:subject>
  <dc:creator>Synthetische Demo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