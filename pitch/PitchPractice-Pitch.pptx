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uftakt" id="{7b9270ef-0fe5-4ae2-4d9f-d8a4bf3602cb}">
          <p14:sldIdLst>
            <p14:sldId id="256"/>
          </p14:sldIdLst>
        </p14:section>
        <p14:section name="Problem &amp; Lösung" id="{bec2090a-157e-d358-acde-c6810d527406}">
          <p14:sldIdLst>
            <p14:sldId id="257"/>
            <p14:sldId id="258"/>
          </p14:sldIdLst>
        </p14:section>
        <p14:section name="Demo" id="{067a49aa-efed-17b1-b9fb-1034b5f11aa7}">
          <p14:sldIdLst>
            <p14:sldId id="259"/>
          </p14:sldIdLst>
        </p14:section>
        <p14:section name="Features" id="{16eb5510-6d36-4e8b-efdb-62e0b1f617a6}">
          <p14:sldIdLst>
            <p14:sldId id="260"/>
            <p14:sldId id="261"/>
            <p14:sldId id="262"/>
            <p14:sldId id="263"/>
            <p14:sldId id="264"/>
          </p14:sldIdLst>
        </p14:section>
        <p14:section name="Technik &amp; Zahlen" id="{5dd80ea8-77aa-c439-2bc4-0a7c35950dbe}">
          <p14:sldIdLst>
            <p14:sldId id="265"/>
            <p14:sldId id="266"/>
            <p14:sldId id="267"/>
          </p14:sldIdLst>
        </p14:section>
        <p14:section name="Reflection &amp; Abschluss" id="{82dac9e6-0183-eb9b-39f7-6efd7fdf0b27}">
          <p14:sldIdLst>
            <p14:sldId id="268"/>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Guten Morgen, wir sind Team 418. Wir bauen Pitch Practice: einen Live-Präsentationstrainer, der Auftritt und Sprache beim Üben analysiert und jedes Feedback an die konkrete Stelle im Vortrag heftet. In den nächsten drei Minuten zeigen wir das Produkt, danach nehmen wir uns zwei Minuten für unsere AI-Reflection.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Präsentieren ist Schlüsselqualifikation — und trotzdem wird selten ehrlich geübt. Die Freundesrunde nickt, Feedback hängt nie an der konkreten Minute, Fakten gegen die eigenen Unterlagen zu prüfen ist mühsam, und eine Prüfungssimulation fehlt komplett. Genau diese vier Lücken greift unser Prototyp 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Unsere Lösung ist ein Trainer im Browser: Haltung, Gestik und Stimme werden live und lokal analysiert, der Vortrag wird transkribiert und Aussagen werden zitiergenau gegen die hochgeladenen Quellen geprüft. Alles landet timestamp-genau auf einer Timeline — und danach fragt ein Agent wie eine Prüfungskommission.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Statt weitere Folien zu lesen, schalten wir live in den Prototyp: kurz aufnehmen, stoppen, ins Review springen. Sie sehen die Momente auf der Timeline und den Sprung zur Videostelle. Die nächsten Folien fassen zusammen, was dabei im Hintergrund passiert.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Das Pose-Tracking läuft komplett im Browser mit MediaPipe — die Frames verlassen das Gerät nicht. Sieben kalibrierte Beobachtungen, kalibriert gegen eine dreisekündige Baseline, mit zweisekündiger Mindestdauer gegen Flackern. Wichtig: Die Kopfrichtung ist ein Proxy — wir behaupten bewusst keinen Blickkontakt.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 Transkription läuft lokal mit faster-whisper, mit Wort-Timestamps; das Audio bleibt auf dem Gerät. Der Fact-Check läuft in vier Schritten: Aussagen extrahieren, Quellen per Hybrid-Suche durchsuchen, Urteil mit wörtlichem Zitat — und der Code prüft per String-Match, dass das Zitat wirklich in der Quelle steht. Und wichtig: „Nicht gefunden“ ist nicht „falsch“.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Fünf Sprechmerkmale: Tempo, Pausen, Füllwörter, Lautstärke und Tonhöhenvariation. Live im Browser über ein AudioWorklet mit adaptiver Referenz — trainiert erst ab drei Sekunden stimmhafter Sprache, Stille trainiert nicht. Exakte Wortwerte wie Füllwörter und Worttempo kommen nach dem Stoppen aus den Timestamps. Monotonie ist eine Beobachtung, keine Emotionsbewertung.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Das Herzstück für den Wert in unter drei Minuten: eine gemeinsame Timeline. Ein Klick auf einen Marker springt per Peak-Zeitstempel zur Stelle im lokalen Video, plus minus zwei Sekunden. Es gibt bewusst keinen serverseitigen Clip — das Video bleibt beim Nutzer.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Nach dem Vortrag übernimmt der Frage-Agent. Er fragt gezielt nach Widersprüchen und Lücken aus dem Fact-Check, Antworten können getippt oder gesprochen werden, und jede Antwort wird mit Zitat-Prüfung gegen die Quellen verglichen. Zwei Rollen sind wählbar: neugieriges Erstsemester oder kritischer Professor. Punkte und Noten gibt es bewusst keine.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Technisch: Next.js vorne, FastAPI mit Celery und Redis hinten, Postgres mit pgvector, SeaweedFS als S3-Speicher. Der lokale Stack deckt Pose, VAD, Whisper und Embeddings ab; Cloud-Dienste wie Gemini, Deepgram oder ElevenLabs sind nur mit Einwilligung zugeschaltet. Der ganze Stack startet mit einem einzigen Compose-Befehl.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Datenschutz war für uns ein Feature, kein Anhängsel. Das Video verlässt den Client nie, das Original-Audio wird nach der Analyse gelöscht — auch bei Fehlern —, Pose-Frames gehen zu keinem Anbieter. Heuristiken kennzeichnen wir offen als unvalidiert, und es gibt keine Scores, keine Noten und keine Emotionsanalyse.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Ein paar gemessene Zahlen statt Versprechen: hundert Folien in unter drei Sekunden eingelesen und eingebettet, Hybrid-Suche über zehntausend Chunks mit vierundfünfzig Millisekunden Median, sechzig Sekunden Audio in rund einem Drittel einer Sekunde analysiert. Über fünfhundert Tests begleiten den Prototyp. Alle Messwerte stammen von einem M5 Pro mit synthetischer Last — das ist unser Prototyp, keine Garantie.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Zur AI-Reflection: KI hat uns beim Stack, bei den Pipelines und beim Agenten deutlich beschleunigt. Aber sie lag auch falsch: Ollama ersetzten wir durch Gemini, ein falsches LLM-Urteil trotz gültigem Zitat führte zur Prompt-Korrektur, Wikipedia blockte unseren ersten User-Agent, und eine zu träge Gestenregel fixten wir per Kalibriertest. Unsere Lehre: Gültiges JSON und gültiges Zitat beweisen kein richtiges Urteil — deshalb verifiziert Code jedes Zitat.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Zum Schluss: Übe den Vortrag, nicht die Folien. Der Prototyp läuft lokal auf localhost 3000, ohne Login — wir laden herzlich zum Produktreview ein. Danke.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150826"/>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6446520"/>
            <a:ext cx="3291840" cy="274320"/>
          </a:xfrm>
          <a:prstGeom prst="rect">
            <a:avLst/>
          </a:prstGeom>
          <a:noFill/>
          <a:ln/>
        </p:spPr>
        <p:txBody>
          <a:bodyPr wrap="square" lIns="0" tIns="0" rIns="0" bIns="0" rtlCol="0" anchor="ctr"/>
          <a:lstStyle/>
          <a:p>
            <a:pPr indent="0" marL="0">
              <a:buNone/>
            </a:pPr>
            <a:r>
              <a:rPr lang="en-US" sz="900" dirty="0">
                <a:solidFill>
                  <a:srgbClr val="6B6577"/>
                </a:solidFill>
                <a:latin typeface="Open Sans" pitchFamily="34" charset="0"/>
                <a:ea typeface="Open Sans" pitchFamily="34" charset="-122"/>
                <a:cs typeface="Open Sans" pitchFamily="34" charset="-120"/>
              </a:rPr>
              <a:t>418 presentation studio</a:t>
            </a:r>
            <a:endParaRPr lang="en-US" sz="900" dirty="0"/>
          </a:p>
        </p:txBody>
      </p:sp>
      <p:sp>
        <p:nvSpPr>
          <p:cNvPr id="25" name="Slide Number Placeholder 0"/>
          <p:cNvSpPr>
            <a:spLocks noGrp="1"/>
          </p:cNvSpPr>
          <p:nvPr>
            <p:ph type="sldNum" sz="quarter" idx="4294967295"/>
          </p:nvPr>
        </p:nvSpPr>
        <p:spPr>
          <a:xfrm>
            <a:off x="11338560" y="6446520"/>
            <a:ext cx="384048"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577"/>
                </a:solidFill>
                <a:latin typeface="Open Sans"/>
                <a:ea typeface="Open Sans"/>
                <a:cs typeface="Open Sans"/>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38560" y="6446520"/>
            <a:ext cx="384048"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577"/>
                </a:solidFill>
                <a:latin typeface="Open Sans"/>
                <a:ea typeface="Open Sans"/>
                <a:cs typeface="Open Sans"/>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3.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3.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3.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3.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3.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slideLayout" Target="../slideLayouts/slideLayout3.xml"/><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5113325" y="777240"/>
            <a:ext cx="1965960" cy="1965960"/>
          </a:xfrm>
          <a:prstGeom prst="roundRect">
            <a:avLst>
              <a:gd name="adj" fmla="val 7442"/>
            </a:avLst>
          </a:prstGeom>
          <a:solidFill>
            <a:srgbClr val="FFFFFF"/>
          </a:solidFill>
          <a:ln/>
        </p:spPr>
      </p:sp>
      <p:pic>
        <p:nvPicPr>
          <p:cNvPr id="3" name="Image 0" descr="/home/patrice/hackathon_fulda/hackathon-fulda/frontend/public/brand/418-pitch-practice.png">    </p:cNvPr>
          <p:cNvPicPr>
            <a:picLocks noChangeAspect="1"/>
          </p:cNvPicPr>
          <p:nvPr/>
        </p:nvPicPr>
        <p:blipFill>
          <a:blip r:embed="rId1"/>
          <a:stretch>
            <a:fillRect/>
          </a:stretch>
        </p:blipFill>
        <p:spPr>
          <a:xfrm>
            <a:off x="5241341" y="905256"/>
            <a:ext cx="1709928" cy="1709928"/>
          </a:xfrm>
          <a:prstGeom prst="rect">
            <a:avLst/>
          </a:prstGeom>
        </p:spPr>
      </p:pic>
      <p:sp>
        <p:nvSpPr>
          <p:cNvPr id="4" name="Text 1"/>
          <p:cNvSpPr txBox="1"/>
          <p:nvPr/>
        </p:nvSpPr>
        <p:spPr>
          <a:xfrm>
            <a:off x="457200" y="3063240"/>
            <a:ext cx="11277295" cy="914400"/>
          </a:xfrm>
          <a:prstGeom prst="rect">
            <a:avLst/>
          </a:prstGeom>
          <a:noFill/>
          <a:ln/>
        </p:spPr>
        <p:txBody>
          <a:bodyPr wrap="square" lIns="0" tIns="0" rIns="0" bIns="0" rtlCol="0" anchor="ctr"/>
          <a:lstStyle/>
          <a:p>
            <a:pPr algn="ctr" indent="0" marL="0">
              <a:buNone/>
            </a:pPr>
            <a:r>
              <a:rPr lang="en-US" sz="5400" b="1" dirty="0">
                <a:solidFill>
                  <a:srgbClr val="FFFFFF"/>
                </a:solidFill>
                <a:latin typeface="Open Sans" pitchFamily="34" charset="0"/>
                <a:ea typeface="Open Sans" pitchFamily="34" charset="-122"/>
                <a:cs typeface="Open Sans" pitchFamily="34" charset="-120"/>
              </a:rPr>
              <a:t>Pitch Practice</a:t>
            </a:r>
            <a:endParaRPr lang="en-US" sz="5400" dirty="0"/>
          </a:p>
        </p:txBody>
      </p:sp>
      <p:sp>
        <p:nvSpPr>
          <p:cNvPr id="5" name="Text 2"/>
          <p:cNvSpPr txBox="1"/>
          <p:nvPr/>
        </p:nvSpPr>
        <p:spPr>
          <a:xfrm>
            <a:off x="457200" y="4041648"/>
            <a:ext cx="11277295" cy="457200"/>
          </a:xfrm>
          <a:prstGeom prst="rect">
            <a:avLst/>
          </a:prstGeom>
          <a:noFill/>
          <a:ln/>
        </p:spPr>
        <p:txBody>
          <a:bodyPr wrap="square" lIns="0" tIns="0" rIns="0" bIns="0" rtlCol="0" anchor="ctr"/>
          <a:lstStyle/>
          <a:p>
            <a:pPr algn="ctr" indent="0" marL="0">
              <a:buNone/>
            </a:pPr>
            <a:r>
              <a:rPr lang="en-US" sz="2200" dirty="0">
                <a:solidFill>
                  <a:srgbClr val="CBB6F6"/>
                </a:solidFill>
                <a:latin typeface="Open Sans" pitchFamily="34" charset="0"/>
                <a:ea typeface="Open Sans" pitchFamily="34" charset="-122"/>
                <a:cs typeface="Open Sans" pitchFamily="34" charset="-120"/>
              </a:rPr>
              <a:t>Der Live-Präsentationstrainer</a:t>
            </a:r>
            <a:endParaRPr lang="en-US" sz="2200" dirty="0"/>
          </a:p>
        </p:txBody>
      </p:sp>
      <p:sp>
        <p:nvSpPr>
          <p:cNvPr id="6" name="Text 3"/>
          <p:cNvSpPr txBox="1"/>
          <p:nvPr/>
        </p:nvSpPr>
        <p:spPr>
          <a:xfrm>
            <a:off x="457200" y="5074920"/>
            <a:ext cx="11277295" cy="320040"/>
          </a:xfrm>
          <a:prstGeom prst="rect">
            <a:avLst/>
          </a:prstGeom>
          <a:noFill/>
          <a:ln/>
        </p:spPr>
        <p:txBody>
          <a:bodyPr wrap="square" lIns="0" tIns="0" rIns="0" bIns="0" rtlCol="0" anchor="ctr"/>
          <a:lstStyle/>
          <a:p>
            <a:pPr algn="ctr" indent="0" marL="0">
              <a:buNone/>
            </a:pPr>
            <a:r>
              <a:rPr lang="en-US" sz="1400" dirty="0">
                <a:solidFill>
                  <a:srgbClr val="8E82B8"/>
                </a:solidFill>
                <a:latin typeface="Open Sans" pitchFamily="34" charset="0"/>
                <a:ea typeface="Open Sans" pitchFamily="34" charset="-122"/>
                <a:cs typeface="Open Sans" pitchFamily="34" charset="-120"/>
              </a:rPr>
              <a:t>8. Hackathon Fulda · 24.–25.10.2026 · Future Education</a:t>
            </a:r>
            <a:endParaRPr lang="en-US" sz="1400" dirty="0"/>
          </a:p>
        </p:txBody>
      </p:sp>
      <p:sp>
        <p:nvSpPr>
          <p:cNvPr id="7" name="Text 4"/>
          <p:cNvSpPr txBox="1"/>
          <p:nvPr/>
        </p:nvSpPr>
        <p:spPr>
          <a:xfrm>
            <a:off x="457200" y="5440680"/>
            <a:ext cx="11277295" cy="320040"/>
          </a:xfrm>
          <a:prstGeom prst="rect">
            <a:avLst/>
          </a:prstGeom>
          <a:noFill/>
          <a:ln/>
        </p:spPr>
        <p:txBody>
          <a:bodyPr wrap="square" lIns="0" tIns="0" rIns="0" bIns="0" rtlCol="0" anchor="ctr"/>
          <a:lstStyle/>
          <a:p>
            <a:pPr algn="ctr" indent="0" marL="0">
              <a:buNone/>
            </a:pPr>
            <a:r>
              <a:rPr lang="en-US" sz="1300" b="1" dirty="0">
                <a:solidFill>
                  <a:srgbClr val="CBB6F6"/>
                </a:solidFill>
                <a:latin typeface="Open Sans" pitchFamily="34" charset="0"/>
                <a:ea typeface="Open Sans" pitchFamily="34" charset="-122"/>
                <a:cs typeface="Open Sans" pitchFamily="34" charset="-120"/>
              </a:rPr>
              <a:t>Team 418</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0" y="0"/>
            <a:ext cx="9143771" cy="0"/>
          </a:xfrm>
          <a:prstGeom prst="rect">
            <a:avLst/>
          </a:prstGeom>
          <a:noFill/>
          <a:ln/>
        </p:spPr>
        <p:txBody>
          <a:bodyPr wrap="square" rtlCol="0"/>
          <a:lstStyle/>
          <a:p>
            <a:pPr indent="0" marL="0">
              <a:buNone/>
            </a:pPr>
            <a:r>
              <a:rPr lang="en-US" dirty="0"/>
              <a:t>Üben allein macht nicht besser</a:t>
            </a:r>
            <a:endParaRPr lang="en-US" dirty="0"/>
          </a:p>
        </p:txBody>
      </p:sp>
      <p:sp>
        <p:nvSpPr>
          <p:cNvPr id="3" name="Shape 1"/>
          <p:cNvSpPr/>
          <p:nvPr/>
        </p:nvSpPr>
        <p:spPr>
          <a:xfrm>
            <a:off x="566928" y="1481328"/>
            <a:ext cx="5486400" cy="2212848"/>
          </a:xfrm>
          <a:prstGeom prst="roundRect">
            <a:avLst>
              <a:gd name="adj" fmla="val 4959"/>
            </a:avLst>
          </a:prstGeom>
          <a:solidFill>
            <a:srgbClr val="F4F0FC"/>
          </a:solidFill>
          <a:ln/>
        </p:spPr>
      </p:sp>
      <p:sp>
        <p:nvSpPr>
          <p:cNvPr id="4" name="Shape 2"/>
          <p:cNvSpPr/>
          <p:nvPr/>
        </p:nvSpPr>
        <p:spPr>
          <a:xfrm>
            <a:off x="841248" y="1773936"/>
            <a:ext cx="493776" cy="493776"/>
          </a:xfrm>
          <a:prstGeom prst="ellipse">
            <a:avLst/>
          </a:prstGeom>
          <a:solidFill>
            <a:srgbClr val="E7DEF8"/>
          </a:solidFill>
          <a:ln/>
        </p:spPr>
      </p:sp>
      <p:pic>
        <p:nvPicPr>
          <p:cNvPr id="5" name="Image 0" descr="preencoded.png">    </p:cNvPr>
          <p:cNvPicPr>
            <a:picLocks noChangeAspect="1"/>
          </p:cNvPicPr>
          <p:nvPr/>
        </p:nvPicPr>
        <p:blipFill>
          <a:blip r:embed="rId1"/>
          <a:stretch>
            <a:fillRect/>
          </a:stretch>
        </p:blipFill>
        <p:spPr>
          <a:xfrm>
            <a:off x="974568" y="1907256"/>
            <a:ext cx="227137" cy="227137"/>
          </a:xfrm>
          <a:prstGeom prst="rect">
            <a:avLst/>
          </a:prstGeom>
        </p:spPr>
      </p:pic>
      <p:sp>
        <p:nvSpPr>
          <p:cNvPr id="6" name="Text 3"/>
          <p:cNvSpPr txBox="1"/>
          <p:nvPr/>
        </p:nvSpPr>
        <p:spPr>
          <a:xfrm>
            <a:off x="1527048" y="1792224"/>
            <a:ext cx="4251960" cy="365760"/>
          </a:xfrm>
          <a:prstGeom prst="rect">
            <a:avLst/>
          </a:prstGeom>
          <a:noFill/>
          <a:ln/>
        </p:spPr>
        <p:txBody>
          <a:bodyPr wrap="square" lIns="0" tIns="0" rIns="0" bIns="0" rtlCol="0" anchor="ctr"/>
          <a:lstStyle/>
          <a:p>
            <a:pPr indent="0" marL="0">
              <a:buNone/>
            </a:pPr>
            <a:r>
              <a:rPr lang="en-US" sz="1550" b="1" dirty="0">
                <a:solidFill>
                  <a:srgbClr val="17111F"/>
                </a:solidFill>
                <a:latin typeface="Open Sans" pitchFamily="34" charset="0"/>
                <a:ea typeface="Open Sans" pitchFamily="34" charset="-122"/>
                <a:cs typeface="Open Sans" pitchFamily="34" charset="-120"/>
              </a:rPr>
              <a:t>Ehrliches Feedback ist selten</a:t>
            </a:r>
            <a:endParaRPr lang="en-US" sz="1550" dirty="0"/>
          </a:p>
        </p:txBody>
      </p:sp>
      <p:sp>
        <p:nvSpPr>
          <p:cNvPr id="7" name="Text 4"/>
          <p:cNvSpPr txBox="1"/>
          <p:nvPr/>
        </p:nvSpPr>
        <p:spPr>
          <a:xfrm>
            <a:off x="1527048" y="2258568"/>
            <a:ext cx="4206240" cy="1234440"/>
          </a:xfrm>
          <a:prstGeom prst="rect">
            <a:avLst/>
          </a:prstGeom>
          <a:noFill/>
          <a:ln/>
        </p:spPr>
        <p:txBody>
          <a:bodyPr wrap="square" lIns="0" tIns="0" rIns="0" bIns="0" rtlCol="0" anchor="t"/>
          <a:lstStyle/>
          <a:p>
            <a:pPr indent="0" marL="0">
              <a:buNone/>
            </a:pPr>
            <a:r>
              <a:rPr lang="en-US" sz="1300" dirty="0">
                <a:solidFill>
                  <a:srgbClr val="6B6577"/>
                </a:solidFill>
                <a:latin typeface="Open Sans" pitchFamily="34" charset="0"/>
                <a:ea typeface="Open Sans" pitchFamily="34" charset="-122"/>
                <a:cs typeface="Open Sans" pitchFamily="34" charset="-120"/>
              </a:rPr>
              <a:t>Die eigene Runde nickt freundlich — konkrete, unbequeme Hinweise bleiben aus.</a:t>
            </a:r>
            <a:endParaRPr lang="en-US" sz="1300" dirty="0"/>
          </a:p>
        </p:txBody>
      </p:sp>
      <p:sp>
        <p:nvSpPr>
          <p:cNvPr id="8" name="Shape 5"/>
          <p:cNvSpPr/>
          <p:nvPr/>
        </p:nvSpPr>
        <p:spPr>
          <a:xfrm>
            <a:off x="6281928" y="1481328"/>
            <a:ext cx="5486400" cy="2212848"/>
          </a:xfrm>
          <a:prstGeom prst="roundRect">
            <a:avLst>
              <a:gd name="adj" fmla="val 4959"/>
            </a:avLst>
          </a:prstGeom>
          <a:solidFill>
            <a:srgbClr val="F4F0FC"/>
          </a:solidFill>
          <a:ln/>
        </p:spPr>
      </p:sp>
      <p:sp>
        <p:nvSpPr>
          <p:cNvPr id="9" name="Shape 6"/>
          <p:cNvSpPr/>
          <p:nvPr/>
        </p:nvSpPr>
        <p:spPr>
          <a:xfrm>
            <a:off x="6556248" y="1773936"/>
            <a:ext cx="493776" cy="493776"/>
          </a:xfrm>
          <a:prstGeom prst="ellipse">
            <a:avLst/>
          </a:prstGeom>
          <a:solidFill>
            <a:srgbClr val="E7DEF8"/>
          </a:solidFill>
          <a:ln/>
        </p:spPr>
      </p:sp>
      <p:pic>
        <p:nvPicPr>
          <p:cNvPr id="10" name="Image 1" descr="preencoded.png">    </p:cNvPr>
          <p:cNvPicPr>
            <a:picLocks noChangeAspect="1"/>
          </p:cNvPicPr>
          <p:nvPr/>
        </p:nvPicPr>
        <p:blipFill>
          <a:blip r:embed="rId2"/>
          <a:stretch>
            <a:fillRect/>
          </a:stretch>
        </p:blipFill>
        <p:spPr>
          <a:xfrm>
            <a:off x="6689568" y="1907256"/>
            <a:ext cx="227137" cy="227137"/>
          </a:xfrm>
          <a:prstGeom prst="rect">
            <a:avLst/>
          </a:prstGeom>
        </p:spPr>
      </p:pic>
      <p:sp>
        <p:nvSpPr>
          <p:cNvPr id="11" name="Text 7"/>
          <p:cNvSpPr txBox="1"/>
          <p:nvPr/>
        </p:nvSpPr>
        <p:spPr>
          <a:xfrm>
            <a:off x="7242048" y="1792224"/>
            <a:ext cx="4251960" cy="365760"/>
          </a:xfrm>
          <a:prstGeom prst="rect">
            <a:avLst/>
          </a:prstGeom>
          <a:noFill/>
          <a:ln/>
        </p:spPr>
        <p:txBody>
          <a:bodyPr wrap="square" lIns="0" tIns="0" rIns="0" bIns="0" rtlCol="0" anchor="ctr"/>
          <a:lstStyle/>
          <a:p>
            <a:pPr indent="0" marL="0">
              <a:buNone/>
            </a:pPr>
            <a:r>
              <a:rPr lang="en-US" sz="1550" b="1" dirty="0">
                <a:solidFill>
                  <a:srgbClr val="17111F"/>
                </a:solidFill>
                <a:latin typeface="Open Sans" pitchFamily="34" charset="0"/>
                <a:ea typeface="Open Sans" pitchFamily="34" charset="-122"/>
                <a:cs typeface="Open Sans" pitchFamily="34" charset="-120"/>
              </a:rPr>
              <a:t>Feedback klebt nicht an der Stelle</a:t>
            </a:r>
            <a:endParaRPr lang="en-US" sz="1550" dirty="0"/>
          </a:p>
        </p:txBody>
      </p:sp>
      <p:sp>
        <p:nvSpPr>
          <p:cNvPr id="12" name="Text 8"/>
          <p:cNvSpPr txBox="1"/>
          <p:nvPr/>
        </p:nvSpPr>
        <p:spPr>
          <a:xfrm>
            <a:off x="7242048" y="2258568"/>
            <a:ext cx="4206240" cy="1234440"/>
          </a:xfrm>
          <a:prstGeom prst="rect">
            <a:avLst/>
          </a:prstGeom>
          <a:noFill/>
          <a:ln/>
        </p:spPr>
        <p:txBody>
          <a:bodyPr wrap="square" lIns="0" tIns="0" rIns="0" bIns="0" rtlCol="0" anchor="t"/>
          <a:lstStyle/>
          <a:p>
            <a:pPr indent="0" marL="0">
              <a:buNone/>
            </a:pPr>
            <a:r>
              <a:rPr lang="en-US" sz="1300" dirty="0">
                <a:solidFill>
                  <a:srgbClr val="6B6577"/>
                </a:solidFill>
                <a:latin typeface="Open Sans" pitchFamily="34" charset="0"/>
                <a:ea typeface="Open Sans" pitchFamily="34" charset="-122"/>
                <a:cs typeface="Open Sans" pitchFamily="34" charset="-120"/>
              </a:rPr>
              <a:t>„Wirke nervös“ hilft wenig, wenn niemand sagt, an welcher Minute das auffiel.</a:t>
            </a:r>
            <a:endParaRPr lang="en-US" sz="1300" dirty="0"/>
          </a:p>
        </p:txBody>
      </p:sp>
      <p:sp>
        <p:nvSpPr>
          <p:cNvPr id="13" name="Shape 9"/>
          <p:cNvSpPr/>
          <p:nvPr/>
        </p:nvSpPr>
        <p:spPr>
          <a:xfrm>
            <a:off x="566928" y="3922776"/>
            <a:ext cx="5486400" cy="2212848"/>
          </a:xfrm>
          <a:prstGeom prst="roundRect">
            <a:avLst>
              <a:gd name="adj" fmla="val 4959"/>
            </a:avLst>
          </a:prstGeom>
          <a:solidFill>
            <a:srgbClr val="F4F0FC"/>
          </a:solidFill>
          <a:ln/>
        </p:spPr>
      </p:sp>
      <p:sp>
        <p:nvSpPr>
          <p:cNvPr id="14" name="Shape 10"/>
          <p:cNvSpPr/>
          <p:nvPr/>
        </p:nvSpPr>
        <p:spPr>
          <a:xfrm>
            <a:off x="841248" y="4215384"/>
            <a:ext cx="493776" cy="493776"/>
          </a:xfrm>
          <a:prstGeom prst="ellipse">
            <a:avLst/>
          </a:prstGeom>
          <a:solidFill>
            <a:srgbClr val="E7DEF8"/>
          </a:solidFill>
          <a:ln/>
        </p:spPr>
      </p:sp>
      <p:pic>
        <p:nvPicPr>
          <p:cNvPr id="15" name="Image 2" descr="preencoded.png">    </p:cNvPr>
          <p:cNvPicPr>
            <a:picLocks noChangeAspect="1"/>
          </p:cNvPicPr>
          <p:nvPr/>
        </p:nvPicPr>
        <p:blipFill>
          <a:blip r:embed="rId3"/>
          <a:stretch>
            <a:fillRect/>
          </a:stretch>
        </p:blipFill>
        <p:spPr>
          <a:xfrm>
            <a:off x="974568" y="4348704"/>
            <a:ext cx="227137" cy="227137"/>
          </a:xfrm>
          <a:prstGeom prst="rect">
            <a:avLst/>
          </a:prstGeom>
        </p:spPr>
      </p:pic>
      <p:sp>
        <p:nvSpPr>
          <p:cNvPr id="16" name="Text 11"/>
          <p:cNvSpPr txBox="1"/>
          <p:nvPr/>
        </p:nvSpPr>
        <p:spPr>
          <a:xfrm>
            <a:off x="1527048" y="4233672"/>
            <a:ext cx="4251960" cy="365760"/>
          </a:xfrm>
          <a:prstGeom prst="rect">
            <a:avLst/>
          </a:prstGeom>
          <a:noFill/>
          <a:ln/>
        </p:spPr>
        <p:txBody>
          <a:bodyPr wrap="square" lIns="0" tIns="0" rIns="0" bIns="0" rtlCol="0" anchor="ctr"/>
          <a:lstStyle/>
          <a:p>
            <a:pPr indent="0" marL="0">
              <a:buNone/>
            </a:pPr>
            <a:r>
              <a:rPr lang="en-US" sz="1550" b="1" dirty="0">
                <a:solidFill>
                  <a:srgbClr val="17111F"/>
                </a:solidFill>
                <a:latin typeface="Open Sans" pitchFamily="34" charset="0"/>
                <a:ea typeface="Open Sans" pitchFamily="34" charset="-122"/>
                <a:cs typeface="Open Sans" pitchFamily="34" charset="-120"/>
              </a:rPr>
              <a:t>Fakten prüfen ist Handarbeit</a:t>
            </a:r>
            <a:endParaRPr lang="en-US" sz="1550" dirty="0"/>
          </a:p>
        </p:txBody>
      </p:sp>
      <p:sp>
        <p:nvSpPr>
          <p:cNvPr id="17" name="Text 12"/>
          <p:cNvSpPr txBox="1"/>
          <p:nvPr/>
        </p:nvSpPr>
        <p:spPr>
          <a:xfrm>
            <a:off x="1527048" y="4700016"/>
            <a:ext cx="4206240" cy="1234440"/>
          </a:xfrm>
          <a:prstGeom prst="rect">
            <a:avLst/>
          </a:prstGeom>
          <a:noFill/>
          <a:ln/>
        </p:spPr>
        <p:txBody>
          <a:bodyPr wrap="square" lIns="0" tIns="0" rIns="0" bIns="0" rtlCol="0" anchor="t"/>
          <a:lstStyle/>
          <a:p>
            <a:pPr indent="0" marL="0">
              <a:buNone/>
            </a:pPr>
            <a:r>
              <a:rPr lang="en-US" sz="1300" dirty="0">
                <a:solidFill>
                  <a:srgbClr val="6B6577"/>
                </a:solidFill>
                <a:latin typeface="Open Sans" pitchFamily="34" charset="0"/>
                <a:ea typeface="Open Sans" pitchFamily="34" charset="-122"/>
                <a:cs typeface="Open Sans" pitchFamily="34" charset="-120"/>
              </a:rPr>
              <a:t>Deckt sich der Vortrag überhaupt mit den eigenen Folien und Unterlagen?</a:t>
            </a:r>
            <a:endParaRPr lang="en-US" sz="1300" dirty="0"/>
          </a:p>
        </p:txBody>
      </p:sp>
      <p:sp>
        <p:nvSpPr>
          <p:cNvPr id="18" name="Shape 13"/>
          <p:cNvSpPr/>
          <p:nvPr/>
        </p:nvSpPr>
        <p:spPr>
          <a:xfrm>
            <a:off x="6281928" y="3922776"/>
            <a:ext cx="5486400" cy="2212848"/>
          </a:xfrm>
          <a:prstGeom prst="roundRect">
            <a:avLst>
              <a:gd name="adj" fmla="val 4959"/>
            </a:avLst>
          </a:prstGeom>
          <a:solidFill>
            <a:srgbClr val="F4F0FC"/>
          </a:solidFill>
          <a:ln/>
        </p:spPr>
      </p:sp>
      <p:sp>
        <p:nvSpPr>
          <p:cNvPr id="19" name="Shape 14"/>
          <p:cNvSpPr/>
          <p:nvPr/>
        </p:nvSpPr>
        <p:spPr>
          <a:xfrm>
            <a:off x="6556248" y="4215384"/>
            <a:ext cx="493776" cy="493776"/>
          </a:xfrm>
          <a:prstGeom prst="ellipse">
            <a:avLst/>
          </a:prstGeom>
          <a:solidFill>
            <a:srgbClr val="E7DEF8"/>
          </a:solidFill>
          <a:ln/>
        </p:spPr>
      </p:sp>
      <p:pic>
        <p:nvPicPr>
          <p:cNvPr id="20" name="Image 3" descr="preencoded.png">    </p:cNvPr>
          <p:cNvPicPr>
            <a:picLocks noChangeAspect="1"/>
          </p:cNvPicPr>
          <p:nvPr/>
        </p:nvPicPr>
        <p:blipFill>
          <a:blip r:embed="rId4"/>
          <a:stretch>
            <a:fillRect/>
          </a:stretch>
        </p:blipFill>
        <p:spPr>
          <a:xfrm>
            <a:off x="6689568" y="4348704"/>
            <a:ext cx="227137" cy="227137"/>
          </a:xfrm>
          <a:prstGeom prst="rect">
            <a:avLst/>
          </a:prstGeom>
        </p:spPr>
      </p:pic>
      <p:sp>
        <p:nvSpPr>
          <p:cNvPr id="21" name="Text 15"/>
          <p:cNvSpPr txBox="1"/>
          <p:nvPr/>
        </p:nvSpPr>
        <p:spPr>
          <a:xfrm>
            <a:off x="7242048" y="4233672"/>
            <a:ext cx="4251960" cy="365760"/>
          </a:xfrm>
          <a:prstGeom prst="rect">
            <a:avLst/>
          </a:prstGeom>
          <a:noFill/>
          <a:ln/>
        </p:spPr>
        <p:txBody>
          <a:bodyPr wrap="square" lIns="0" tIns="0" rIns="0" bIns="0" rtlCol="0" anchor="ctr"/>
          <a:lstStyle/>
          <a:p>
            <a:pPr indent="0" marL="0">
              <a:buNone/>
            </a:pPr>
            <a:r>
              <a:rPr lang="en-US" sz="1550" b="1" dirty="0">
                <a:solidFill>
                  <a:srgbClr val="17111F"/>
                </a:solidFill>
                <a:latin typeface="Open Sans" pitchFamily="34" charset="0"/>
                <a:ea typeface="Open Sans" pitchFamily="34" charset="-122"/>
                <a:cs typeface="Open Sans" pitchFamily="34" charset="-120"/>
              </a:rPr>
              <a:t>Prüfungssimulation fehlt</a:t>
            </a:r>
            <a:endParaRPr lang="en-US" sz="1550" dirty="0"/>
          </a:p>
        </p:txBody>
      </p:sp>
      <p:sp>
        <p:nvSpPr>
          <p:cNvPr id="22" name="Text 16"/>
          <p:cNvSpPr txBox="1"/>
          <p:nvPr/>
        </p:nvSpPr>
        <p:spPr>
          <a:xfrm>
            <a:off x="7242048" y="4700016"/>
            <a:ext cx="4206240" cy="1234440"/>
          </a:xfrm>
          <a:prstGeom prst="rect">
            <a:avLst/>
          </a:prstGeom>
          <a:noFill/>
          <a:ln/>
        </p:spPr>
        <p:txBody>
          <a:bodyPr wrap="square" lIns="0" tIns="0" rIns="0" bIns="0" rtlCol="0" anchor="t"/>
          <a:lstStyle/>
          <a:p>
            <a:pPr indent="0" marL="0">
              <a:buNone/>
            </a:pPr>
            <a:r>
              <a:rPr lang="en-US" sz="1300" dirty="0">
                <a:solidFill>
                  <a:srgbClr val="6B6577"/>
                </a:solidFill>
                <a:latin typeface="Open Sans" pitchFamily="34" charset="0"/>
                <a:ea typeface="Open Sans" pitchFamily="34" charset="-122"/>
                <a:cs typeface="Open Sans" pitchFamily="34" charset="-120"/>
              </a:rPr>
              <a:t>Rückfragen unter Druck hört man meistens erst in der echten Prüfung.</a:t>
            </a:r>
            <a:endParaRPr lang="en-US" sz="1300" dirty="0"/>
          </a:p>
        </p:txBody>
      </p:sp>
      <p:sp>
        <p:nvSpPr>
          <p:cNvPr id="25" name="Slide Number Placeholder 0"/>
          <p:cNvSpPr>
            <a:spLocks noGrp="1"/>
          </p:cNvSpPr>
          <p:nvPr>
            <p:ph type="sldNum" sz="quarter" idx="4294967295"/>
          </p:nvPr>
        </p:nvSpPr>
        <p:spPr>
          <a:xfrm>
            <a:off x="11338560" y="6446520"/>
            <a:ext cx="384048"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577"/>
                </a:solidFill>
                <a:latin typeface="Open Sans"/>
                <a:ea typeface="Open Sans"/>
                <a:cs typeface="Open Sans"/>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822960" y="731520"/>
            <a:ext cx="5486400" cy="320040"/>
          </a:xfrm>
          <a:prstGeom prst="rect">
            <a:avLst/>
          </a:prstGeom>
          <a:noFill/>
          <a:ln/>
        </p:spPr>
        <p:txBody>
          <a:bodyPr wrap="square" lIns="0" tIns="0" rIns="0" bIns="0" rtlCol="0" anchor="ctr"/>
          <a:lstStyle/>
          <a:p>
            <a:pPr indent="0" marL="0">
              <a:buNone/>
            </a:pPr>
            <a:r>
              <a:rPr lang="en-US" sz="1300" b="1" spc="300" kern="0" dirty="0">
                <a:solidFill>
                  <a:srgbClr val="CBB6F6"/>
                </a:solidFill>
                <a:latin typeface="Open Sans" pitchFamily="34" charset="0"/>
                <a:ea typeface="Open Sans" pitchFamily="34" charset="-122"/>
                <a:cs typeface="Open Sans" pitchFamily="34" charset="-120"/>
              </a:rPr>
              <a:t>DIE LÖSUNG</a:t>
            </a:r>
            <a:endParaRPr lang="en-US" sz="1300" dirty="0"/>
          </a:p>
        </p:txBody>
      </p:sp>
      <p:sp>
        <p:nvSpPr>
          <p:cNvPr id="3" name="Text 1"/>
          <p:cNvSpPr txBox="1"/>
          <p:nvPr/>
        </p:nvSpPr>
        <p:spPr>
          <a:xfrm>
            <a:off x="822960" y="1325880"/>
            <a:ext cx="10561320" cy="3291840"/>
          </a:xfrm>
          <a:prstGeom prst="rect">
            <a:avLst/>
          </a:prstGeom>
          <a:noFill/>
          <a:ln/>
        </p:spPr>
        <p:txBody>
          <a:bodyPr wrap="square" lIns="0" tIns="0" rIns="0" bIns="0" rtlCol="0" anchor="t"/>
          <a:lstStyle/>
          <a:p>
            <a:pPr indent="0" marL="0">
              <a:lnSpc>
                <a:spcPct val="118000"/>
              </a:lnSpc>
              <a:buNone/>
            </a:pPr>
            <a:r>
              <a:rPr lang="en-US" sz="2800" dirty="0">
                <a:solidFill>
                  <a:srgbClr val="FFFFFF"/>
                </a:solidFill>
                <a:latin typeface="Open Sans" pitchFamily="34" charset="0"/>
                <a:ea typeface="Open Sans" pitchFamily="34" charset="-122"/>
                <a:cs typeface="Open Sans" pitchFamily="34" charset="-120"/>
              </a:rPr>
              <a:t>Ein Trainer im Browser: Er beobachtet Haltung, Gestik und Stimme </a:t>
            </a:r>
            <a:pPr indent="0" marL="0">
              <a:lnSpc>
                <a:spcPct val="118000"/>
              </a:lnSpc>
              <a:buNone/>
            </a:pPr>
            <a:r>
              <a:rPr lang="en-US" sz="2800" b="1" dirty="0">
                <a:solidFill>
                  <a:srgbClr val="CBB6F6"/>
                </a:solidFill>
                <a:latin typeface="Open Sans" pitchFamily="34" charset="0"/>
                <a:ea typeface="Open Sans" pitchFamily="34" charset="-122"/>
                <a:cs typeface="Open Sans" pitchFamily="34" charset="-120"/>
              </a:rPr>
              <a:t>live und lokal</a:t>
            </a:r>
            <a:pPr indent="0" marL="0">
              <a:lnSpc>
                <a:spcPct val="118000"/>
              </a:lnSpc>
              <a:buNone/>
            </a:pPr>
            <a:r>
              <a:rPr lang="en-US" sz="2800" dirty="0">
                <a:solidFill>
                  <a:srgbClr val="FFFFFF"/>
                </a:solidFill>
                <a:latin typeface="Open Sans" pitchFamily="34" charset="0"/>
                <a:ea typeface="Open Sans" pitchFamily="34" charset="-122"/>
                <a:cs typeface="Open Sans" pitchFamily="34" charset="-120"/>
              </a:rPr>
              <a:t>, transkribiert den Vortrag, prüft Aussagen </a:t>
            </a:r>
            <a:pPr indent="0" marL="0">
              <a:lnSpc>
                <a:spcPct val="118000"/>
              </a:lnSpc>
              <a:buNone/>
            </a:pPr>
            <a:r>
              <a:rPr lang="en-US" sz="2800" b="1" dirty="0">
                <a:solidFill>
                  <a:srgbClr val="CBB6F6"/>
                </a:solidFill>
                <a:latin typeface="Open Sans" pitchFamily="34" charset="0"/>
                <a:ea typeface="Open Sans" pitchFamily="34" charset="-122"/>
                <a:cs typeface="Open Sans" pitchFamily="34" charset="-120"/>
              </a:rPr>
              <a:t>zitiergenau</a:t>
            </a:r>
            <a:pPr indent="0" marL="0">
              <a:lnSpc>
                <a:spcPct val="118000"/>
              </a:lnSpc>
              <a:buNone/>
            </a:pPr>
            <a:r>
              <a:rPr lang="en-US" sz="2800" dirty="0">
                <a:solidFill>
                  <a:srgbClr val="FFFFFF"/>
                </a:solidFill>
                <a:latin typeface="Open Sans" pitchFamily="34" charset="0"/>
                <a:ea typeface="Open Sans" pitchFamily="34" charset="-122"/>
                <a:cs typeface="Open Sans" pitchFamily="34" charset="-120"/>
              </a:rPr>
              <a:t> gegen die eigenen Quellen — alles </a:t>
            </a:r>
            <a:pPr indent="0" marL="0">
              <a:lnSpc>
                <a:spcPct val="118000"/>
              </a:lnSpc>
              <a:buNone/>
            </a:pPr>
            <a:r>
              <a:rPr lang="en-US" sz="2800" b="1" dirty="0">
                <a:solidFill>
                  <a:srgbClr val="CBB6F6"/>
                </a:solidFill>
                <a:latin typeface="Open Sans" pitchFamily="34" charset="0"/>
                <a:ea typeface="Open Sans" pitchFamily="34" charset="-122"/>
                <a:cs typeface="Open Sans" pitchFamily="34" charset="-120"/>
              </a:rPr>
              <a:t>timestamp-genau zurückspulbar</a:t>
            </a:r>
            <a:pPr indent="0" marL="0">
              <a:lnSpc>
                <a:spcPct val="118000"/>
              </a:lnSpc>
              <a:buNone/>
            </a:pPr>
            <a:r>
              <a:rPr lang="en-US" sz="2800" dirty="0">
                <a:solidFill>
                  <a:srgbClr val="FFFFFF"/>
                </a:solidFill>
                <a:latin typeface="Open Sans" pitchFamily="34" charset="0"/>
                <a:ea typeface="Open Sans" pitchFamily="34" charset="-122"/>
                <a:cs typeface="Open Sans" pitchFamily="34" charset="-120"/>
              </a:rPr>
              <a:t>. Und ein Agent fragt danach wie eine Prüfungskommission.</a:t>
            </a:r>
            <a:endParaRPr lang="en-US" sz="2800" dirty="0"/>
          </a:p>
        </p:txBody>
      </p:sp>
      <p:sp>
        <p:nvSpPr>
          <p:cNvPr id="4" name="Text 2"/>
          <p:cNvSpPr/>
          <p:nvPr/>
        </p:nvSpPr>
        <p:spPr>
          <a:xfrm>
            <a:off x="723748" y="5257800"/>
            <a:ext cx="2514600" cy="566928"/>
          </a:xfrm>
          <a:prstGeom prst="roundRect">
            <a:avLst>
              <a:gd name="adj" fmla="val 50000"/>
            </a:avLst>
          </a:prstGeom>
          <a:solidFill>
            <a:srgbClr val="221040"/>
          </a:solidFill>
          <a:ln/>
        </p:spPr>
        <p:txBody>
          <a:bodyPr wrap="square" lIns="0" tIns="0" rIns="0" bIns="0" rtlCol="0" anchor="ctr"/>
          <a:lstStyle/>
          <a:p>
            <a:pPr algn="ctr" indent="0" marL="0">
              <a:buNone/>
            </a:pPr>
            <a:r>
              <a:rPr lang="en-US" sz="1400" b="1" dirty="0">
                <a:solidFill>
                  <a:srgbClr val="CBB6F6"/>
                </a:solidFill>
                <a:latin typeface="Open Sans" pitchFamily="34" charset="0"/>
                <a:ea typeface="Open Sans" pitchFamily="34" charset="-122"/>
                <a:cs typeface="Open Sans" pitchFamily="34" charset="-120"/>
              </a:rPr>
              <a:t>1  </a:t>
            </a:r>
            <a:pPr algn="ctr" indent="0" marL="0">
              <a:buNone/>
            </a:pPr>
            <a:r>
              <a:rPr lang="en-US" sz="1400" dirty="0">
                <a:solidFill>
                  <a:srgbClr val="FFFFFF"/>
                </a:solidFill>
                <a:latin typeface="Open Sans" pitchFamily="34" charset="0"/>
                <a:ea typeface="Open Sans" pitchFamily="34" charset="-122"/>
                <a:cs typeface="Open Sans" pitchFamily="34" charset="-120"/>
              </a:rPr>
              <a:t>Aufnehmen</a:t>
            </a:r>
            <a:endParaRPr lang="en-US" sz="1400" dirty="0"/>
          </a:p>
        </p:txBody>
      </p:sp>
      <p:sp>
        <p:nvSpPr>
          <p:cNvPr id="5" name="Text 3"/>
          <p:cNvSpPr/>
          <p:nvPr/>
        </p:nvSpPr>
        <p:spPr>
          <a:xfrm>
            <a:off x="3466948" y="5257800"/>
            <a:ext cx="2514600" cy="566928"/>
          </a:xfrm>
          <a:prstGeom prst="roundRect">
            <a:avLst>
              <a:gd name="adj" fmla="val 50000"/>
            </a:avLst>
          </a:prstGeom>
          <a:solidFill>
            <a:srgbClr val="221040"/>
          </a:solidFill>
          <a:ln/>
        </p:spPr>
        <p:txBody>
          <a:bodyPr wrap="square" lIns="0" tIns="0" rIns="0" bIns="0" rtlCol="0" anchor="ctr"/>
          <a:lstStyle/>
          <a:p>
            <a:pPr algn="ctr" indent="0" marL="0">
              <a:buNone/>
            </a:pPr>
            <a:r>
              <a:rPr lang="en-US" sz="1400" b="1" dirty="0">
                <a:solidFill>
                  <a:srgbClr val="CBB6F6"/>
                </a:solidFill>
                <a:latin typeface="Open Sans" pitchFamily="34" charset="0"/>
                <a:ea typeface="Open Sans" pitchFamily="34" charset="-122"/>
                <a:cs typeface="Open Sans" pitchFamily="34" charset="-120"/>
              </a:rPr>
              <a:t>2  </a:t>
            </a:r>
            <a:pPr algn="ctr" indent="0" marL="0">
              <a:buNone/>
            </a:pPr>
            <a:r>
              <a:rPr lang="en-US" sz="1400" dirty="0">
                <a:solidFill>
                  <a:srgbClr val="FFFFFF"/>
                </a:solidFill>
                <a:latin typeface="Open Sans" pitchFamily="34" charset="0"/>
                <a:ea typeface="Open Sans" pitchFamily="34" charset="-122"/>
                <a:cs typeface="Open Sans" pitchFamily="34" charset="-120"/>
              </a:rPr>
              <a:t>Analysieren</a:t>
            </a:r>
            <a:endParaRPr lang="en-US" sz="1400" dirty="0"/>
          </a:p>
        </p:txBody>
      </p:sp>
      <p:sp>
        <p:nvSpPr>
          <p:cNvPr id="6" name="Text 4"/>
          <p:cNvSpPr/>
          <p:nvPr/>
        </p:nvSpPr>
        <p:spPr>
          <a:xfrm>
            <a:off x="6210148" y="5257800"/>
            <a:ext cx="2514600" cy="566928"/>
          </a:xfrm>
          <a:prstGeom prst="roundRect">
            <a:avLst>
              <a:gd name="adj" fmla="val 50000"/>
            </a:avLst>
          </a:prstGeom>
          <a:solidFill>
            <a:srgbClr val="221040"/>
          </a:solidFill>
          <a:ln/>
        </p:spPr>
        <p:txBody>
          <a:bodyPr wrap="square" lIns="0" tIns="0" rIns="0" bIns="0" rtlCol="0" anchor="ctr"/>
          <a:lstStyle/>
          <a:p>
            <a:pPr algn="ctr" indent="0" marL="0">
              <a:buNone/>
            </a:pPr>
            <a:r>
              <a:rPr lang="en-US" sz="1400" b="1" dirty="0">
                <a:solidFill>
                  <a:srgbClr val="CBB6F6"/>
                </a:solidFill>
                <a:latin typeface="Open Sans" pitchFamily="34" charset="0"/>
                <a:ea typeface="Open Sans" pitchFamily="34" charset="-122"/>
                <a:cs typeface="Open Sans" pitchFamily="34" charset="-120"/>
              </a:rPr>
              <a:t>3  </a:t>
            </a:r>
            <a:pPr algn="ctr" indent="0" marL="0">
              <a:buNone/>
            </a:pPr>
            <a:r>
              <a:rPr lang="en-US" sz="1400" dirty="0">
                <a:solidFill>
                  <a:srgbClr val="FFFFFF"/>
                </a:solidFill>
                <a:latin typeface="Open Sans" pitchFamily="34" charset="0"/>
                <a:ea typeface="Open Sans" pitchFamily="34" charset="-122"/>
                <a:cs typeface="Open Sans" pitchFamily="34" charset="-120"/>
              </a:rPr>
              <a:t>Zurückspulen</a:t>
            </a:r>
            <a:endParaRPr lang="en-US" sz="1400" dirty="0"/>
          </a:p>
        </p:txBody>
      </p:sp>
      <p:sp>
        <p:nvSpPr>
          <p:cNvPr id="7" name="Text 5"/>
          <p:cNvSpPr/>
          <p:nvPr/>
        </p:nvSpPr>
        <p:spPr>
          <a:xfrm>
            <a:off x="8953348" y="5257800"/>
            <a:ext cx="2514600" cy="566928"/>
          </a:xfrm>
          <a:prstGeom prst="roundRect">
            <a:avLst>
              <a:gd name="adj" fmla="val 50000"/>
            </a:avLst>
          </a:prstGeom>
          <a:solidFill>
            <a:srgbClr val="221040"/>
          </a:solidFill>
          <a:ln/>
        </p:spPr>
        <p:txBody>
          <a:bodyPr wrap="square" lIns="0" tIns="0" rIns="0" bIns="0" rtlCol="0" anchor="ctr"/>
          <a:lstStyle/>
          <a:p>
            <a:pPr algn="ctr" indent="0" marL="0">
              <a:buNone/>
            </a:pPr>
            <a:r>
              <a:rPr lang="en-US" sz="1400" b="1" dirty="0">
                <a:solidFill>
                  <a:srgbClr val="CBB6F6"/>
                </a:solidFill>
                <a:latin typeface="Open Sans" pitchFamily="34" charset="0"/>
                <a:ea typeface="Open Sans" pitchFamily="34" charset="-122"/>
                <a:cs typeface="Open Sans" pitchFamily="34" charset="-120"/>
              </a:rPr>
              <a:t>4  </a:t>
            </a:r>
            <a:pPr algn="ctr" indent="0" marL="0">
              <a:buNone/>
            </a:pPr>
            <a:r>
              <a:rPr lang="en-US" sz="1400" dirty="0">
                <a:solidFill>
                  <a:srgbClr val="FFFFFF"/>
                </a:solidFill>
                <a:latin typeface="Open Sans" pitchFamily="34" charset="0"/>
                <a:ea typeface="Open Sans" pitchFamily="34" charset="-122"/>
                <a:cs typeface="Open Sans" pitchFamily="34" charset="-120"/>
              </a:rPr>
              <a:t>Befragt werden</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0" y="0"/>
            <a:ext cx="9143771" cy="0"/>
          </a:xfrm>
          <a:prstGeom prst="rect">
            <a:avLst/>
          </a:prstGeom>
          <a:noFill/>
          <a:ln/>
        </p:spPr>
        <p:txBody>
          <a:bodyPr wrap="square" rtlCol="0"/>
          <a:lstStyle/>
          <a:p>
            <a:pPr indent="0" marL="0">
              <a:buNone/>
            </a:pPr>
            <a:r>
              <a:rPr lang="en-US" dirty="0"/>
              <a:t>Live-Demo</a:t>
            </a:r>
            <a:endParaRPr lang="en-US" dirty="0"/>
          </a:p>
        </p:txBody>
      </p:sp>
      <p:sp>
        <p:nvSpPr>
          <p:cNvPr id="3" name="Text 1"/>
          <p:cNvSpPr txBox="1"/>
          <p:nvPr/>
        </p:nvSpPr>
        <p:spPr>
          <a:xfrm>
            <a:off x="566928" y="1600200"/>
            <a:ext cx="11064240" cy="457200"/>
          </a:xfrm>
          <a:prstGeom prst="rect">
            <a:avLst/>
          </a:prstGeom>
          <a:noFill/>
          <a:ln/>
        </p:spPr>
        <p:txBody>
          <a:bodyPr wrap="square" lIns="0" tIns="0" rIns="0" bIns="0" rtlCol="0" anchor="ctr"/>
          <a:lstStyle/>
          <a:p>
            <a:pPr algn="ctr" indent="0" marL="0">
              <a:buNone/>
            </a:pPr>
            <a:r>
              <a:rPr lang="en-US" sz="1900" dirty="0">
                <a:solidFill>
                  <a:srgbClr val="6B6577"/>
                </a:solidFill>
                <a:latin typeface="Open Sans" pitchFamily="34" charset="0"/>
                <a:ea typeface="Open Sans" pitchFamily="34" charset="-122"/>
                <a:cs typeface="Open Sans" pitchFamily="34" charset="-120"/>
              </a:rPr>
              <a:t>30–60 Sekunden Aufnahme — dann springen wir direkt ins Review.</a:t>
            </a:r>
            <a:endParaRPr lang="en-US" sz="1900" dirty="0"/>
          </a:p>
        </p:txBody>
      </p:sp>
      <p:sp>
        <p:nvSpPr>
          <p:cNvPr id="4" name="Shape 2"/>
          <p:cNvSpPr/>
          <p:nvPr/>
        </p:nvSpPr>
        <p:spPr>
          <a:xfrm>
            <a:off x="655168" y="2834640"/>
            <a:ext cx="3291840" cy="2286000"/>
          </a:xfrm>
          <a:prstGeom prst="roundRect">
            <a:avLst>
              <a:gd name="adj" fmla="val 4800"/>
            </a:avLst>
          </a:prstGeom>
          <a:solidFill>
            <a:srgbClr val="F4F0FC"/>
          </a:solidFill>
          <a:ln/>
        </p:spPr>
      </p:sp>
      <p:sp>
        <p:nvSpPr>
          <p:cNvPr id="5" name="Shape 3"/>
          <p:cNvSpPr/>
          <p:nvPr/>
        </p:nvSpPr>
        <p:spPr>
          <a:xfrm>
            <a:off x="947776" y="3145536"/>
            <a:ext cx="512064" cy="512064"/>
          </a:xfrm>
          <a:prstGeom prst="ellipse">
            <a:avLst/>
          </a:prstGeom>
          <a:solidFill>
            <a:srgbClr val="E7DEF8"/>
          </a:solidFill>
          <a:ln/>
        </p:spPr>
      </p:sp>
      <p:pic>
        <p:nvPicPr>
          <p:cNvPr id="6" name="Image 0" descr="preencoded.png">    </p:cNvPr>
          <p:cNvPicPr>
            <a:picLocks noChangeAspect="1"/>
          </p:cNvPicPr>
          <p:nvPr/>
        </p:nvPicPr>
        <p:blipFill>
          <a:blip r:embed="rId1"/>
          <a:stretch>
            <a:fillRect/>
          </a:stretch>
        </p:blipFill>
        <p:spPr>
          <a:xfrm>
            <a:off x="1086033" y="3283793"/>
            <a:ext cx="235549" cy="235549"/>
          </a:xfrm>
          <a:prstGeom prst="rect">
            <a:avLst/>
          </a:prstGeom>
        </p:spPr>
      </p:pic>
      <p:sp>
        <p:nvSpPr>
          <p:cNvPr id="7" name="Text 4"/>
          <p:cNvSpPr txBox="1"/>
          <p:nvPr/>
        </p:nvSpPr>
        <p:spPr>
          <a:xfrm>
            <a:off x="947776" y="3803904"/>
            <a:ext cx="2706624" cy="384048"/>
          </a:xfrm>
          <a:prstGeom prst="rect">
            <a:avLst/>
          </a:prstGeom>
          <a:noFill/>
          <a:ln/>
        </p:spPr>
        <p:txBody>
          <a:bodyPr wrap="square" lIns="0" tIns="0" rIns="0" bIns="0" rtlCol="0" anchor="ctr"/>
          <a:lstStyle/>
          <a:p>
            <a:pPr indent="0" marL="0">
              <a:buNone/>
            </a:pPr>
            <a:r>
              <a:rPr lang="en-US" sz="1700" b="1" dirty="0">
                <a:solidFill>
                  <a:srgbClr val="17111F"/>
                </a:solidFill>
                <a:latin typeface="Open Sans" pitchFamily="34" charset="0"/>
                <a:ea typeface="Open Sans" pitchFamily="34" charset="-122"/>
                <a:cs typeface="Open Sans" pitchFamily="34" charset="-120"/>
              </a:rPr>
              <a:t>Aufnahme</a:t>
            </a:r>
            <a:endParaRPr lang="en-US" sz="1700" dirty="0"/>
          </a:p>
        </p:txBody>
      </p:sp>
      <p:sp>
        <p:nvSpPr>
          <p:cNvPr id="8" name="Text 5"/>
          <p:cNvSpPr txBox="1"/>
          <p:nvPr/>
        </p:nvSpPr>
        <p:spPr>
          <a:xfrm>
            <a:off x="947776" y="4206240"/>
            <a:ext cx="2706624" cy="822960"/>
          </a:xfrm>
          <a:prstGeom prst="rect">
            <a:avLst/>
          </a:prstGeom>
          <a:noFill/>
          <a:ln/>
        </p:spPr>
        <p:txBody>
          <a:bodyPr wrap="square" lIns="0" tIns="0" rIns="0" bIns="0" rtlCol="0" anchor="t"/>
          <a:lstStyle/>
          <a:p>
            <a:pPr indent="0" marL="0">
              <a:buNone/>
            </a:pPr>
            <a:r>
              <a:rPr lang="en-US" sz="1250" dirty="0">
                <a:solidFill>
                  <a:srgbClr val="6B6577"/>
                </a:solidFill>
                <a:latin typeface="Open Sans" pitchFamily="34" charset="0"/>
                <a:ea typeface="Open Sans" pitchFamily="34" charset="-122"/>
                <a:cs typeface="Open Sans" pitchFamily="34" charset="-120"/>
              </a:rPr>
              <a:t>Kamera und Mikro — dezente Live-Hinweise während des Vortrags</a:t>
            </a:r>
            <a:endParaRPr lang="en-US" sz="1250" dirty="0"/>
          </a:p>
        </p:txBody>
      </p:sp>
      <p:sp>
        <p:nvSpPr>
          <p:cNvPr id="9" name="Text 6"/>
          <p:cNvSpPr txBox="1"/>
          <p:nvPr/>
        </p:nvSpPr>
        <p:spPr>
          <a:xfrm>
            <a:off x="3965296" y="3703320"/>
            <a:ext cx="466344" cy="548640"/>
          </a:xfrm>
          <a:prstGeom prst="rect">
            <a:avLst/>
          </a:prstGeom>
          <a:noFill/>
          <a:ln/>
        </p:spPr>
        <p:txBody>
          <a:bodyPr wrap="square" lIns="0" tIns="0" rIns="0" bIns="0" rtlCol="0" anchor="ctr"/>
          <a:lstStyle/>
          <a:p>
            <a:pPr algn="ctr" indent="0" marL="0">
              <a:buNone/>
            </a:pPr>
            <a:r>
              <a:rPr lang="en-US" sz="2600" b="1" dirty="0">
                <a:solidFill>
                  <a:srgbClr val="3803BF"/>
                </a:solidFill>
                <a:latin typeface="Open Sans" pitchFamily="34" charset="0"/>
                <a:ea typeface="Open Sans" pitchFamily="34" charset="-122"/>
                <a:cs typeface="Open Sans" pitchFamily="34" charset="-120"/>
              </a:rPr>
              <a:t>→</a:t>
            </a:r>
            <a:endParaRPr lang="en-US" sz="2600" dirty="0"/>
          </a:p>
        </p:txBody>
      </p:sp>
      <p:sp>
        <p:nvSpPr>
          <p:cNvPr id="10" name="Shape 7"/>
          <p:cNvSpPr/>
          <p:nvPr/>
        </p:nvSpPr>
        <p:spPr>
          <a:xfrm>
            <a:off x="4449928" y="2834640"/>
            <a:ext cx="3291840" cy="2286000"/>
          </a:xfrm>
          <a:prstGeom prst="roundRect">
            <a:avLst>
              <a:gd name="adj" fmla="val 4800"/>
            </a:avLst>
          </a:prstGeom>
          <a:solidFill>
            <a:srgbClr val="F4F0FC"/>
          </a:solidFill>
          <a:ln/>
        </p:spPr>
      </p:sp>
      <p:sp>
        <p:nvSpPr>
          <p:cNvPr id="11" name="Shape 8"/>
          <p:cNvSpPr/>
          <p:nvPr/>
        </p:nvSpPr>
        <p:spPr>
          <a:xfrm>
            <a:off x="4742536" y="3145536"/>
            <a:ext cx="512064" cy="512064"/>
          </a:xfrm>
          <a:prstGeom prst="ellipse">
            <a:avLst/>
          </a:prstGeom>
          <a:solidFill>
            <a:srgbClr val="E7DEF8"/>
          </a:solidFill>
          <a:ln/>
        </p:spPr>
      </p:sp>
      <p:pic>
        <p:nvPicPr>
          <p:cNvPr id="12" name="Image 1" descr="preencoded.png">    </p:cNvPr>
          <p:cNvPicPr>
            <a:picLocks noChangeAspect="1"/>
          </p:cNvPicPr>
          <p:nvPr/>
        </p:nvPicPr>
        <p:blipFill>
          <a:blip r:embed="rId2"/>
          <a:stretch>
            <a:fillRect/>
          </a:stretch>
        </p:blipFill>
        <p:spPr>
          <a:xfrm>
            <a:off x="4880793" y="3283793"/>
            <a:ext cx="235549" cy="235549"/>
          </a:xfrm>
          <a:prstGeom prst="rect">
            <a:avLst/>
          </a:prstGeom>
        </p:spPr>
      </p:pic>
      <p:sp>
        <p:nvSpPr>
          <p:cNvPr id="13" name="Text 9"/>
          <p:cNvSpPr txBox="1"/>
          <p:nvPr/>
        </p:nvSpPr>
        <p:spPr>
          <a:xfrm>
            <a:off x="4742536" y="3803904"/>
            <a:ext cx="2706624" cy="384048"/>
          </a:xfrm>
          <a:prstGeom prst="rect">
            <a:avLst/>
          </a:prstGeom>
          <a:noFill/>
          <a:ln/>
        </p:spPr>
        <p:txBody>
          <a:bodyPr wrap="square" lIns="0" tIns="0" rIns="0" bIns="0" rtlCol="0" anchor="ctr"/>
          <a:lstStyle/>
          <a:p>
            <a:pPr indent="0" marL="0">
              <a:buNone/>
            </a:pPr>
            <a:r>
              <a:rPr lang="en-US" sz="1700" b="1" dirty="0">
                <a:solidFill>
                  <a:srgbClr val="17111F"/>
                </a:solidFill>
                <a:latin typeface="Open Sans" pitchFamily="34" charset="0"/>
                <a:ea typeface="Open Sans" pitchFamily="34" charset="-122"/>
                <a:cs typeface="Open Sans" pitchFamily="34" charset="-120"/>
              </a:rPr>
              <a:t>Analyse</a:t>
            </a:r>
            <a:endParaRPr lang="en-US" sz="1700" dirty="0"/>
          </a:p>
        </p:txBody>
      </p:sp>
      <p:sp>
        <p:nvSpPr>
          <p:cNvPr id="14" name="Text 10"/>
          <p:cNvSpPr txBox="1"/>
          <p:nvPr/>
        </p:nvSpPr>
        <p:spPr>
          <a:xfrm>
            <a:off x="4742536" y="4206240"/>
            <a:ext cx="2706624" cy="822960"/>
          </a:xfrm>
          <a:prstGeom prst="rect">
            <a:avLst/>
          </a:prstGeom>
          <a:noFill/>
          <a:ln/>
        </p:spPr>
        <p:txBody>
          <a:bodyPr wrap="square" lIns="0" tIns="0" rIns="0" bIns="0" rtlCol="0" anchor="t"/>
          <a:lstStyle/>
          <a:p>
            <a:pPr indent="0" marL="0">
              <a:buNone/>
            </a:pPr>
            <a:r>
              <a:rPr lang="en-US" sz="1250" dirty="0">
                <a:solidFill>
                  <a:srgbClr val="6B6577"/>
                </a:solidFill>
                <a:latin typeface="Open Sans" pitchFamily="34" charset="0"/>
                <a:ea typeface="Open Sans" pitchFamily="34" charset="-122"/>
                <a:cs typeface="Open Sans" pitchFamily="34" charset="-120"/>
              </a:rPr>
              <a:t>Haltung, Stimme, Transkript und Fact-Check laufen automatisch</a:t>
            </a:r>
            <a:endParaRPr lang="en-US" sz="1250" dirty="0"/>
          </a:p>
        </p:txBody>
      </p:sp>
      <p:sp>
        <p:nvSpPr>
          <p:cNvPr id="15" name="Text 11"/>
          <p:cNvSpPr txBox="1"/>
          <p:nvPr/>
        </p:nvSpPr>
        <p:spPr>
          <a:xfrm>
            <a:off x="7760056" y="3703320"/>
            <a:ext cx="466344" cy="548640"/>
          </a:xfrm>
          <a:prstGeom prst="rect">
            <a:avLst/>
          </a:prstGeom>
          <a:noFill/>
          <a:ln/>
        </p:spPr>
        <p:txBody>
          <a:bodyPr wrap="square" lIns="0" tIns="0" rIns="0" bIns="0" rtlCol="0" anchor="ctr"/>
          <a:lstStyle/>
          <a:p>
            <a:pPr algn="ctr" indent="0" marL="0">
              <a:buNone/>
            </a:pPr>
            <a:r>
              <a:rPr lang="en-US" sz="2600" b="1" dirty="0">
                <a:solidFill>
                  <a:srgbClr val="3803BF"/>
                </a:solidFill>
                <a:latin typeface="Open Sans" pitchFamily="34" charset="0"/>
                <a:ea typeface="Open Sans" pitchFamily="34" charset="-122"/>
                <a:cs typeface="Open Sans" pitchFamily="34" charset="-120"/>
              </a:rPr>
              <a:t>→</a:t>
            </a:r>
            <a:endParaRPr lang="en-US" sz="2600" dirty="0"/>
          </a:p>
        </p:txBody>
      </p:sp>
      <p:sp>
        <p:nvSpPr>
          <p:cNvPr id="16" name="Shape 12"/>
          <p:cNvSpPr/>
          <p:nvPr/>
        </p:nvSpPr>
        <p:spPr>
          <a:xfrm>
            <a:off x="8244688" y="2834640"/>
            <a:ext cx="3291840" cy="2286000"/>
          </a:xfrm>
          <a:prstGeom prst="roundRect">
            <a:avLst>
              <a:gd name="adj" fmla="val 4800"/>
            </a:avLst>
          </a:prstGeom>
          <a:solidFill>
            <a:srgbClr val="F4F0FC"/>
          </a:solidFill>
          <a:ln/>
        </p:spPr>
      </p:sp>
      <p:sp>
        <p:nvSpPr>
          <p:cNvPr id="17" name="Shape 13"/>
          <p:cNvSpPr/>
          <p:nvPr/>
        </p:nvSpPr>
        <p:spPr>
          <a:xfrm>
            <a:off x="8537296" y="3145536"/>
            <a:ext cx="512064" cy="512064"/>
          </a:xfrm>
          <a:prstGeom prst="ellipse">
            <a:avLst/>
          </a:prstGeom>
          <a:solidFill>
            <a:srgbClr val="E7DEF8"/>
          </a:solidFill>
          <a:ln/>
        </p:spPr>
      </p:sp>
      <p:pic>
        <p:nvPicPr>
          <p:cNvPr id="18" name="Image 2" descr="preencoded.png">    </p:cNvPr>
          <p:cNvPicPr>
            <a:picLocks noChangeAspect="1"/>
          </p:cNvPicPr>
          <p:nvPr/>
        </p:nvPicPr>
        <p:blipFill>
          <a:blip r:embed="rId3"/>
          <a:stretch>
            <a:fillRect/>
          </a:stretch>
        </p:blipFill>
        <p:spPr>
          <a:xfrm>
            <a:off x="8675553" y="3283793"/>
            <a:ext cx="235549" cy="235549"/>
          </a:xfrm>
          <a:prstGeom prst="rect">
            <a:avLst/>
          </a:prstGeom>
        </p:spPr>
      </p:pic>
      <p:sp>
        <p:nvSpPr>
          <p:cNvPr id="19" name="Text 14"/>
          <p:cNvSpPr txBox="1"/>
          <p:nvPr/>
        </p:nvSpPr>
        <p:spPr>
          <a:xfrm>
            <a:off x="8537296" y="3803904"/>
            <a:ext cx="2706624" cy="384048"/>
          </a:xfrm>
          <a:prstGeom prst="rect">
            <a:avLst/>
          </a:prstGeom>
          <a:noFill/>
          <a:ln/>
        </p:spPr>
        <p:txBody>
          <a:bodyPr wrap="square" lIns="0" tIns="0" rIns="0" bIns="0" rtlCol="0" anchor="ctr"/>
          <a:lstStyle/>
          <a:p>
            <a:pPr indent="0" marL="0">
              <a:buNone/>
            </a:pPr>
            <a:r>
              <a:rPr lang="en-US" sz="1700" b="1" dirty="0">
                <a:solidFill>
                  <a:srgbClr val="17111F"/>
                </a:solidFill>
                <a:latin typeface="Open Sans" pitchFamily="34" charset="0"/>
                <a:ea typeface="Open Sans" pitchFamily="34" charset="-122"/>
                <a:cs typeface="Open Sans" pitchFamily="34" charset="-120"/>
              </a:rPr>
              <a:t>Review</a:t>
            </a:r>
            <a:endParaRPr lang="en-US" sz="1700" dirty="0"/>
          </a:p>
        </p:txBody>
      </p:sp>
      <p:sp>
        <p:nvSpPr>
          <p:cNvPr id="20" name="Text 15"/>
          <p:cNvSpPr txBox="1"/>
          <p:nvPr/>
        </p:nvSpPr>
        <p:spPr>
          <a:xfrm>
            <a:off x="8537296" y="4206240"/>
            <a:ext cx="2706624" cy="822960"/>
          </a:xfrm>
          <a:prstGeom prst="rect">
            <a:avLst/>
          </a:prstGeom>
          <a:noFill/>
          <a:ln/>
        </p:spPr>
        <p:txBody>
          <a:bodyPr wrap="square" lIns="0" tIns="0" rIns="0" bIns="0" rtlCol="0" anchor="t"/>
          <a:lstStyle/>
          <a:p>
            <a:pPr indent="0" marL="0">
              <a:buNone/>
            </a:pPr>
            <a:r>
              <a:rPr lang="en-US" sz="1250" dirty="0">
                <a:solidFill>
                  <a:srgbClr val="6B6577"/>
                </a:solidFill>
                <a:latin typeface="Open Sans" pitchFamily="34" charset="0"/>
                <a:ea typeface="Open Sans" pitchFamily="34" charset="-122"/>
                <a:cs typeface="Open Sans" pitchFamily="34" charset="-120"/>
              </a:rPr>
              <a:t>Momente auf der Timeline — ein Klick springt zur Stelle</a:t>
            </a:r>
            <a:endParaRPr lang="en-US" sz="1250" dirty="0"/>
          </a:p>
        </p:txBody>
      </p:sp>
      <p:sp>
        <p:nvSpPr>
          <p:cNvPr id="21" name="Text 16"/>
          <p:cNvSpPr txBox="1"/>
          <p:nvPr/>
        </p:nvSpPr>
        <p:spPr>
          <a:xfrm>
            <a:off x="566928" y="5532120"/>
            <a:ext cx="11064240" cy="365760"/>
          </a:xfrm>
          <a:prstGeom prst="rect">
            <a:avLst/>
          </a:prstGeom>
          <a:noFill/>
          <a:ln/>
        </p:spPr>
        <p:txBody>
          <a:bodyPr wrap="square" lIns="0" tIns="0" rIns="0" bIns="0" rtlCol="0" anchor="ctr"/>
          <a:lstStyle/>
          <a:p>
            <a:pPr algn="ctr" indent="0" marL="0">
              <a:buNone/>
            </a:pPr>
            <a:r>
              <a:rPr lang="en-US" sz="1250" i="1" dirty="0">
                <a:solidFill>
                  <a:srgbClr val="6B6577"/>
                </a:solidFill>
                <a:latin typeface="Open Sans" pitchFamily="34" charset="0"/>
                <a:ea typeface="Open Sans" pitchFamily="34" charset="-122"/>
                <a:cs typeface="Open Sans" pitchFamily="34" charset="-120"/>
              </a:rPr>
              <a:t>Der Pitch lebt von der Vorführung — die nächsten Folien fassen zusammen, was im Hintergrund passiert.</a:t>
            </a:r>
            <a:endParaRPr lang="en-US" sz="1250" dirty="0"/>
          </a:p>
        </p:txBody>
      </p:sp>
      <p:sp>
        <p:nvSpPr>
          <p:cNvPr id="25" name="Slide Number Placeholder 0"/>
          <p:cNvSpPr>
            <a:spLocks noGrp="1"/>
          </p:cNvSpPr>
          <p:nvPr>
            <p:ph type="sldNum" sz="quarter" idx="4294967295"/>
          </p:nvPr>
        </p:nvSpPr>
        <p:spPr>
          <a:xfrm>
            <a:off x="11338560" y="6446520"/>
            <a:ext cx="384048"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577"/>
                </a:solidFill>
                <a:latin typeface="Open Sans"/>
                <a:ea typeface="Open Sans"/>
                <a:cs typeface="Open Sans"/>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0" y="0"/>
            <a:ext cx="9143771" cy="0"/>
          </a:xfrm>
          <a:prstGeom prst="rect">
            <a:avLst/>
          </a:prstGeom>
          <a:noFill/>
          <a:ln/>
        </p:spPr>
        <p:txBody>
          <a:bodyPr wrap="square" rtlCol="0"/>
          <a:lstStyle/>
          <a:p>
            <a:pPr indent="0" marL="0">
              <a:buNone/>
            </a:pPr>
            <a:r>
              <a:rPr lang="en-US" dirty="0"/>
              <a:t>Pose &amp; Gestik — komplett im Browser</a:t>
            </a:r>
            <a:endParaRPr lang="en-US" dirty="0"/>
          </a:p>
        </p:txBody>
      </p:sp>
      <p:sp>
        <p:nvSpPr>
          <p:cNvPr id="3" name="Text 1"/>
          <p:cNvSpPr txBox="1"/>
          <p:nvPr/>
        </p:nvSpPr>
        <p:spPr>
          <a:xfrm>
            <a:off x="566928" y="1536192"/>
            <a:ext cx="5669280" cy="365760"/>
          </a:xfrm>
          <a:prstGeom prst="rect">
            <a:avLst/>
          </a:prstGeom>
          <a:noFill/>
          <a:ln/>
        </p:spPr>
        <p:txBody>
          <a:bodyPr wrap="square" lIns="0" tIns="0" rIns="0" bIns="0" rtlCol="0" anchor="ctr"/>
          <a:lstStyle/>
          <a:p>
            <a:pPr indent="0" marL="0">
              <a:buNone/>
            </a:pPr>
            <a:r>
              <a:rPr lang="en-US" sz="1450" b="1" dirty="0">
                <a:solidFill>
                  <a:srgbClr val="3803BF"/>
                </a:solidFill>
                <a:latin typeface="Open Sans" pitchFamily="34" charset="0"/>
                <a:ea typeface="Open Sans" pitchFamily="34" charset="-122"/>
                <a:cs typeface="Open Sans" pitchFamily="34" charset="-120"/>
              </a:rPr>
              <a:t>Sieben kalibrierte Beobachtungen</a:t>
            </a:r>
            <a:endParaRPr lang="en-US" sz="1450" dirty="0"/>
          </a:p>
        </p:txBody>
      </p:sp>
      <p:sp>
        <p:nvSpPr>
          <p:cNvPr id="4" name="Shape 2"/>
          <p:cNvSpPr/>
          <p:nvPr/>
        </p:nvSpPr>
        <p:spPr>
          <a:xfrm>
            <a:off x="621792" y="2107692"/>
            <a:ext cx="100584" cy="100584"/>
          </a:xfrm>
          <a:prstGeom prst="ellipse">
            <a:avLst/>
          </a:prstGeom>
          <a:solidFill>
            <a:srgbClr val="3803BF"/>
          </a:solidFill>
          <a:ln/>
        </p:spPr>
      </p:sp>
      <p:sp>
        <p:nvSpPr>
          <p:cNvPr id="5" name="Text 3"/>
          <p:cNvSpPr txBox="1"/>
          <p:nvPr/>
        </p:nvSpPr>
        <p:spPr>
          <a:xfrm>
            <a:off x="859536" y="2029968"/>
            <a:ext cx="5029200" cy="310896"/>
          </a:xfrm>
          <a:prstGeom prst="rect">
            <a:avLst/>
          </a:prstGeom>
          <a:noFill/>
          <a:ln/>
        </p:spPr>
        <p:txBody>
          <a:bodyPr wrap="square" lIns="0" tIns="0" rIns="0" bIns="0" rtlCol="0" anchor="ctr"/>
          <a:lstStyle/>
          <a:p>
            <a:pPr indent="0" marL="0">
              <a:buNone/>
            </a:pPr>
            <a:r>
              <a:rPr lang="en-US" sz="1450" dirty="0">
                <a:solidFill>
                  <a:srgbClr val="17111F"/>
                </a:solidFill>
                <a:latin typeface="Open Sans" pitchFamily="34" charset="0"/>
                <a:ea typeface="Open Sans" pitchFamily="34" charset="-122"/>
                <a:cs typeface="Open Sans" pitchFamily="34" charset="-120"/>
              </a:rPr>
              <a:t>Hand hoch</a:t>
            </a:r>
            <a:endParaRPr lang="en-US" sz="1450" dirty="0"/>
          </a:p>
        </p:txBody>
      </p:sp>
      <p:sp>
        <p:nvSpPr>
          <p:cNvPr id="6" name="Shape 4"/>
          <p:cNvSpPr/>
          <p:nvPr/>
        </p:nvSpPr>
        <p:spPr>
          <a:xfrm>
            <a:off x="621792" y="2638044"/>
            <a:ext cx="100584" cy="100584"/>
          </a:xfrm>
          <a:prstGeom prst="ellipse">
            <a:avLst/>
          </a:prstGeom>
          <a:solidFill>
            <a:srgbClr val="3803BF"/>
          </a:solidFill>
          <a:ln/>
        </p:spPr>
      </p:sp>
      <p:sp>
        <p:nvSpPr>
          <p:cNvPr id="7" name="Text 5"/>
          <p:cNvSpPr txBox="1"/>
          <p:nvPr/>
        </p:nvSpPr>
        <p:spPr>
          <a:xfrm>
            <a:off x="859536" y="2560320"/>
            <a:ext cx="5029200" cy="310896"/>
          </a:xfrm>
          <a:prstGeom prst="rect">
            <a:avLst/>
          </a:prstGeom>
          <a:noFill/>
          <a:ln/>
        </p:spPr>
        <p:txBody>
          <a:bodyPr wrap="square" lIns="0" tIns="0" rIns="0" bIns="0" rtlCol="0" anchor="ctr"/>
          <a:lstStyle/>
          <a:p>
            <a:pPr indent="0" marL="0">
              <a:buNone/>
            </a:pPr>
            <a:r>
              <a:rPr lang="en-US" sz="1450" dirty="0">
                <a:solidFill>
                  <a:srgbClr val="17111F"/>
                </a:solidFill>
                <a:latin typeface="Open Sans" pitchFamily="34" charset="0"/>
                <a:ea typeface="Open Sans" pitchFamily="34" charset="-122"/>
                <a:cs typeface="Open Sans" pitchFamily="34" charset="-120"/>
              </a:rPr>
              <a:t>Hände zusammen</a:t>
            </a:r>
            <a:endParaRPr lang="en-US" sz="1450" dirty="0"/>
          </a:p>
        </p:txBody>
      </p:sp>
      <p:sp>
        <p:nvSpPr>
          <p:cNvPr id="8" name="Shape 6"/>
          <p:cNvSpPr/>
          <p:nvPr/>
        </p:nvSpPr>
        <p:spPr>
          <a:xfrm>
            <a:off x="621792" y="3168396"/>
            <a:ext cx="100584" cy="100584"/>
          </a:xfrm>
          <a:prstGeom prst="ellipse">
            <a:avLst/>
          </a:prstGeom>
          <a:solidFill>
            <a:srgbClr val="3803BF"/>
          </a:solidFill>
          <a:ln/>
        </p:spPr>
      </p:sp>
      <p:sp>
        <p:nvSpPr>
          <p:cNvPr id="9" name="Text 7"/>
          <p:cNvSpPr txBox="1"/>
          <p:nvPr/>
        </p:nvSpPr>
        <p:spPr>
          <a:xfrm>
            <a:off x="859536" y="3090672"/>
            <a:ext cx="5029200" cy="310896"/>
          </a:xfrm>
          <a:prstGeom prst="rect">
            <a:avLst/>
          </a:prstGeom>
          <a:noFill/>
          <a:ln/>
        </p:spPr>
        <p:txBody>
          <a:bodyPr wrap="square" lIns="0" tIns="0" rIns="0" bIns="0" rtlCol="0" anchor="ctr"/>
          <a:lstStyle/>
          <a:p>
            <a:pPr indent="0" marL="0">
              <a:buNone/>
            </a:pPr>
            <a:r>
              <a:rPr lang="en-US" sz="1450" dirty="0">
                <a:solidFill>
                  <a:srgbClr val="17111F"/>
                </a:solidFill>
                <a:latin typeface="Open Sans" pitchFamily="34" charset="0"/>
                <a:ea typeface="Open Sans" pitchFamily="34" charset="-122"/>
                <a:cs typeface="Open Sans" pitchFamily="34" charset="-120"/>
              </a:rPr>
              <a:t>Arme verschränkt</a:t>
            </a:r>
            <a:endParaRPr lang="en-US" sz="1450" dirty="0"/>
          </a:p>
        </p:txBody>
      </p:sp>
      <p:sp>
        <p:nvSpPr>
          <p:cNvPr id="10" name="Shape 8"/>
          <p:cNvSpPr/>
          <p:nvPr/>
        </p:nvSpPr>
        <p:spPr>
          <a:xfrm>
            <a:off x="621792" y="3698748"/>
            <a:ext cx="100584" cy="100584"/>
          </a:xfrm>
          <a:prstGeom prst="ellipse">
            <a:avLst/>
          </a:prstGeom>
          <a:solidFill>
            <a:srgbClr val="3803BF"/>
          </a:solidFill>
          <a:ln/>
        </p:spPr>
      </p:sp>
      <p:sp>
        <p:nvSpPr>
          <p:cNvPr id="11" name="Text 9"/>
          <p:cNvSpPr txBox="1"/>
          <p:nvPr/>
        </p:nvSpPr>
        <p:spPr>
          <a:xfrm>
            <a:off x="859536" y="3621024"/>
            <a:ext cx="5029200" cy="310896"/>
          </a:xfrm>
          <a:prstGeom prst="rect">
            <a:avLst/>
          </a:prstGeom>
          <a:noFill/>
          <a:ln/>
        </p:spPr>
        <p:txBody>
          <a:bodyPr wrap="square" lIns="0" tIns="0" rIns="0" bIns="0" rtlCol="0" anchor="ctr"/>
          <a:lstStyle/>
          <a:p>
            <a:pPr indent="0" marL="0">
              <a:buNone/>
            </a:pPr>
            <a:r>
              <a:rPr lang="en-US" sz="1450" dirty="0">
                <a:solidFill>
                  <a:srgbClr val="17111F"/>
                </a:solidFill>
                <a:latin typeface="Open Sans" pitchFamily="34" charset="0"/>
                <a:ea typeface="Open Sans" pitchFamily="34" charset="-122"/>
                <a:cs typeface="Open Sans" pitchFamily="34" charset="-120"/>
              </a:rPr>
              <a:t>Seitliche Neigung</a:t>
            </a:r>
            <a:endParaRPr lang="en-US" sz="1450" dirty="0"/>
          </a:p>
        </p:txBody>
      </p:sp>
      <p:sp>
        <p:nvSpPr>
          <p:cNvPr id="12" name="Shape 10"/>
          <p:cNvSpPr/>
          <p:nvPr/>
        </p:nvSpPr>
        <p:spPr>
          <a:xfrm>
            <a:off x="621792" y="4229100"/>
            <a:ext cx="100584" cy="100584"/>
          </a:xfrm>
          <a:prstGeom prst="ellipse">
            <a:avLst/>
          </a:prstGeom>
          <a:solidFill>
            <a:srgbClr val="3803BF"/>
          </a:solidFill>
          <a:ln/>
        </p:spPr>
      </p:sp>
      <p:sp>
        <p:nvSpPr>
          <p:cNvPr id="13" name="Text 11"/>
          <p:cNvSpPr txBox="1"/>
          <p:nvPr/>
        </p:nvSpPr>
        <p:spPr>
          <a:xfrm>
            <a:off x="859536" y="4151376"/>
            <a:ext cx="5029200" cy="310896"/>
          </a:xfrm>
          <a:prstGeom prst="rect">
            <a:avLst/>
          </a:prstGeom>
          <a:noFill/>
          <a:ln/>
        </p:spPr>
        <p:txBody>
          <a:bodyPr wrap="square" lIns="0" tIns="0" rIns="0" bIns="0" rtlCol="0" anchor="ctr"/>
          <a:lstStyle/>
          <a:p>
            <a:pPr indent="0" marL="0">
              <a:buNone/>
            </a:pPr>
            <a:r>
              <a:rPr lang="en-US" sz="1450" dirty="0">
                <a:solidFill>
                  <a:srgbClr val="17111F"/>
                </a:solidFill>
                <a:latin typeface="Open Sans" pitchFamily="34" charset="0"/>
                <a:ea typeface="Open Sans" pitchFamily="34" charset="-122"/>
                <a:cs typeface="Open Sans" pitchFamily="34" charset="-120"/>
              </a:rPr>
              <a:t>Seitenposition</a:t>
            </a:r>
            <a:endParaRPr lang="en-US" sz="1450" dirty="0"/>
          </a:p>
        </p:txBody>
      </p:sp>
      <p:sp>
        <p:nvSpPr>
          <p:cNvPr id="14" name="Shape 12"/>
          <p:cNvSpPr/>
          <p:nvPr/>
        </p:nvSpPr>
        <p:spPr>
          <a:xfrm>
            <a:off x="621792" y="4759452"/>
            <a:ext cx="100584" cy="100584"/>
          </a:xfrm>
          <a:prstGeom prst="ellipse">
            <a:avLst/>
          </a:prstGeom>
          <a:solidFill>
            <a:srgbClr val="3803BF"/>
          </a:solidFill>
          <a:ln/>
        </p:spPr>
      </p:sp>
      <p:sp>
        <p:nvSpPr>
          <p:cNvPr id="15" name="Text 13"/>
          <p:cNvSpPr txBox="1"/>
          <p:nvPr/>
        </p:nvSpPr>
        <p:spPr>
          <a:xfrm>
            <a:off x="859536" y="4681728"/>
            <a:ext cx="5029200" cy="310896"/>
          </a:xfrm>
          <a:prstGeom prst="rect">
            <a:avLst/>
          </a:prstGeom>
          <a:noFill/>
          <a:ln/>
        </p:spPr>
        <p:txBody>
          <a:bodyPr wrap="square" lIns="0" tIns="0" rIns="0" bIns="0" rtlCol="0" anchor="ctr"/>
          <a:lstStyle/>
          <a:p>
            <a:pPr indent="0" marL="0">
              <a:buNone/>
            </a:pPr>
            <a:r>
              <a:rPr lang="en-US" sz="1450" dirty="0">
                <a:solidFill>
                  <a:srgbClr val="17111F"/>
                </a:solidFill>
                <a:latin typeface="Open Sans" pitchFamily="34" charset="0"/>
                <a:ea typeface="Open Sans" pitchFamily="34" charset="-122"/>
                <a:cs typeface="Open Sans" pitchFamily="34" charset="-120"/>
              </a:rPr>
              <a:t>Kopf abgewandt</a:t>
            </a:r>
            <a:endParaRPr lang="en-US" sz="1450" dirty="0"/>
          </a:p>
        </p:txBody>
      </p:sp>
      <p:sp>
        <p:nvSpPr>
          <p:cNvPr id="16" name="Shape 14"/>
          <p:cNvSpPr/>
          <p:nvPr/>
        </p:nvSpPr>
        <p:spPr>
          <a:xfrm>
            <a:off x="621792" y="5289804"/>
            <a:ext cx="100584" cy="100584"/>
          </a:xfrm>
          <a:prstGeom prst="ellipse">
            <a:avLst/>
          </a:prstGeom>
          <a:solidFill>
            <a:srgbClr val="3803BF"/>
          </a:solidFill>
          <a:ln/>
        </p:spPr>
      </p:sp>
      <p:sp>
        <p:nvSpPr>
          <p:cNvPr id="17" name="Text 15"/>
          <p:cNvSpPr txBox="1"/>
          <p:nvPr/>
        </p:nvSpPr>
        <p:spPr>
          <a:xfrm>
            <a:off x="859536" y="5212080"/>
            <a:ext cx="5029200" cy="310896"/>
          </a:xfrm>
          <a:prstGeom prst="rect">
            <a:avLst/>
          </a:prstGeom>
          <a:noFill/>
          <a:ln/>
        </p:spPr>
        <p:txBody>
          <a:bodyPr wrap="square" lIns="0" tIns="0" rIns="0" bIns="0" rtlCol="0" anchor="ctr"/>
          <a:lstStyle/>
          <a:p>
            <a:pPr indent="0" marL="0">
              <a:buNone/>
            </a:pPr>
            <a:r>
              <a:rPr lang="en-US" sz="1450" dirty="0">
                <a:solidFill>
                  <a:srgbClr val="17111F"/>
                </a:solidFill>
                <a:latin typeface="Open Sans" pitchFamily="34" charset="0"/>
                <a:ea typeface="Open Sans" pitchFamily="34" charset="-122"/>
                <a:cs typeface="Open Sans" pitchFamily="34" charset="-120"/>
              </a:rPr>
              <a:t>Kopf gesenkt</a:t>
            </a:r>
            <a:endParaRPr lang="en-US" sz="1450" dirty="0"/>
          </a:p>
        </p:txBody>
      </p:sp>
      <p:sp>
        <p:nvSpPr>
          <p:cNvPr id="18" name="Shape 16"/>
          <p:cNvSpPr/>
          <p:nvPr/>
        </p:nvSpPr>
        <p:spPr>
          <a:xfrm>
            <a:off x="6720840" y="1536192"/>
            <a:ext cx="4892040" cy="4480560"/>
          </a:xfrm>
          <a:prstGeom prst="roundRect">
            <a:avLst>
              <a:gd name="adj" fmla="val 2449"/>
            </a:avLst>
          </a:prstGeom>
          <a:solidFill>
            <a:srgbClr val="F4F0FC"/>
          </a:solidFill>
          <a:ln/>
        </p:spPr>
      </p:sp>
      <p:sp>
        <p:nvSpPr>
          <p:cNvPr id="19" name="Text 17"/>
          <p:cNvSpPr txBox="1"/>
          <p:nvPr/>
        </p:nvSpPr>
        <p:spPr>
          <a:xfrm>
            <a:off x="7086600" y="1883664"/>
            <a:ext cx="4160520" cy="365760"/>
          </a:xfrm>
          <a:prstGeom prst="rect">
            <a:avLst/>
          </a:prstGeom>
          <a:noFill/>
          <a:ln/>
        </p:spPr>
        <p:txBody>
          <a:bodyPr wrap="square" lIns="0" tIns="0" rIns="0" bIns="0" rtlCol="0" anchor="ctr"/>
          <a:lstStyle/>
          <a:p>
            <a:pPr indent="0" marL="0">
              <a:buNone/>
            </a:pPr>
            <a:r>
              <a:rPr lang="en-US" sz="1550" b="1" dirty="0">
                <a:solidFill>
                  <a:srgbClr val="17111F"/>
                </a:solidFill>
                <a:latin typeface="Open Sans" pitchFamily="34" charset="0"/>
                <a:ea typeface="Open Sans" pitchFamily="34" charset="-122"/>
                <a:cs typeface="Open Sans" pitchFamily="34" charset="-120"/>
              </a:rPr>
              <a:t>So bleibt es glaubwürdig</a:t>
            </a:r>
            <a:endParaRPr lang="en-US" sz="1550" dirty="0"/>
          </a:p>
        </p:txBody>
      </p:sp>
      <p:sp>
        <p:nvSpPr>
          <p:cNvPr id="20" name="Text 18"/>
          <p:cNvSpPr txBox="1"/>
          <p:nvPr/>
        </p:nvSpPr>
        <p:spPr>
          <a:xfrm>
            <a:off x="7086600" y="2404872"/>
            <a:ext cx="4206240" cy="3291840"/>
          </a:xfrm>
          <a:prstGeom prst="rect">
            <a:avLst/>
          </a:prstGeom>
          <a:noFill/>
          <a:ln/>
        </p:spPr>
        <p:txBody>
          <a:bodyPr wrap="square" lIns="0" tIns="0" rIns="0" bIns="0" rtlCol="0" anchor="t"/>
          <a:lstStyle/>
          <a:p>
            <a:pPr marL="152400" indent="-152400">
              <a:spcAft>
                <a:spcPts val="1200"/>
              </a:spcAft>
              <a:buSzPct val="100000"/>
              <a:buChar char="•"/>
            </a:pPr>
            <a:r>
              <a:rPr lang="en-US" sz="1350" dirty="0">
                <a:solidFill>
                  <a:srgbClr val="17111F"/>
                </a:solidFill>
                <a:latin typeface="Open Sans" pitchFamily="34" charset="0"/>
                <a:ea typeface="Open Sans" pitchFamily="34" charset="-122"/>
                <a:cs typeface="Open Sans" pitchFamily="34" charset="-120"/>
              </a:rPr>
              <a:t>Baseline: 3 s neutrale Haltung kalibrieren die Referenz</a:t>
            </a:r>
            <a:endParaRPr lang="en-US" sz="1350" dirty="0"/>
          </a:p>
          <a:p>
            <a:pPr marL="152400" indent="-152400">
              <a:spcAft>
                <a:spcPts val="1200"/>
              </a:spcAft>
              <a:buSzPct val="100000"/>
              <a:buChar char="•"/>
            </a:pPr>
            <a:r>
              <a:rPr lang="en-US" sz="1350" dirty="0">
                <a:solidFill>
                  <a:srgbClr val="17111F"/>
                </a:solidFill>
                <a:latin typeface="Open Sans" pitchFamily="34" charset="0"/>
                <a:ea typeface="Open Sans" pitchFamily="34" charset="-122"/>
                <a:cs typeface="Open Sans" pitchFamily="34" charset="-120"/>
              </a:rPr>
              <a:t>2 s Mindestdauer pro Regel — kein Flackern</a:t>
            </a:r>
            <a:endParaRPr lang="en-US" sz="1350" dirty="0"/>
          </a:p>
          <a:p>
            <a:pPr marL="152400" indent="-152400">
              <a:spcAft>
                <a:spcPts val="1200"/>
              </a:spcAft>
              <a:buSzPct val="100000"/>
              <a:buChar char="•"/>
            </a:pPr>
            <a:r>
              <a:rPr lang="en-US" sz="1350" dirty="0">
                <a:solidFill>
                  <a:srgbClr val="17111F"/>
                </a:solidFill>
                <a:latin typeface="Open Sans" pitchFamily="34" charset="0"/>
                <a:ea typeface="Open Sans" pitchFamily="34" charset="-122"/>
                <a:cs typeface="Open Sans" pitchFamily="34" charset="-120"/>
              </a:rPr>
              <a:t>Dezent: ein Live-Hinweis gleichzeitig, mit Cooldown, abschaltbar</a:t>
            </a:r>
            <a:endParaRPr lang="en-US" sz="1350" dirty="0"/>
          </a:p>
          <a:p>
            <a:pPr marL="152400" indent="-152400">
              <a:spcAft>
                <a:spcPts val="1200"/>
              </a:spcAft>
              <a:buSzPct val="100000"/>
              <a:buChar char="•"/>
            </a:pPr>
            <a:r>
              <a:rPr lang="en-US" sz="1350" dirty="0">
                <a:solidFill>
                  <a:srgbClr val="17111F"/>
                </a:solidFill>
                <a:latin typeface="Open Sans" pitchFamily="34" charset="0"/>
                <a:ea typeface="Open Sans" pitchFamily="34" charset="-122"/>
                <a:cs typeface="Open Sans" pitchFamily="34" charset="-120"/>
              </a:rPr>
              <a:t>Kopforientierung als Proxy — wir behaupten keinen Blickkontakt</a:t>
            </a:r>
            <a:endParaRPr lang="en-US" sz="1350" dirty="0"/>
          </a:p>
        </p:txBody>
      </p:sp>
      <p:sp>
        <p:nvSpPr>
          <p:cNvPr id="25" name="Slide Number Placeholder 0"/>
          <p:cNvSpPr>
            <a:spLocks noGrp="1"/>
          </p:cNvSpPr>
          <p:nvPr>
            <p:ph type="sldNum" sz="quarter" idx="4294967295"/>
          </p:nvPr>
        </p:nvSpPr>
        <p:spPr>
          <a:xfrm>
            <a:off x="11338560" y="6446520"/>
            <a:ext cx="384048"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577"/>
                </a:solidFill>
                <a:latin typeface="Open Sans"/>
                <a:ea typeface="Open Sans"/>
                <a:cs typeface="Open Sans"/>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0" y="0"/>
            <a:ext cx="9143771" cy="0"/>
          </a:xfrm>
          <a:prstGeom prst="rect">
            <a:avLst/>
          </a:prstGeom>
          <a:noFill/>
          <a:ln/>
        </p:spPr>
        <p:txBody>
          <a:bodyPr wrap="square" rtlCol="0"/>
          <a:lstStyle/>
          <a:p>
            <a:pPr indent="0" marL="0">
              <a:buNone/>
            </a:pPr>
            <a:r>
              <a:rPr lang="en-US" dirty="0"/>
              <a:t>Transkript &amp; zitiergenauer Fact-Check</a:t>
            </a:r>
            <a:endParaRPr lang="en-US" dirty="0"/>
          </a:p>
        </p:txBody>
      </p:sp>
      <p:sp>
        <p:nvSpPr>
          <p:cNvPr id="3" name="Shape 1"/>
          <p:cNvSpPr/>
          <p:nvPr/>
        </p:nvSpPr>
        <p:spPr>
          <a:xfrm>
            <a:off x="566928" y="1481328"/>
            <a:ext cx="420624" cy="420624"/>
          </a:xfrm>
          <a:prstGeom prst="ellipse">
            <a:avLst/>
          </a:prstGeom>
          <a:solidFill>
            <a:srgbClr val="E7DEF8"/>
          </a:solidFill>
          <a:ln/>
        </p:spPr>
      </p:sp>
      <p:pic>
        <p:nvPicPr>
          <p:cNvPr id="4" name="Image 0" descr="preencoded.png">    </p:cNvPr>
          <p:cNvPicPr>
            <a:picLocks noChangeAspect="1"/>
          </p:cNvPicPr>
          <p:nvPr/>
        </p:nvPicPr>
        <p:blipFill>
          <a:blip r:embed="rId1"/>
          <a:stretch>
            <a:fillRect/>
          </a:stretch>
        </p:blipFill>
        <p:spPr>
          <a:xfrm>
            <a:off x="680496" y="1594896"/>
            <a:ext cx="193487" cy="193487"/>
          </a:xfrm>
          <a:prstGeom prst="rect">
            <a:avLst/>
          </a:prstGeom>
        </p:spPr>
      </p:pic>
      <p:sp>
        <p:nvSpPr>
          <p:cNvPr id="5" name="Text 2"/>
          <p:cNvSpPr txBox="1"/>
          <p:nvPr/>
        </p:nvSpPr>
        <p:spPr>
          <a:xfrm>
            <a:off x="1115568" y="1536192"/>
            <a:ext cx="10424160" cy="329184"/>
          </a:xfrm>
          <a:prstGeom prst="rect">
            <a:avLst/>
          </a:prstGeom>
          <a:noFill/>
          <a:ln/>
        </p:spPr>
        <p:txBody>
          <a:bodyPr wrap="square" lIns="0" tIns="0" rIns="0" bIns="0" rtlCol="0" anchor="ctr"/>
          <a:lstStyle/>
          <a:p>
            <a:pPr indent="0" marL="0">
              <a:buNone/>
            </a:pPr>
            <a:r>
              <a:rPr lang="en-US" sz="1350" dirty="0">
                <a:solidFill>
                  <a:srgbClr val="17111F"/>
                </a:solidFill>
                <a:latin typeface="Open Sans" pitchFamily="34" charset="0"/>
                <a:ea typeface="Open Sans" pitchFamily="34" charset="-122"/>
                <a:cs typeface="Open Sans" pitchFamily="34" charset="-120"/>
              </a:rPr>
              <a:t>Lokales faster-whisper: Deutsch, Wort-Timestamps — das Audio bleibt auf dem Gerät.</a:t>
            </a:r>
            <a:endParaRPr lang="en-US" sz="1350" dirty="0"/>
          </a:p>
        </p:txBody>
      </p:sp>
      <p:sp>
        <p:nvSpPr>
          <p:cNvPr id="6" name="Shape 3"/>
          <p:cNvSpPr/>
          <p:nvPr/>
        </p:nvSpPr>
        <p:spPr>
          <a:xfrm>
            <a:off x="566928" y="2194560"/>
            <a:ext cx="2651760" cy="2514600"/>
          </a:xfrm>
          <a:prstGeom prst="roundRect">
            <a:avLst>
              <a:gd name="adj" fmla="val 4364"/>
            </a:avLst>
          </a:prstGeom>
          <a:solidFill>
            <a:srgbClr val="F4F0FC"/>
          </a:solidFill>
          <a:ln/>
        </p:spPr>
      </p:sp>
      <p:sp>
        <p:nvSpPr>
          <p:cNvPr id="7" name="Text 4"/>
          <p:cNvSpPr/>
          <p:nvPr/>
        </p:nvSpPr>
        <p:spPr>
          <a:xfrm>
            <a:off x="841248" y="2468880"/>
            <a:ext cx="420624" cy="420624"/>
          </a:xfrm>
          <a:prstGeom prst="ellipse">
            <a:avLst/>
          </a:prstGeom>
          <a:solidFill>
            <a:srgbClr val="3803BF"/>
          </a:solidFill>
          <a:ln/>
        </p:spPr>
        <p:txBody>
          <a:bodyPr wrap="square" lIns="0" tIns="0" rIns="0" bIns="0" rtlCol="0" anchor="ctr"/>
          <a:lstStyle/>
          <a:p>
            <a:pPr algn="ctr" indent="0" marL="0">
              <a:buNone/>
            </a:pPr>
            <a:r>
              <a:rPr lang="en-US" sz="1700" b="1" dirty="0">
                <a:solidFill>
                  <a:srgbClr val="FFFFFF"/>
                </a:solidFill>
                <a:latin typeface="Open Sans" pitchFamily="34" charset="0"/>
                <a:ea typeface="Open Sans" pitchFamily="34" charset="-122"/>
                <a:cs typeface="Open Sans" pitchFamily="34" charset="-120"/>
              </a:rPr>
              <a:t>1</a:t>
            </a:r>
            <a:endParaRPr lang="en-US" sz="1700" dirty="0"/>
          </a:p>
        </p:txBody>
      </p:sp>
      <p:sp>
        <p:nvSpPr>
          <p:cNvPr id="8" name="Text 5"/>
          <p:cNvSpPr txBox="1"/>
          <p:nvPr/>
        </p:nvSpPr>
        <p:spPr>
          <a:xfrm>
            <a:off x="841248" y="3063240"/>
            <a:ext cx="2103120" cy="384048"/>
          </a:xfrm>
          <a:prstGeom prst="rect">
            <a:avLst/>
          </a:prstGeom>
          <a:noFill/>
          <a:ln/>
        </p:spPr>
        <p:txBody>
          <a:bodyPr wrap="square" lIns="0" tIns="0" rIns="0" bIns="0" rtlCol="0" anchor="ctr"/>
          <a:lstStyle/>
          <a:p>
            <a:pPr indent="0" marL="0">
              <a:buNone/>
            </a:pPr>
            <a:r>
              <a:rPr lang="en-US" sz="1450" b="1" dirty="0">
                <a:solidFill>
                  <a:srgbClr val="17111F"/>
                </a:solidFill>
                <a:latin typeface="Open Sans" pitchFamily="34" charset="0"/>
                <a:ea typeface="Open Sans" pitchFamily="34" charset="-122"/>
                <a:cs typeface="Open Sans" pitchFamily="34" charset="-120"/>
              </a:rPr>
              <a:t>Aussagen erkennen</a:t>
            </a:r>
            <a:endParaRPr lang="en-US" sz="1450" dirty="0"/>
          </a:p>
        </p:txBody>
      </p:sp>
      <p:sp>
        <p:nvSpPr>
          <p:cNvPr id="9" name="Text 6"/>
          <p:cNvSpPr txBox="1"/>
          <p:nvPr/>
        </p:nvSpPr>
        <p:spPr>
          <a:xfrm>
            <a:off x="841248" y="3493008"/>
            <a:ext cx="2121408" cy="1097280"/>
          </a:xfrm>
          <a:prstGeom prst="rect">
            <a:avLst/>
          </a:prstGeom>
          <a:noFill/>
          <a:ln/>
        </p:spPr>
        <p:txBody>
          <a:bodyPr wrap="square" lIns="0" tIns="0" rIns="0" bIns="0" rtlCol="0" anchor="t"/>
          <a:lstStyle/>
          <a:p>
            <a:pPr indent="0" marL="0">
              <a:buNone/>
            </a:pPr>
            <a:r>
              <a:rPr lang="en-US" sz="1250" dirty="0">
                <a:solidFill>
                  <a:srgbClr val="6B6577"/>
                </a:solidFill>
                <a:latin typeface="Open Sans" pitchFamily="34" charset="0"/>
                <a:ea typeface="Open Sans" pitchFamily="34" charset="-122"/>
                <a:cs typeface="Open Sans" pitchFamily="34" charset="-120"/>
              </a:rPr>
              <a:t>Das LLM extrahiert prüfbare Aussagen — Timestamps kommen aus den Wörtern.</a:t>
            </a:r>
            <a:endParaRPr lang="en-US" sz="1250" dirty="0"/>
          </a:p>
        </p:txBody>
      </p:sp>
      <p:sp>
        <p:nvSpPr>
          <p:cNvPr id="10" name="Shape 7"/>
          <p:cNvSpPr/>
          <p:nvPr/>
        </p:nvSpPr>
        <p:spPr>
          <a:xfrm>
            <a:off x="3438144" y="2194560"/>
            <a:ext cx="2651760" cy="2514600"/>
          </a:xfrm>
          <a:prstGeom prst="roundRect">
            <a:avLst>
              <a:gd name="adj" fmla="val 4364"/>
            </a:avLst>
          </a:prstGeom>
          <a:solidFill>
            <a:srgbClr val="F4F0FC"/>
          </a:solidFill>
          <a:ln/>
        </p:spPr>
      </p:sp>
      <p:sp>
        <p:nvSpPr>
          <p:cNvPr id="11" name="Text 8"/>
          <p:cNvSpPr/>
          <p:nvPr/>
        </p:nvSpPr>
        <p:spPr>
          <a:xfrm>
            <a:off x="3712464" y="2468880"/>
            <a:ext cx="420624" cy="420624"/>
          </a:xfrm>
          <a:prstGeom prst="ellipse">
            <a:avLst/>
          </a:prstGeom>
          <a:solidFill>
            <a:srgbClr val="3803BF"/>
          </a:solidFill>
          <a:ln/>
        </p:spPr>
        <p:txBody>
          <a:bodyPr wrap="square" lIns="0" tIns="0" rIns="0" bIns="0" rtlCol="0" anchor="ctr"/>
          <a:lstStyle/>
          <a:p>
            <a:pPr algn="ctr" indent="0" marL="0">
              <a:buNone/>
            </a:pPr>
            <a:r>
              <a:rPr lang="en-US" sz="1700" b="1" dirty="0">
                <a:solidFill>
                  <a:srgbClr val="FFFFFF"/>
                </a:solidFill>
                <a:latin typeface="Open Sans" pitchFamily="34" charset="0"/>
                <a:ea typeface="Open Sans" pitchFamily="34" charset="-122"/>
                <a:cs typeface="Open Sans" pitchFamily="34" charset="-120"/>
              </a:rPr>
              <a:t>2</a:t>
            </a:r>
            <a:endParaRPr lang="en-US" sz="1700" dirty="0"/>
          </a:p>
        </p:txBody>
      </p:sp>
      <p:sp>
        <p:nvSpPr>
          <p:cNvPr id="12" name="Text 9"/>
          <p:cNvSpPr txBox="1"/>
          <p:nvPr/>
        </p:nvSpPr>
        <p:spPr>
          <a:xfrm>
            <a:off x="3712464" y="3063240"/>
            <a:ext cx="2103120" cy="384048"/>
          </a:xfrm>
          <a:prstGeom prst="rect">
            <a:avLst/>
          </a:prstGeom>
          <a:noFill/>
          <a:ln/>
        </p:spPr>
        <p:txBody>
          <a:bodyPr wrap="square" lIns="0" tIns="0" rIns="0" bIns="0" rtlCol="0" anchor="ctr"/>
          <a:lstStyle/>
          <a:p>
            <a:pPr indent="0" marL="0">
              <a:buNone/>
            </a:pPr>
            <a:r>
              <a:rPr lang="en-US" sz="1450" b="1" dirty="0">
                <a:solidFill>
                  <a:srgbClr val="17111F"/>
                </a:solidFill>
                <a:latin typeface="Open Sans" pitchFamily="34" charset="0"/>
                <a:ea typeface="Open Sans" pitchFamily="34" charset="-122"/>
                <a:cs typeface="Open Sans" pitchFamily="34" charset="-120"/>
              </a:rPr>
              <a:t>Quellen durchsuchen</a:t>
            </a:r>
            <a:endParaRPr lang="en-US" sz="1450" dirty="0"/>
          </a:p>
        </p:txBody>
      </p:sp>
      <p:sp>
        <p:nvSpPr>
          <p:cNvPr id="13" name="Text 10"/>
          <p:cNvSpPr txBox="1"/>
          <p:nvPr/>
        </p:nvSpPr>
        <p:spPr>
          <a:xfrm>
            <a:off x="3712464" y="3493008"/>
            <a:ext cx="2121408" cy="1097280"/>
          </a:xfrm>
          <a:prstGeom prst="rect">
            <a:avLst/>
          </a:prstGeom>
          <a:noFill/>
          <a:ln/>
        </p:spPr>
        <p:txBody>
          <a:bodyPr wrap="square" lIns="0" tIns="0" rIns="0" bIns="0" rtlCol="0" anchor="t"/>
          <a:lstStyle/>
          <a:p>
            <a:pPr indent="0" marL="0">
              <a:buNone/>
            </a:pPr>
            <a:r>
              <a:rPr lang="en-US" sz="1250" dirty="0">
                <a:solidFill>
                  <a:srgbClr val="6B6577"/>
                </a:solidFill>
                <a:latin typeface="Open Sans" pitchFamily="34" charset="0"/>
                <a:ea typeface="Open Sans" pitchFamily="34" charset="-122"/>
                <a:cs typeface="Open Sans" pitchFamily="34" charset="-120"/>
              </a:rPr>
              <a:t>Hybrid-Retrieval: pgvector + deutsche Volltextsuche in PDF, PPTX, DOCX.</a:t>
            </a:r>
            <a:endParaRPr lang="en-US" sz="1250" dirty="0"/>
          </a:p>
        </p:txBody>
      </p:sp>
      <p:sp>
        <p:nvSpPr>
          <p:cNvPr id="14" name="Shape 11"/>
          <p:cNvSpPr/>
          <p:nvPr/>
        </p:nvSpPr>
        <p:spPr>
          <a:xfrm>
            <a:off x="6309360" y="2194560"/>
            <a:ext cx="2651760" cy="2514600"/>
          </a:xfrm>
          <a:prstGeom prst="roundRect">
            <a:avLst>
              <a:gd name="adj" fmla="val 4364"/>
            </a:avLst>
          </a:prstGeom>
          <a:solidFill>
            <a:srgbClr val="F4F0FC"/>
          </a:solidFill>
          <a:ln/>
        </p:spPr>
      </p:sp>
      <p:sp>
        <p:nvSpPr>
          <p:cNvPr id="15" name="Text 12"/>
          <p:cNvSpPr/>
          <p:nvPr/>
        </p:nvSpPr>
        <p:spPr>
          <a:xfrm>
            <a:off x="6583680" y="2468880"/>
            <a:ext cx="420624" cy="420624"/>
          </a:xfrm>
          <a:prstGeom prst="ellipse">
            <a:avLst/>
          </a:prstGeom>
          <a:solidFill>
            <a:srgbClr val="3803BF"/>
          </a:solidFill>
          <a:ln/>
        </p:spPr>
        <p:txBody>
          <a:bodyPr wrap="square" lIns="0" tIns="0" rIns="0" bIns="0" rtlCol="0" anchor="ctr"/>
          <a:lstStyle/>
          <a:p>
            <a:pPr algn="ctr" indent="0" marL="0">
              <a:buNone/>
            </a:pPr>
            <a:r>
              <a:rPr lang="en-US" sz="1700" b="1" dirty="0">
                <a:solidFill>
                  <a:srgbClr val="FFFFFF"/>
                </a:solidFill>
                <a:latin typeface="Open Sans" pitchFamily="34" charset="0"/>
                <a:ea typeface="Open Sans" pitchFamily="34" charset="-122"/>
                <a:cs typeface="Open Sans" pitchFamily="34" charset="-120"/>
              </a:rPr>
              <a:t>3</a:t>
            </a:r>
            <a:endParaRPr lang="en-US" sz="1700" dirty="0"/>
          </a:p>
        </p:txBody>
      </p:sp>
      <p:sp>
        <p:nvSpPr>
          <p:cNvPr id="16" name="Text 13"/>
          <p:cNvSpPr txBox="1"/>
          <p:nvPr/>
        </p:nvSpPr>
        <p:spPr>
          <a:xfrm>
            <a:off x="6583680" y="3063240"/>
            <a:ext cx="2103120" cy="384048"/>
          </a:xfrm>
          <a:prstGeom prst="rect">
            <a:avLst/>
          </a:prstGeom>
          <a:noFill/>
          <a:ln/>
        </p:spPr>
        <p:txBody>
          <a:bodyPr wrap="square" lIns="0" tIns="0" rIns="0" bIns="0" rtlCol="0" anchor="ctr"/>
          <a:lstStyle/>
          <a:p>
            <a:pPr indent="0" marL="0">
              <a:buNone/>
            </a:pPr>
            <a:r>
              <a:rPr lang="en-US" sz="1450" b="1" dirty="0">
                <a:solidFill>
                  <a:srgbClr val="17111F"/>
                </a:solidFill>
                <a:latin typeface="Open Sans" pitchFamily="34" charset="0"/>
                <a:ea typeface="Open Sans" pitchFamily="34" charset="-122"/>
                <a:cs typeface="Open Sans" pitchFamily="34" charset="-120"/>
              </a:rPr>
              <a:t>Urteil mit Zitat</a:t>
            </a:r>
            <a:endParaRPr lang="en-US" sz="1450" dirty="0"/>
          </a:p>
        </p:txBody>
      </p:sp>
      <p:sp>
        <p:nvSpPr>
          <p:cNvPr id="17" name="Text 14"/>
          <p:cNvSpPr txBox="1"/>
          <p:nvPr/>
        </p:nvSpPr>
        <p:spPr>
          <a:xfrm>
            <a:off x="6583680" y="3493008"/>
            <a:ext cx="2121408" cy="1097280"/>
          </a:xfrm>
          <a:prstGeom prst="rect">
            <a:avLst/>
          </a:prstGeom>
          <a:noFill/>
          <a:ln/>
        </p:spPr>
        <p:txBody>
          <a:bodyPr wrap="square" lIns="0" tIns="0" rIns="0" bIns="0" rtlCol="0" anchor="t"/>
          <a:lstStyle/>
          <a:p>
            <a:pPr indent="0" marL="0">
              <a:buNone/>
            </a:pPr>
            <a:r>
              <a:rPr lang="en-US" sz="1250" dirty="0">
                <a:solidFill>
                  <a:srgbClr val="6B6577"/>
                </a:solidFill>
                <a:latin typeface="Open Sans" pitchFamily="34" charset="0"/>
                <a:ea typeface="Open Sans" pitchFamily="34" charset="-122"/>
                <a:cs typeface="Open Sans" pitchFamily="34" charset="-120"/>
              </a:rPr>
              <a:t>stützt · widerspricht · in den Quellen nicht gefunden.</a:t>
            </a:r>
            <a:endParaRPr lang="en-US" sz="1250" dirty="0"/>
          </a:p>
        </p:txBody>
      </p:sp>
      <p:sp>
        <p:nvSpPr>
          <p:cNvPr id="18" name="Shape 15"/>
          <p:cNvSpPr/>
          <p:nvPr/>
        </p:nvSpPr>
        <p:spPr>
          <a:xfrm>
            <a:off x="9180576" y="2194560"/>
            <a:ext cx="2651760" cy="2514600"/>
          </a:xfrm>
          <a:prstGeom prst="roundRect">
            <a:avLst>
              <a:gd name="adj" fmla="val 4364"/>
            </a:avLst>
          </a:prstGeom>
          <a:solidFill>
            <a:srgbClr val="F4F0FC"/>
          </a:solidFill>
          <a:ln/>
        </p:spPr>
      </p:sp>
      <p:sp>
        <p:nvSpPr>
          <p:cNvPr id="19" name="Text 16"/>
          <p:cNvSpPr/>
          <p:nvPr/>
        </p:nvSpPr>
        <p:spPr>
          <a:xfrm>
            <a:off x="9454896" y="2468880"/>
            <a:ext cx="420624" cy="420624"/>
          </a:xfrm>
          <a:prstGeom prst="ellipse">
            <a:avLst/>
          </a:prstGeom>
          <a:solidFill>
            <a:srgbClr val="3803BF"/>
          </a:solidFill>
          <a:ln/>
        </p:spPr>
        <p:txBody>
          <a:bodyPr wrap="square" lIns="0" tIns="0" rIns="0" bIns="0" rtlCol="0" anchor="ctr"/>
          <a:lstStyle/>
          <a:p>
            <a:pPr algn="ctr" indent="0" marL="0">
              <a:buNone/>
            </a:pPr>
            <a:r>
              <a:rPr lang="en-US" sz="1700" b="1" dirty="0">
                <a:solidFill>
                  <a:srgbClr val="FFFFFF"/>
                </a:solidFill>
                <a:latin typeface="Open Sans" pitchFamily="34" charset="0"/>
                <a:ea typeface="Open Sans" pitchFamily="34" charset="-122"/>
                <a:cs typeface="Open Sans" pitchFamily="34" charset="-120"/>
              </a:rPr>
              <a:t>4</a:t>
            </a:r>
            <a:endParaRPr lang="en-US" sz="1700" dirty="0"/>
          </a:p>
        </p:txBody>
      </p:sp>
      <p:sp>
        <p:nvSpPr>
          <p:cNvPr id="20" name="Text 17"/>
          <p:cNvSpPr txBox="1"/>
          <p:nvPr/>
        </p:nvSpPr>
        <p:spPr>
          <a:xfrm>
            <a:off x="9454896" y="3063240"/>
            <a:ext cx="2103120" cy="384048"/>
          </a:xfrm>
          <a:prstGeom prst="rect">
            <a:avLst/>
          </a:prstGeom>
          <a:noFill/>
          <a:ln/>
        </p:spPr>
        <p:txBody>
          <a:bodyPr wrap="square" lIns="0" tIns="0" rIns="0" bIns="0" rtlCol="0" anchor="ctr"/>
          <a:lstStyle/>
          <a:p>
            <a:pPr indent="0" marL="0">
              <a:buNone/>
            </a:pPr>
            <a:r>
              <a:rPr lang="en-US" sz="1450" b="1" dirty="0">
                <a:solidFill>
                  <a:srgbClr val="17111F"/>
                </a:solidFill>
                <a:latin typeface="Open Sans" pitchFamily="34" charset="0"/>
                <a:ea typeface="Open Sans" pitchFamily="34" charset="-122"/>
                <a:cs typeface="Open Sans" pitchFamily="34" charset="-120"/>
              </a:rPr>
              <a:t>Code prüft das Zitat</a:t>
            </a:r>
            <a:endParaRPr lang="en-US" sz="1450" dirty="0"/>
          </a:p>
        </p:txBody>
      </p:sp>
      <p:sp>
        <p:nvSpPr>
          <p:cNvPr id="21" name="Text 18"/>
          <p:cNvSpPr txBox="1"/>
          <p:nvPr/>
        </p:nvSpPr>
        <p:spPr>
          <a:xfrm>
            <a:off x="9454896" y="3493008"/>
            <a:ext cx="2121408" cy="1097280"/>
          </a:xfrm>
          <a:prstGeom prst="rect">
            <a:avLst/>
          </a:prstGeom>
          <a:noFill/>
          <a:ln/>
        </p:spPr>
        <p:txBody>
          <a:bodyPr wrap="square" lIns="0" tIns="0" rIns="0" bIns="0" rtlCol="0" anchor="t"/>
          <a:lstStyle/>
          <a:p>
            <a:pPr indent="0" marL="0">
              <a:buNone/>
            </a:pPr>
            <a:r>
              <a:rPr lang="en-US" sz="1250" dirty="0">
                <a:solidFill>
                  <a:srgbClr val="6B6577"/>
                </a:solidFill>
                <a:latin typeface="Open Sans" pitchFamily="34" charset="0"/>
                <a:ea typeface="Open Sans" pitchFamily="34" charset="-122"/>
                <a:cs typeface="Open Sans" pitchFamily="34" charset="-120"/>
              </a:rPr>
              <a:t>String-Match gegen den Chunk — erfundene Zitate werden verworfen.</a:t>
            </a:r>
            <a:endParaRPr lang="en-US" sz="1250" dirty="0"/>
          </a:p>
        </p:txBody>
      </p:sp>
      <p:sp>
        <p:nvSpPr>
          <p:cNvPr id="22" name="Text 19"/>
          <p:cNvSpPr txBox="1"/>
          <p:nvPr/>
        </p:nvSpPr>
        <p:spPr>
          <a:xfrm>
            <a:off x="566928" y="5074920"/>
            <a:ext cx="11064240" cy="411480"/>
          </a:xfrm>
          <a:prstGeom prst="rect">
            <a:avLst/>
          </a:prstGeom>
          <a:noFill/>
          <a:ln/>
        </p:spPr>
        <p:txBody>
          <a:bodyPr wrap="square" lIns="0" tIns="0" rIns="0" bIns="0" rtlCol="0" anchor="ctr"/>
          <a:lstStyle/>
          <a:p>
            <a:pPr algn="ctr" indent="0" marL="0">
              <a:buNone/>
            </a:pPr>
            <a:r>
              <a:rPr lang="en-US" sz="1700" b="1" dirty="0">
                <a:solidFill>
                  <a:srgbClr val="3803BF"/>
                </a:solidFill>
                <a:latin typeface="Open Sans" pitchFamily="34" charset="0"/>
                <a:ea typeface="Open Sans" pitchFamily="34" charset="-122"/>
                <a:cs typeface="Open Sans" pitchFamily="34" charset="-120"/>
              </a:rPr>
              <a:t>„Nicht gefunden“ ist nicht „falsch“.</a:t>
            </a:r>
            <a:endParaRPr lang="en-US" sz="1700" dirty="0"/>
          </a:p>
        </p:txBody>
      </p:sp>
      <p:sp>
        <p:nvSpPr>
          <p:cNvPr id="25" name="Slide Number Placeholder 0"/>
          <p:cNvSpPr>
            <a:spLocks noGrp="1"/>
          </p:cNvSpPr>
          <p:nvPr>
            <p:ph type="sldNum" sz="quarter" idx="4294967295"/>
          </p:nvPr>
        </p:nvSpPr>
        <p:spPr>
          <a:xfrm>
            <a:off x="11338560" y="6446520"/>
            <a:ext cx="384048"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577"/>
                </a:solidFill>
                <a:latin typeface="Open Sans"/>
                <a:ea typeface="Open Sans"/>
                <a:cs typeface="Open Sans"/>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0" y="0"/>
            <a:ext cx="9143771" cy="0"/>
          </a:xfrm>
          <a:prstGeom prst="rect">
            <a:avLst/>
          </a:prstGeom>
          <a:noFill/>
          <a:ln/>
        </p:spPr>
        <p:txBody>
          <a:bodyPr wrap="square" rtlCol="0"/>
          <a:lstStyle/>
          <a:p>
            <a:pPr indent="0" marL="0">
              <a:buNone/>
            </a:pPr>
            <a:r>
              <a:rPr lang="en-US" dirty="0"/>
              <a:t>Stimme: fünf Merkmale, live</a:t>
            </a:r>
            <a:endParaRPr lang="en-US" dirty="0"/>
          </a:p>
        </p:txBody>
      </p:sp>
      <p:sp>
        <p:nvSpPr>
          <p:cNvPr id="3" name="Shape 1"/>
          <p:cNvSpPr/>
          <p:nvPr/>
        </p:nvSpPr>
        <p:spPr>
          <a:xfrm>
            <a:off x="458572" y="1691640"/>
            <a:ext cx="2057400" cy="2743200"/>
          </a:xfrm>
          <a:prstGeom prst="roundRect">
            <a:avLst>
              <a:gd name="adj" fmla="val 5333"/>
            </a:avLst>
          </a:prstGeom>
          <a:solidFill>
            <a:srgbClr val="F4F0FC"/>
          </a:solidFill>
          <a:ln/>
        </p:spPr>
      </p:sp>
      <p:sp>
        <p:nvSpPr>
          <p:cNvPr id="4" name="Shape 2"/>
          <p:cNvSpPr/>
          <p:nvPr/>
        </p:nvSpPr>
        <p:spPr>
          <a:xfrm>
            <a:off x="714604" y="1984248"/>
            <a:ext cx="493776" cy="493776"/>
          </a:xfrm>
          <a:prstGeom prst="ellipse">
            <a:avLst/>
          </a:prstGeom>
          <a:solidFill>
            <a:srgbClr val="E7DEF8"/>
          </a:solidFill>
          <a:ln/>
        </p:spPr>
      </p:sp>
      <p:pic>
        <p:nvPicPr>
          <p:cNvPr id="5" name="Image 0" descr="preencoded.png">    </p:cNvPr>
          <p:cNvPicPr>
            <a:picLocks noChangeAspect="1"/>
          </p:cNvPicPr>
          <p:nvPr/>
        </p:nvPicPr>
        <p:blipFill>
          <a:blip r:embed="rId1"/>
          <a:stretch>
            <a:fillRect/>
          </a:stretch>
        </p:blipFill>
        <p:spPr>
          <a:xfrm>
            <a:off x="847923" y="2117568"/>
            <a:ext cx="227137" cy="227137"/>
          </a:xfrm>
          <a:prstGeom prst="rect">
            <a:avLst/>
          </a:prstGeom>
        </p:spPr>
      </p:pic>
      <p:sp>
        <p:nvSpPr>
          <p:cNvPr id="6" name="Text 3"/>
          <p:cNvSpPr txBox="1"/>
          <p:nvPr/>
        </p:nvSpPr>
        <p:spPr>
          <a:xfrm>
            <a:off x="714604" y="2651760"/>
            <a:ext cx="1600200" cy="365760"/>
          </a:xfrm>
          <a:prstGeom prst="rect">
            <a:avLst/>
          </a:prstGeom>
          <a:noFill/>
          <a:ln/>
        </p:spPr>
        <p:txBody>
          <a:bodyPr wrap="square" lIns="0" tIns="0" rIns="0" bIns="0" rtlCol="0" anchor="ctr"/>
          <a:lstStyle/>
          <a:p>
            <a:pPr indent="0" marL="0">
              <a:buNone/>
            </a:pPr>
            <a:r>
              <a:rPr lang="en-US" sz="1550" b="1" dirty="0">
                <a:solidFill>
                  <a:srgbClr val="17111F"/>
                </a:solidFill>
                <a:latin typeface="Open Sans" pitchFamily="34" charset="0"/>
                <a:ea typeface="Open Sans" pitchFamily="34" charset="-122"/>
                <a:cs typeface="Open Sans" pitchFamily="34" charset="-120"/>
              </a:rPr>
              <a:t>Tempo</a:t>
            </a:r>
            <a:endParaRPr lang="en-US" sz="1550" dirty="0"/>
          </a:p>
        </p:txBody>
      </p:sp>
      <p:sp>
        <p:nvSpPr>
          <p:cNvPr id="7" name="Text 4"/>
          <p:cNvSpPr txBox="1"/>
          <p:nvPr/>
        </p:nvSpPr>
        <p:spPr>
          <a:xfrm>
            <a:off x="714604" y="3063240"/>
            <a:ext cx="1581912" cy="1234440"/>
          </a:xfrm>
          <a:prstGeom prst="rect">
            <a:avLst/>
          </a:prstGeom>
          <a:noFill/>
          <a:ln/>
        </p:spPr>
        <p:txBody>
          <a:bodyPr wrap="square" lIns="0" tIns="0" rIns="0" bIns="0" rtlCol="0" anchor="t"/>
          <a:lstStyle/>
          <a:p>
            <a:pPr indent="0" marL="0">
              <a:buNone/>
            </a:pPr>
            <a:r>
              <a:rPr lang="en-US" sz="1200" dirty="0">
                <a:solidFill>
                  <a:srgbClr val="6B6577"/>
                </a:solidFill>
                <a:latin typeface="Open Sans" pitchFamily="34" charset="0"/>
                <a:ea typeface="Open Sans" pitchFamily="34" charset="-122"/>
                <a:cs typeface="Open Sans" pitchFamily="34" charset="-120"/>
              </a:rPr>
              <a:t>Silbenrate relativ zur eigenen Referenz</a:t>
            </a:r>
            <a:endParaRPr lang="en-US" sz="1200" dirty="0"/>
          </a:p>
        </p:txBody>
      </p:sp>
      <p:sp>
        <p:nvSpPr>
          <p:cNvPr id="8" name="Shape 5"/>
          <p:cNvSpPr/>
          <p:nvPr/>
        </p:nvSpPr>
        <p:spPr>
          <a:xfrm>
            <a:off x="2762860" y="1691640"/>
            <a:ext cx="2057400" cy="2743200"/>
          </a:xfrm>
          <a:prstGeom prst="roundRect">
            <a:avLst>
              <a:gd name="adj" fmla="val 5333"/>
            </a:avLst>
          </a:prstGeom>
          <a:solidFill>
            <a:srgbClr val="F4F0FC"/>
          </a:solidFill>
          <a:ln/>
        </p:spPr>
      </p:sp>
      <p:sp>
        <p:nvSpPr>
          <p:cNvPr id="9" name="Shape 6"/>
          <p:cNvSpPr/>
          <p:nvPr/>
        </p:nvSpPr>
        <p:spPr>
          <a:xfrm>
            <a:off x="3018892" y="1984248"/>
            <a:ext cx="493776" cy="493776"/>
          </a:xfrm>
          <a:prstGeom prst="ellipse">
            <a:avLst/>
          </a:prstGeom>
          <a:solidFill>
            <a:srgbClr val="E7DEF8"/>
          </a:solidFill>
          <a:ln/>
        </p:spPr>
      </p:sp>
      <p:pic>
        <p:nvPicPr>
          <p:cNvPr id="10" name="Image 1" descr="preencoded.png">    </p:cNvPr>
          <p:cNvPicPr>
            <a:picLocks noChangeAspect="1"/>
          </p:cNvPicPr>
          <p:nvPr/>
        </p:nvPicPr>
        <p:blipFill>
          <a:blip r:embed="rId2"/>
          <a:stretch>
            <a:fillRect/>
          </a:stretch>
        </p:blipFill>
        <p:spPr>
          <a:xfrm>
            <a:off x="3152211" y="2117568"/>
            <a:ext cx="227137" cy="227137"/>
          </a:xfrm>
          <a:prstGeom prst="rect">
            <a:avLst/>
          </a:prstGeom>
        </p:spPr>
      </p:pic>
      <p:sp>
        <p:nvSpPr>
          <p:cNvPr id="11" name="Text 7"/>
          <p:cNvSpPr txBox="1"/>
          <p:nvPr/>
        </p:nvSpPr>
        <p:spPr>
          <a:xfrm>
            <a:off x="3018892" y="2651760"/>
            <a:ext cx="1600200" cy="365760"/>
          </a:xfrm>
          <a:prstGeom prst="rect">
            <a:avLst/>
          </a:prstGeom>
          <a:noFill/>
          <a:ln/>
        </p:spPr>
        <p:txBody>
          <a:bodyPr wrap="square" lIns="0" tIns="0" rIns="0" bIns="0" rtlCol="0" anchor="ctr"/>
          <a:lstStyle/>
          <a:p>
            <a:pPr indent="0" marL="0">
              <a:buNone/>
            </a:pPr>
            <a:r>
              <a:rPr lang="en-US" sz="1550" b="1" dirty="0">
                <a:solidFill>
                  <a:srgbClr val="17111F"/>
                </a:solidFill>
                <a:latin typeface="Open Sans" pitchFamily="34" charset="0"/>
                <a:ea typeface="Open Sans" pitchFamily="34" charset="-122"/>
                <a:cs typeface="Open Sans" pitchFamily="34" charset="-120"/>
              </a:rPr>
              <a:t>Pausen</a:t>
            </a:r>
            <a:endParaRPr lang="en-US" sz="1550" dirty="0"/>
          </a:p>
        </p:txBody>
      </p:sp>
      <p:sp>
        <p:nvSpPr>
          <p:cNvPr id="12" name="Text 8"/>
          <p:cNvSpPr txBox="1"/>
          <p:nvPr/>
        </p:nvSpPr>
        <p:spPr>
          <a:xfrm>
            <a:off x="3018892" y="3063240"/>
            <a:ext cx="1581912" cy="1234440"/>
          </a:xfrm>
          <a:prstGeom prst="rect">
            <a:avLst/>
          </a:prstGeom>
          <a:noFill/>
          <a:ln/>
        </p:spPr>
        <p:txBody>
          <a:bodyPr wrap="square" lIns="0" tIns="0" rIns="0" bIns="0" rtlCol="0" anchor="t"/>
          <a:lstStyle/>
          <a:p>
            <a:pPr indent="0" marL="0">
              <a:buNone/>
            </a:pPr>
            <a:r>
              <a:rPr lang="en-US" sz="1200" dirty="0">
                <a:solidFill>
                  <a:srgbClr val="6B6577"/>
                </a:solidFill>
                <a:latin typeface="Open Sans" pitchFamily="34" charset="0"/>
                <a:ea typeface="Open Sans" pitchFamily="34" charset="-122"/>
                <a:cs typeface="Open Sans" pitchFamily="34" charset="-120"/>
              </a:rPr>
              <a:t>Sprachpausen aus VAD und Wörtern</a:t>
            </a:r>
            <a:endParaRPr lang="en-US" sz="1200" dirty="0"/>
          </a:p>
        </p:txBody>
      </p:sp>
      <p:sp>
        <p:nvSpPr>
          <p:cNvPr id="13" name="Shape 9"/>
          <p:cNvSpPr/>
          <p:nvPr/>
        </p:nvSpPr>
        <p:spPr>
          <a:xfrm>
            <a:off x="5067148" y="1691640"/>
            <a:ext cx="2057400" cy="2743200"/>
          </a:xfrm>
          <a:prstGeom prst="roundRect">
            <a:avLst>
              <a:gd name="adj" fmla="val 5333"/>
            </a:avLst>
          </a:prstGeom>
          <a:solidFill>
            <a:srgbClr val="F4F0FC"/>
          </a:solidFill>
          <a:ln/>
        </p:spPr>
      </p:sp>
      <p:sp>
        <p:nvSpPr>
          <p:cNvPr id="14" name="Shape 10"/>
          <p:cNvSpPr/>
          <p:nvPr/>
        </p:nvSpPr>
        <p:spPr>
          <a:xfrm>
            <a:off x="5323180" y="1984248"/>
            <a:ext cx="493776" cy="493776"/>
          </a:xfrm>
          <a:prstGeom prst="ellipse">
            <a:avLst/>
          </a:prstGeom>
          <a:solidFill>
            <a:srgbClr val="E7DEF8"/>
          </a:solidFill>
          <a:ln/>
        </p:spPr>
      </p:sp>
      <p:pic>
        <p:nvPicPr>
          <p:cNvPr id="15" name="Image 2" descr="preencoded.png">    </p:cNvPr>
          <p:cNvPicPr>
            <a:picLocks noChangeAspect="1"/>
          </p:cNvPicPr>
          <p:nvPr/>
        </p:nvPicPr>
        <p:blipFill>
          <a:blip r:embed="rId3"/>
          <a:stretch>
            <a:fillRect/>
          </a:stretch>
        </p:blipFill>
        <p:spPr>
          <a:xfrm>
            <a:off x="5456499" y="2117568"/>
            <a:ext cx="227137" cy="227137"/>
          </a:xfrm>
          <a:prstGeom prst="rect">
            <a:avLst/>
          </a:prstGeom>
        </p:spPr>
      </p:pic>
      <p:sp>
        <p:nvSpPr>
          <p:cNvPr id="16" name="Text 11"/>
          <p:cNvSpPr txBox="1"/>
          <p:nvPr/>
        </p:nvSpPr>
        <p:spPr>
          <a:xfrm>
            <a:off x="5323180" y="2651760"/>
            <a:ext cx="1600200" cy="365760"/>
          </a:xfrm>
          <a:prstGeom prst="rect">
            <a:avLst/>
          </a:prstGeom>
          <a:noFill/>
          <a:ln/>
        </p:spPr>
        <p:txBody>
          <a:bodyPr wrap="square" lIns="0" tIns="0" rIns="0" bIns="0" rtlCol="0" anchor="ctr"/>
          <a:lstStyle/>
          <a:p>
            <a:pPr indent="0" marL="0">
              <a:buNone/>
            </a:pPr>
            <a:r>
              <a:rPr lang="en-US" sz="1550" b="1" dirty="0">
                <a:solidFill>
                  <a:srgbClr val="17111F"/>
                </a:solidFill>
                <a:latin typeface="Open Sans" pitchFamily="34" charset="0"/>
                <a:ea typeface="Open Sans" pitchFamily="34" charset="-122"/>
                <a:cs typeface="Open Sans" pitchFamily="34" charset="-120"/>
              </a:rPr>
              <a:t>Füllwörter</a:t>
            </a:r>
            <a:endParaRPr lang="en-US" sz="1550" dirty="0"/>
          </a:p>
        </p:txBody>
      </p:sp>
      <p:sp>
        <p:nvSpPr>
          <p:cNvPr id="17" name="Text 12"/>
          <p:cNvSpPr txBox="1"/>
          <p:nvPr/>
        </p:nvSpPr>
        <p:spPr>
          <a:xfrm>
            <a:off x="5323180" y="3063240"/>
            <a:ext cx="1581912" cy="1234440"/>
          </a:xfrm>
          <a:prstGeom prst="rect">
            <a:avLst/>
          </a:prstGeom>
          <a:noFill/>
          <a:ln/>
        </p:spPr>
        <p:txBody>
          <a:bodyPr wrap="square" lIns="0" tIns="0" rIns="0" bIns="0" rtlCol="0" anchor="t"/>
          <a:lstStyle/>
          <a:p>
            <a:pPr indent="0" marL="0">
              <a:buNone/>
            </a:pPr>
            <a:r>
              <a:rPr lang="en-US" sz="1200" dirty="0">
                <a:solidFill>
                  <a:srgbClr val="6B6577"/>
                </a:solidFill>
                <a:latin typeface="Open Sans" pitchFamily="34" charset="0"/>
                <a:ea typeface="Open Sans" pitchFamily="34" charset="-122"/>
                <a:cs typeface="Open Sans" pitchFamily="34" charset="-120"/>
              </a:rPr>
              <a:t>„äh“, „hm“ — aus dem Transkript</a:t>
            </a:r>
            <a:endParaRPr lang="en-US" sz="1200" dirty="0"/>
          </a:p>
        </p:txBody>
      </p:sp>
      <p:sp>
        <p:nvSpPr>
          <p:cNvPr id="18" name="Shape 13"/>
          <p:cNvSpPr/>
          <p:nvPr/>
        </p:nvSpPr>
        <p:spPr>
          <a:xfrm>
            <a:off x="7371436" y="1691640"/>
            <a:ext cx="2057400" cy="2743200"/>
          </a:xfrm>
          <a:prstGeom prst="roundRect">
            <a:avLst>
              <a:gd name="adj" fmla="val 5333"/>
            </a:avLst>
          </a:prstGeom>
          <a:solidFill>
            <a:srgbClr val="F4F0FC"/>
          </a:solidFill>
          <a:ln/>
        </p:spPr>
      </p:sp>
      <p:sp>
        <p:nvSpPr>
          <p:cNvPr id="19" name="Shape 14"/>
          <p:cNvSpPr/>
          <p:nvPr/>
        </p:nvSpPr>
        <p:spPr>
          <a:xfrm>
            <a:off x="7627468" y="1984248"/>
            <a:ext cx="493776" cy="493776"/>
          </a:xfrm>
          <a:prstGeom prst="ellipse">
            <a:avLst/>
          </a:prstGeom>
          <a:solidFill>
            <a:srgbClr val="E7DEF8"/>
          </a:solidFill>
          <a:ln/>
        </p:spPr>
      </p:sp>
      <p:pic>
        <p:nvPicPr>
          <p:cNvPr id="20" name="Image 3" descr="preencoded.png">    </p:cNvPr>
          <p:cNvPicPr>
            <a:picLocks noChangeAspect="1"/>
          </p:cNvPicPr>
          <p:nvPr/>
        </p:nvPicPr>
        <p:blipFill>
          <a:blip r:embed="rId4"/>
          <a:stretch>
            <a:fillRect/>
          </a:stretch>
        </p:blipFill>
        <p:spPr>
          <a:xfrm>
            <a:off x="7760787" y="2117568"/>
            <a:ext cx="227137" cy="227137"/>
          </a:xfrm>
          <a:prstGeom prst="rect">
            <a:avLst/>
          </a:prstGeom>
        </p:spPr>
      </p:pic>
      <p:sp>
        <p:nvSpPr>
          <p:cNvPr id="21" name="Text 15"/>
          <p:cNvSpPr txBox="1"/>
          <p:nvPr/>
        </p:nvSpPr>
        <p:spPr>
          <a:xfrm>
            <a:off x="7627468" y="2651760"/>
            <a:ext cx="1600200" cy="365760"/>
          </a:xfrm>
          <a:prstGeom prst="rect">
            <a:avLst/>
          </a:prstGeom>
          <a:noFill/>
          <a:ln/>
        </p:spPr>
        <p:txBody>
          <a:bodyPr wrap="square" lIns="0" tIns="0" rIns="0" bIns="0" rtlCol="0" anchor="ctr"/>
          <a:lstStyle/>
          <a:p>
            <a:pPr indent="0" marL="0">
              <a:buNone/>
            </a:pPr>
            <a:r>
              <a:rPr lang="en-US" sz="1550" b="1" dirty="0">
                <a:solidFill>
                  <a:srgbClr val="17111F"/>
                </a:solidFill>
                <a:latin typeface="Open Sans" pitchFamily="34" charset="0"/>
                <a:ea typeface="Open Sans" pitchFamily="34" charset="-122"/>
                <a:cs typeface="Open Sans" pitchFamily="34" charset="-120"/>
              </a:rPr>
              <a:t>Lautstärke</a:t>
            </a:r>
            <a:endParaRPr lang="en-US" sz="1550" dirty="0"/>
          </a:p>
        </p:txBody>
      </p:sp>
      <p:sp>
        <p:nvSpPr>
          <p:cNvPr id="22" name="Text 16"/>
          <p:cNvSpPr txBox="1"/>
          <p:nvPr/>
        </p:nvSpPr>
        <p:spPr>
          <a:xfrm>
            <a:off x="7627468" y="3063240"/>
            <a:ext cx="1581912" cy="1234440"/>
          </a:xfrm>
          <a:prstGeom prst="rect">
            <a:avLst/>
          </a:prstGeom>
          <a:noFill/>
          <a:ln/>
        </p:spPr>
        <p:txBody>
          <a:bodyPr wrap="square" lIns="0" tIns="0" rIns="0" bIns="0" rtlCol="0" anchor="t"/>
          <a:lstStyle/>
          <a:p>
            <a:pPr indent="0" marL="0">
              <a:buNone/>
            </a:pPr>
            <a:r>
              <a:rPr lang="en-US" sz="1200" dirty="0">
                <a:solidFill>
                  <a:srgbClr val="6B6577"/>
                </a:solidFill>
                <a:latin typeface="Open Sans" pitchFamily="34" charset="0"/>
                <a:ea typeface="Open Sans" pitchFamily="34" charset="-122"/>
                <a:cs typeface="Open Sans" pitchFamily="34" charset="-120"/>
              </a:rPr>
              <a:t>zu leise / zu laut, nur stimmhafte Frames</a:t>
            </a:r>
            <a:endParaRPr lang="en-US" sz="1200" dirty="0"/>
          </a:p>
        </p:txBody>
      </p:sp>
      <p:sp>
        <p:nvSpPr>
          <p:cNvPr id="23" name="Shape 17"/>
          <p:cNvSpPr/>
          <p:nvPr/>
        </p:nvSpPr>
        <p:spPr>
          <a:xfrm>
            <a:off x="9675724" y="1691640"/>
            <a:ext cx="2057400" cy="2743200"/>
          </a:xfrm>
          <a:prstGeom prst="roundRect">
            <a:avLst>
              <a:gd name="adj" fmla="val 5333"/>
            </a:avLst>
          </a:prstGeom>
          <a:solidFill>
            <a:srgbClr val="F4F0FC"/>
          </a:solidFill>
          <a:ln/>
        </p:spPr>
      </p:sp>
      <p:sp>
        <p:nvSpPr>
          <p:cNvPr id="24" name="Shape 18"/>
          <p:cNvSpPr/>
          <p:nvPr/>
        </p:nvSpPr>
        <p:spPr>
          <a:xfrm>
            <a:off x="9931756" y="1984248"/>
            <a:ext cx="493776" cy="493776"/>
          </a:xfrm>
          <a:prstGeom prst="ellipse">
            <a:avLst/>
          </a:prstGeom>
          <a:solidFill>
            <a:srgbClr val="E7DEF8"/>
          </a:solidFill>
          <a:ln/>
        </p:spPr>
      </p:sp>
      <p:pic>
        <p:nvPicPr>
          <p:cNvPr id="25" name="Image 4" descr="preencoded.png">    </p:cNvPr>
          <p:cNvPicPr>
            <a:picLocks noChangeAspect="1"/>
          </p:cNvPicPr>
          <p:nvPr/>
        </p:nvPicPr>
        <p:blipFill>
          <a:blip r:embed="rId5"/>
          <a:stretch>
            <a:fillRect/>
          </a:stretch>
        </p:blipFill>
        <p:spPr>
          <a:xfrm>
            <a:off x="10065075" y="2117568"/>
            <a:ext cx="227137" cy="227137"/>
          </a:xfrm>
          <a:prstGeom prst="rect">
            <a:avLst/>
          </a:prstGeom>
        </p:spPr>
      </p:pic>
      <p:sp>
        <p:nvSpPr>
          <p:cNvPr id="26" name="Text 19"/>
          <p:cNvSpPr txBox="1"/>
          <p:nvPr/>
        </p:nvSpPr>
        <p:spPr>
          <a:xfrm>
            <a:off x="9931756" y="2651760"/>
            <a:ext cx="1600200" cy="365760"/>
          </a:xfrm>
          <a:prstGeom prst="rect">
            <a:avLst/>
          </a:prstGeom>
          <a:noFill/>
          <a:ln/>
        </p:spPr>
        <p:txBody>
          <a:bodyPr wrap="square" lIns="0" tIns="0" rIns="0" bIns="0" rtlCol="0" anchor="ctr"/>
          <a:lstStyle/>
          <a:p>
            <a:pPr indent="0" marL="0">
              <a:buNone/>
            </a:pPr>
            <a:r>
              <a:rPr lang="en-US" sz="1550" b="1" dirty="0">
                <a:solidFill>
                  <a:srgbClr val="17111F"/>
                </a:solidFill>
                <a:latin typeface="Open Sans" pitchFamily="34" charset="0"/>
                <a:ea typeface="Open Sans" pitchFamily="34" charset="-122"/>
                <a:cs typeface="Open Sans" pitchFamily="34" charset="-120"/>
              </a:rPr>
              <a:t>Monotonie</a:t>
            </a:r>
            <a:endParaRPr lang="en-US" sz="1550" dirty="0"/>
          </a:p>
        </p:txBody>
      </p:sp>
      <p:sp>
        <p:nvSpPr>
          <p:cNvPr id="27" name="Text 20"/>
          <p:cNvSpPr txBox="1"/>
          <p:nvPr/>
        </p:nvSpPr>
        <p:spPr>
          <a:xfrm>
            <a:off x="9931756" y="3063240"/>
            <a:ext cx="1581912" cy="1234440"/>
          </a:xfrm>
          <a:prstGeom prst="rect">
            <a:avLst/>
          </a:prstGeom>
          <a:noFill/>
          <a:ln/>
        </p:spPr>
        <p:txBody>
          <a:bodyPr wrap="square" lIns="0" tIns="0" rIns="0" bIns="0" rtlCol="0" anchor="t"/>
          <a:lstStyle/>
          <a:p>
            <a:pPr indent="0" marL="0">
              <a:buNone/>
            </a:pPr>
            <a:r>
              <a:rPr lang="en-US" sz="1200" dirty="0">
                <a:solidFill>
                  <a:srgbClr val="6B6577"/>
                </a:solidFill>
                <a:latin typeface="Open Sans" pitchFamily="34" charset="0"/>
                <a:ea typeface="Open Sans" pitchFamily="34" charset="-122"/>
                <a:cs typeface="Open Sans" pitchFamily="34" charset="-120"/>
              </a:rPr>
              <a:t>Tonhöhenvariation — keine Emotionsaussage</a:t>
            </a:r>
            <a:endParaRPr lang="en-US" sz="1200" dirty="0"/>
          </a:p>
        </p:txBody>
      </p:sp>
      <p:sp>
        <p:nvSpPr>
          <p:cNvPr id="28" name="Text 21"/>
          <p:cNvSpPr txBox="1"/>
          <p:nvPr/>
        </p:nvSpPr>
        <p:spPr>
          <a:xfrm>
            <a:off x="566928" y="4892040"/>
            <a:ext cx="11064240" cy="411480"/>
          </a:xfrm>
          <a:prstGeom prst="rect">
            <a:avLst/>
          </a:prstGeom>
          <a:noFill/>
          <a:ln/>
        </p:spPr>
        <p:txBody>
          <a:bodyPr wrap="square" lIns="0" tIns="0" rIns="0" bIns="0" rtlCol="0" anchor="ctr"/>
          <a:lstStyle/>
          <a:p>
            <a:pPr algn="ctr" indent="0" marL="0">
              <a:buNone/>
            </a:pPr>
            <a:r>
              <a:rPr lang="en-US" sz="1300" dirty="0">
                <a:solidFill>
                  <a:srgbClr val="6B6577"/>
                </a:solidFill>
                <a:latin typeface="Open Sans" pitchFamily="34" charset="0"/>
                <a:ea typeface="Open Sans" pitchFamily="34" charset="-122"/>
                <a:cs typeface="Open Sans" pitchFamily="34" charset="-120"/>
              </a:rPr>
              <a:t>Live im AudioWorklet (RMS, YIN, adaptive Referenz ab 3 s stimmhafter Sprache) — exakte Wortwerte nach dem Stoppen.</a:t>
            </a:r>
            <a:endParaRPr lang="en-US" sz="1300" dirty="0"/>
          </a:p>
        </p:txBody>
      </p:sp>
      <p:sp>
        <p:nvSpPr>
          <p:cNvPr id="25" name="Slide Number Placeholder 0"/>
          <p:cNvSpPr>
            <a:spLocks noGrp="1"/>
          </p:cNvSpPr>
          <p:nvPr>
            <p:ph type="sldNum" sz="quarter" idx="4294967295"/>
          </p:nvPr>
        </p:nvSpPr>
        <p:spPr>
          <a:xfrm>
            <a:off x="11338560" y="6446520"/>
            <a:ext cx="384048"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577"/>
                </a:solidFill>
                <a:latin typeface="Open Sans"/>
                <a:ea typeface="Open Sans"/>
                <a:cs typeface="Open Sans"/>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0" y="0"/>
            <a:ext cx="9143771" cy="0"/>
          </a:xfrm>
          <a:prstGeom prst="rect">
            <a:avLst/>
          </a:prstGeom>
          <a:noFill/>
          <a:ln/>
        </p:spPr>
        <p:txBody>
          <a:bodyPr wrap="square" rtlCol="0"/>
          <a:lstStyle/>
          <a:p>
            <a:pPr indent="0" marL="0">
              <a:buNone/>
            </a:pPr>
            <a:r>
              <a:rPr lang="en-US" dirty="0"/>
              <a:t>Review: klicken, zurückspringen, verstehen</a:t>
            </a:r>
            <a:endParaRPr lang="en-US" dirty="0"/>
          </a:p>
        </p:txBody>
      </p:sp>
      <p:sp>
        <p:nvSpPr>
          <p:cNvPr id="3" name="Shape 1"/>
          <p:cNvSpPr/>
          <p:nvPr/>
        </p:nvSpPr>
        <p:spPr>
          <a:xfrm>
            <a:off x="914400" y="2514600"/>
            <a:ext cx="10360152" cy="0"/>
          </a:xfrm>
          <a:prstGeom prst="line">
            <a:avLst/>
          </a:prstGeom>
          <a:noFill/>
          <a:ln w="38100">
            <a:solidFill>
              <a:srgbClr val="E7DEF8"/>
            </a:solidFill>
            <a:prstDash val="solid"/>
          </a:ln>
        </p:spPr>
      </p:sp>
      <p:sp>
        <p:nvSpPr>
          <p:cNvPr id="4" name="Shape 2"/>
          <p:cNvSpPr/>
          <p:nvPr/>
        </p:nvSpPr>
        <p:spPr>
          <a:xfrm>
            <a:off x="1462857" y="2441448"/>
            <a:ext cx="146304" cy="146304"/>
          </a:xfrm>
          <a:prstGeom prst="ellipse">
            <a:avLst/>
          </a:prstGeom>
          <a:solidFill>
            <a:srgbClr val="3803BF"/>
          </a:solidFill>
          <a:ln w="19050">
            <a:solidFill>
              <a:srgbClr val="FFFFFF"/>
            </a:solidFill>
            <a:prstDash val="solid"/>
          </a:ln>
        </p:spPr>
      </p:sp>
      <p:sp>
        <p:nvSpPr>
          <p:cNvPr id="5" name="Shape 3"/>
          <p:cNvSpPr/>
          <p:nvPr/>
        </p:nvSpPr>
        <p:spPr>
          <a:xfrm>
            <a:off x="2678643" y="2414016"/>
            <a:ext cx="201168" cy="201168"/>
          </a:xfrm>
          <a:prstGeom prst="ellipse">
            <a:avLst/>
          </a:prstGeom>
          <a:solidFill>
            <a:srgbClr val="3803BF"/>
          </a:solidFill>
          <a:ln w="19050">
            <a:solidFill>
              <a:srgbClr val="FFFFFF"/>
            </a:solidFill>
            <a:prstDash val="solid"/>
          </a:ln>
        </p:spPr>
      </p:sp>
      <p:sp>
        <p:nvSpPr>
          <p:cNvPr id="6" name="Shape 4"/>
          <p:cNvSpPr/>
          <p:nvPr/>
        </p:nvSpPr>
        <p:spPr>
          <a:xfrm>
            <a:off x="4363700" y="2441448"/>
            <a:ext cx="146304" cy="146304"/>
          </a:xfrm>
          <a:prstGeom prst="ellipse">
            <a:avLst/>
          </a:prstGeom>
          <a:solidFill>
            <a:srgbClr val="3803BF"/>
          </a:solidFill>
          <a:ln w="19050">
            <a:solidFill>
              <a:srgbClr val="FFFFFF"/>
            </a:solidFill>
            <a:prstDash val="solid"/>
          </a:ln>
        </p:spPr>
      </p:sp>
      <p:sp>
        <p:nvSpPr>
          <p:cNvPr id="7" name="Shape 5"/>
          <p:cNvSpPr/>
          <p:nvPr/>
        </p:nvSpPr>
        <p:spPr>
          <a:xfrm>
            <a:off x="5655655" y="2386584"/>
            <a:ext cx="256032" cy="256032"/>
          </a:xfrm>
          <a:prstGeom prst="ellipse">
            <a:avLst/>
          </a:prstGeom>
          <a:solidFill>
            <a:srgbClr val="3803BF"/>
          </a:solidFill>
          <a:ln w="19050">
            <a:solidFill>
              <a:srgbClr val="FFFFFF"/>
            </a:solidFill>
            <a:prstDash val="solid"/>
          </a:ln>
        </p:spPr>
      </p:sp>
      <p:sp>
        <p:nvSpPr>
          <p:cNvPr id="8" name="Shape 6"/>
          <p:cNvSpPr/>
          <p:nvPr/>
        </p:nvSpPr>
        <p:spPr>
          <a:xfrm>
            <a:off x="7264542" y="2441448"/>
            <a:ext cx="146304" cy="146304"/>
          </a:xfrm>
          <a:prstGeom prst="ellipse">
            <a:avLst/>
          </a:prstGeom>
          <a:solidFill>
            <a:srgbClr val="3803BF"/>
          </a:solidFill>
          <a:ln w="19050">
            <a:solidFill>
              <a:srgbClr val="FFFFFF"/>
            </a:solidFill>
            <a:prstDash val="solid"/>
          </a:ln>
        </p:spPr>
      </p:sp>
      <p:sp>
        <p:nvSpPr>
          <p:cNvPr id="9" name="Shape 7"/>
          <p:cNvSpPr/>
          <p:nvPr/>
        </p:nvSpPr>
        <p:spPr>
          <a:xfrm>
            <a:off x="8894735" y="2414016"/>
            <a:ext cx="201168" cy="201168"/>
          </a:xfrm>
          <a:prstGeom prst="ellipse">
            <a:avLst/>
          </a:prstGeom>
          <a:solidFill>
            <a:srgbClr val="3803BF"/>
          </a:solidFill>
          <a:ln w="19050">
            <a:solidFill>
              <a:srgbClr val="FFFFFF"/>
            </a:solidFill>
            <a:prstDash val="solid"/>
          </a:ln>
        </p:spPr>
      </p:sp>
      <p:sp>
        <p:nvSpPr>
          <p:cNvPr id="10" name="Shape 8"/>
          <p:cNvSpPr/>
          <p:nvPr/>
        </p:nvSpPr>
        <p:spPr>
          <a:xfrm>
            <a:off x="10476189" y="2441448"/>
            <a:ext cx="146304" cy="146304"/>
          </a:xfrm>
          <a:prstGeom prst="ellipse">
            <a:avLst/>
          </a:prstGeom>
          <a:solidFill>
            <a:srgbClr val="3803BF"/>
          </a:solidFill>
          <a:ln w="19050">
            <a:solidFill>
              <a:srgbClr val="FFFFFF"/>
            </a:solidFill>
            <a:prstDash val="solid"/>
          </a:ln>
        </p:spPr>
      </p:sp>
      <p:sp>
        <p:nvSpPr>
          <p:cNvPr id="11" name="Text 9"/>
          <p:cNvSpPr txBox="1"/>
          <p:nvPr/>
        </p:nvSpPr>
        <p:spPr>
          <a:xfrm>
            <a:off x="822960" y="2715768"/>
            <a:ext cx="731520" cy="274320"/>
          </a:xfrm>
          <a:prstGeom prst="rect">
            <a:avLst/>
          </a:prstGeom>
          <a:noFill/>
          <a:ln/>
        </p:spPr>
        <p:txBody>
          <a:bodyPr wrap="square" lIns="0" tIns="0" rIns="0" bIns="0" rtlCol="0" anchor="ctr"/>
          <a:lstStyle/>
          <a:p>
            <a:pPr indent="0" marL="0">
              <a:buNone/>
            </a:pPr>
            <a:r>
              <a:rPr lang="en-US" sz="1050" dirty="0">
                <a:solidFill>
                  <a:srgbClr val="6B6577"/>
                </a:solidFill>
                <a:latin typeface="Open Sans" pitchFamily="34" charset="0"/>
                <a:ea typeface="Open Sans" pitchFamily="34" charset="-122"/>
                <a:cs typeface="Open Sans" pitchFamily="34" charset="-120"/>
              </a:rPr>
              <a:t>0:00</a:t>
            </a:r>
            <a:endParaRPr lang="en-US" sz="1050" dirty="0"/>
          </a:p>
        </p:txBody>
      </p:sp>
      <p:sp>
        <p:nvSpPr>
          <p:cNvPr id="12" name="Text 10"/>
          <p:cNvSpPr txBox="1"/>
          <p:nvPr/>
        </p:nvSpPr>
        <p:spPr>
          <a:xfrm>
            <a:off x="10588752" y="2715768"/>
            <a:ext cx="777240" cy="274320"/>
          </a:xfrm>
          <a:prstGeom prst="rect">
            <a:avLst/>
          </a:prstGeom>
          <a:noFill/>
          <a:ln/>
        </p:spPr>
        <p:txBody>
          <a:bodyPr wrap="square" lIns="0" tIns="0" rIns="0" bIns="0" rtlCol="0" anchor="ctr"/>
          <a:lstStyle/>
          <a:p>
            <a:pPr algn="r" indent="0" marL="0">
              <a:buNone/>
            </a:pPr>
            <a:r>
              <a:rPr lang="en-US" sz="1050" dirty="0">
                <a:solidFill>
                  <a:srgbClr val="6B6577"/>
                </a:solidFill>
                <a:latin typeface="Open Sans" pitchFamily="34" charset="0"/>
                <a:ea typeface="Open Sans" pitchFamily="34" charset="-122"/>
                <a:cs typeface="Open Sans" pitchFamily="34" charset="-120"/>
              </a:rPr>
              <a:t>Ende</a:t>
            </a:r>
            <a:endParaRPr lang="en-US" sz="1050" dirty="0"/>
          </a:p>
        </p:txBody>
      </p:sp>
      <p:sp>
        <p:nvSpPr>
          <p:cNvPr id="13" name="Text 11"/>
          <p:cNvSpPr txBox="1"/>
          <p:nvPr/>
        </p:nvSpPr>
        <p:spPr>
          <a:xfrm>
            <a:off x="4092031" y="1947672"/>
            <a:ext cx="3383280" cy="274320"/>
          </a:xfrm>
          <a:prstGeom prst="rect">
            <a:avLst/>
          </a:prstGeom>
          <a:noFill/>
          <a:ln/>
        </p:spPr>
        <p:txBody>
          <a:bodyPr wrap="square" lIns="0" tIns="0" rIns="0" bIns="0" rtlCol="0" anchor="ctr"/>
          <a:lstStyle/>
          <a:p>
            <a:pPr algn="ctr" indent="0" marL="0">
              <a:buNone/>
            </a:pPr>
            <a:r>
              <a:rPr lang="en-US" sz="1100" i="1" dirty="0">
                <a:solidFill>
                  <a:srgbClr val="6B6577"/>
                </a:solidFill>
                <a:latin typeface="Open Sans" pitchFamily="34" charset="0"/>
                <a:ea typeface="Open Sans" pitchFamily="34" charset="-122"/>
                <a:cs typeface="Open Sans" pitchFamily="34" charset="-120"/>
              </a:rPr>
              <a:t>Beispiel: Marker „Haltung auffällig“ — 4:12</a:t>
            </a:r>
            <a:endParaRPr lang="en-US" sz="1100" dirty="0"/>
          </a:p>
        </p:txBody>
      </p:sp>
      <p:sp>
        <p:nvSpPr>
          <p:cNvPr id="14" name="Shape 12"/>
          <p:cNvSpPr/>
          <p:nvPr/>
        </p:nvSpPr>
        <p:spPr>
          <a:xfrm>
            <a:off x="566928" y="3520440"/>
            <a:ext cx="457200" cy="457200"/>
          </a:xfrm>
          <a:prstGeom prst="ellipse">
            <a:avLst/>
          </a:prstGeom>
          <a:solidFill>
            <a:srgbClr val="E7DEF8"/>
          </a:solidFill>
          <a:ln/>
        </p:spPr>
      </p:sp>
      <p:pic>
        <p:nvPicPr>
          <p:cNvPr id="15" name="Image 0" descr="preencoded.png">    </p:cNvPr>
          <p:cNvPicPr>
            <a:picLocks noChangeAspect="1"/>
          </p:cNvPicPr>
          <p:nvPr/>
        </p:nvPicPr>
        <p:blipFill>
          <a:blip r:embed="rId1"/>
          <a:stretch>
            <a:fillRect/>
          </a:stretch>
        </p:blipFill>
        <p:spPr>
          <a:xfrm>
            <a:off x="690372" y="3643884"/>
            <a:ext cx="210312" cy="210312"/>
          </a:xfrm>
          <a:prstGeom prst="rect">
            <a:avLst/>
          </a:prstGeom>
        </p:spPr>
      </p:pic>
      <p:sp>
        <p:nvSpPr>
          <p:cNvPr id="16" name="Text 13"/>
          <p:cNvSpPr txBox="1"/>
          <p:nvPr/>
        </p:nvSpPr>
        <p:spPr>
          <a:xfrm>
            <a:off x="1207008" y="3566160"/>
            <a:ext cx="10241280" cy="365760"/>
          </a:xfrm>
          <a:prstGeom prst="rect">
            <a:avLst/>
          </a:prstGeom>
          <a:noFill/>
          <a:ln/>
        </p:spPr>
        <p:txBody>
          <a:bodyPr wrap="square" lIns="0" tIns="0" rIns="0" bIns="0" rtlCol="0" anchor="ctr"/>
          <a:lstStyle/>
          <a:p>
            <a:pPr indent="0" marL="0">
              <a:buNone/>
            </a:pPr>
            <a:r>
              <a:rPr lang="en-US" sz="1450" dirty="0">
                <a:solidFill>
                  <a:srgbClr val="17111F"/>
                </a:solidFill>
                <a:latin typeface="Open Sans" pitchFamily="34" charset="0"/>
                <a:ea typeface="Open Sans" pitchFamily="34" charset="-122"/>
                <a:cs typeface="Open Sans" pitchFamily="34" charset="-120"/>
              </a:rPr>
              <a:t>Klick auf einen Marker springt per peak_ms zur Stelle im lokalen Video (±2 s).</a:t>
            </a:r>
            <a:endParaRPr lang="en-US" sz="1450" dirty="0"/>
          </a:p>
        </p:txBody>
      </p:sp>
      <p:sp>
        <p:nvSpPr>
          <p:cNvPr id="17" name="Shape 14"/>
          <p:cNvSpPr/>
          <p:nvPr/>
        </p:nvSpPr>
        <p:spPr>
          <a:xfrm>
            <a:off x="566928" y="4297680"/>
            <a:ext cx="457200" cy="457200"/>
          </a:xfrm>
          <a:prstGeom prst="ellipse">
            <a:avLst/>
          </a:prstGeom>
          <a:solidFill>
            <a:srgbClr val="E7DEF8"/>
          </a:solidFill>
          <a:ln/>
        </p:spPr>
      </p:sp>
      <p:pic>
        <p:nvPicPr>
          <p:cNvPr id="18" name="Image 1" descr="preencoded.png">    </p:cNvPr>
          <p:cNvPicPr>
            <a:picLocks noChangeAspect="1"/>
          </p:cNvPicPr>
          <p:nvPr/>
        </p:nvPicPr>
        <p:blipFill>
          <a:blip r:embed="rId2"/>
          <a:stretch>
            <a:fillRect/>
          </a:stretch>
        </p:blipFill>
        <p:spPr>
          <a:xfrm>
            <a:off x="690372" y="4421124"/>
            <a:ext cx="210312" cy="210312"/>
          </a:xfrm>
          <a:prstGeom prst="rect">
            <a:avLst/>
          </a:prstGeom>
        </p:spPr>
      </p:pic>
      <p:sp>
        <p:nvSpPr>
          <p:cNvPr id="19" name="Text 15"/>
          <p:cNvSpPr txBox="1"/>
          <p:nvPr/>
        </p:nvSpPr>
        <p:spPr>
          <a:xfrm>
            <a:off x="1207008" y="4343400"/>
            <a:ext cx="10241280" cy="365760"/>
          </a:xfrm>
          <a:prstGeom prst="rect">
            <a:avLst/>
          </a:prstGeom>
          <a:noFill/>
          <a:ln/>
        </p:spPr>
        <p:txBody>
          <a:bodyPr wrap="square" lIns="0" tIns="0" rIns="0" bIns="0" rtlCol="0" anchor="ctr"/>
          <a:lstStyle/>
          <a:p>
            <a:pPr indent="0" marL="0">
              <a:buNone/>
            </a:pPr>
            <a:r>
              <a:rPr lang="en-US" sz="1450" dirty="0">
                <a:solidFill>
                  <a:srgbClr val="17111F"/>
                </a:solidFill>
                <a:latin typeface="Open Sans" pitchFamily="34" charset="0"/>
                <a:ea typeface="Open Sans" pitchFamily="34" charset="-122"/>
                <a:cs typeface="Open Sans" pitchFamily="34" charset="-120"/>
              </a:rPr>
              <a:t>Eine gemeinsame Zeitachse: Haltung, Stimme, Transkript, Fact-Check, Fragen.</a:t>
            </a:r>
            <a:endParaRPr lang="en-US" sz="1450" dirty="0"/>
          </a:p>
        </p:txBody>
      </p:sp>
      <p:sp>
        <p:nvSpPr>
          <p:cNvPr id="20" name="Shape 16"/>
          <p:cNvSpPr/>
          <p:nvPr/>
        </p:nvSpPr>
        <p:spPr>
          <a:xfrm>
            <a:off x="566928" y="5074920"/>
            <a:ext cx="457200" cy="457200"/>
          </a:xfrm>
          <a:prstGeom prst="ellipse">
            <a:avLst/>
          </a:prstGeom>
          <a:solidFill>
            <a:srgbClr val="E7DEF8"/>
          </a:solidFill>
          <a:ln/>
        </p:spPr>
      </p:sp>
      <p:pic>
        <p:nvPicPr>
          <p:cNvPr id="21" name="Image 2" descr="preencoded.png">    </p:cNvPr>
          <p:cNvPicPr>
            <a:picLocks noChangeAspect="1"/>
          </p:cNvPicPr>
          <p:nvPr/>
        </p:nvPicPr>
        <p:blipFill>
          <a:blip r:embed="rId3"/>
          <a:stretch>
            <a:fillRect/>
          </a:stretch>
        </p:blipFill>
        <p:spPr>
          <a:xfrm>
            <a:off x="690372" y="5198364"/>
            <a:ext cx="210312" cy="210312"/>
          </a:xfrm>
          <a:prstGeom prst="rect">
            <a:avLst/>
          </a:prstGeom>
        </p:spPr>
      </p:pic>
      <p:sp>
        <p:nvSpPr>
          <p:cNvPr id="22" name="Text 17"/>
          <p:cNvSpPr txBox="1"/>
          <p:nvPr/>
        </p:nvSpPr>
        <p:spPr>
          <a:xfrm>
            <a:off x="1207008" y="5120640"/>
            <a:ext cx="10241280" cy="365760"/>
          </a:xfrm>
          <a:prstGeom prst="rect">
            <a:avLst/>
          </a:prstGeom>
          <a:noFill/>
          <a:ln/>
        </p:spPr>
        <p:txBody>
          <a:bodyPr wrap="square" lIns="0" tIns="0" rIns="0" bIns="0" rtlCol="0" anchor="ctr"/>
          <a:lstStyle/>
          <a:p>
            <a:pPr indent="0" marL="0">
              <a:buNone/>
            </a:pPr>
            <a:r>
              <a:rPr lang="en-US" sz="1450" dirty="0">
                <a:solidFill>
                  <a:srgbClr val="17111F"/>
                </a:solidFill>
                <a:latin typeface="Open Sans" pitchFamily="34" charset="0"/>
                <a:ea typeface="Open Sans" pitchFamily="34" charset="-122"/>
                <a:cs typeface="Open Sans" pitchFamily="34" charset="-120"/>
              </a:rPr>
              <a:t>Kein serverseitiger Clip — das Video bleibt beim Nutzer.</a:t>
            </a:r>
            <a:endParaRPr lang="en-US" sz="1450" dirty="0"/>
          </a:p>
        </p:txBody>
      </p:sp>
      <p:sp>
        <p:nvSpPr>
          <p:cNvPr id="25" name="Slide Number Placeholder 0"/>
          <p:cNvSpPr>
            <a:spLocks noGrp="1"/>
          </p:cNvSpPr>
          <p:nvPr>
            <p:ph type="sldNum" sz="quarter" idx="4294967295"/>
          </p:nvPr>
        </p:nvSpPr>
        <p:spPr>
          <a:xfrm>
            <a:off x="11338560" y="6446520"/>
            <a:ext cx="384048"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577"/>
                </a:solidFill>
                <a:latin typeface="Open Sans"/>
                <a:ea typeface="Open Sans"/>
                <a:cs typeface="Open Sans"/>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0" y="0"/>
            <a:ext cx="9143771" cy="0"/>
          </a:xfrm>
          <a:prstGeom prst="rect">
            <a:avLst/>
          </a:prstGeom>
          <a:noFill/>
          <a:ln/>
        </p:spPr>
        <p:txBody>
          <a:bodyPr wrap="square" rtlCol="0"/>
          <a:lstStyle/>
          <a:p>
            <a:pPr indent="0" marL="0">
              <a:buNone/>
            </a:pPr>
            <a:r>
              <a:rPr lang="en-US" dirty="0"/>
              <a:t>Danach fragt der Agent</a:t>
            </a:r>
            <a:endParaRPr lang="en-US" dirty="0"/>
          </a:p>
        </p:txBody>
      </p:sp>
      <p:sp>
        <p:nvSpPr>
          <p:cNvPr id="3" name="Shape 1"/>
          <p:cNvSpPr/>
          <p:nvPr/>
        </p:nvSpPr>
        <p:spPr>
          <a:xfrm>
            <a:off x="566928" y="1691640"/>
            <a:ext cx="3611880" cy="2651760"/>
          </a:xfrm>
          <a:prstGeom prst="roundRect">
            <a:avLst>
              <a:gd name="adj" fmla="val 4138"/>
            </a:avLst>
          </a:prstGeom>
          <a:solidFill>
            <a:srgbClr val="F4F0FC"/>
          </a:solidFill>
          <a:ln/>
        </p:spPr>
      </p:sp>
      <p:sp>
        <p:nvSpPr>
          <p:cNvPr id="4" name="Shape 2"/>
          <p:cNvSpPr/>
          <p:nvPr/>
        </p:nvSpPr>
        <p:spPr>
          <a:xfrm>
            <a:off x="859536" y="2002536"/>
            <a:ext cx="512064" cy="512064"/>
          </a:xfrm>
          <a:prstGeom prst="ellipse">
            <a:avLst/>
          </a:prstGeom>
          <a:solidFill>
            <a:srgbClr val="E7DEF8"/>
          </a:solidFill>
          <a:ln/>
        </p:spPr>
      </p:sp>
      <p:pic>
        <p:nvPicPr>
          <p:cNvPr id="5" name="Image 0" descr="preencoded.png">    </p:cNvPr>
          <p:cNvPicPr>
            <a:picLocks noChangeAspect="1"/>
          </p:cNvPicPr>
          <p:nvPr/>
        </p:nvPicPr>
        <p:blipFill>
          <a:blip r:embed="rId1"/>
          <a:stretch>
            <a:fillRect/>
          </a:stretch>
        </p:blipFill>
        <p:spPr>
          <a:xfrm>
            <a:off x="997793" y="2140793"/>
            <a:ext cx="235549" cy="235549"/>
          </a:xfrm>
          <a:prstGeom prst="rect">
            <a:avLst/>
          </a:prstGeom>
        </p:spPr>
      </p:pic>
      <p:sp>
        <p:nvSpPr>
          <p:cNvPr id="6" name="Text 3"/>
          <p:cNvSpPr txBox="1"/>
          <p:nvPr/>
        </p:nvSpPr>
        <p:spPr>
          <a:xfrm>
            <a:off x="859536" y="2679192"/>
            <a:ext cx="3026664" cy="411480"/>
          </a:xfrm>
          <a:prstGeom prst="rect">
            <a:avLst/>
          </a:prstGeom>
          <a:noFill/>
          <a:ln/>
        </p:spPr>
        <p:txBody>
          <a:bodyPr wrap="square" lIns="0" tIns="0" rIns="0" bIns="0" rtlCol="0" anchor="ctr"/>
          <a:lstStyle/>
          <a:p>
            <a:pPr indent="0" marL="0">
              <a:buNone/>
            </a:pPr>
            <a:r>
              <a:rPr lang="en-US" sz="1550" b="1" dirty="0">
                <a:solidFill>
                  <a:srgbClr val="17111F"/>
                </a:solidFill>
                <a:latin typeface="Open Sans" pitchFamily="34" charset="0"/>
                <a:ea typeface="Open Sans" pitchFamily="34" charset="-122"/>
                <a:cs typeface="Open Sans" pitchFamily="34" charset="-120"/>
              </a:rPr>
              <a:t>Fragen aus echten Funden</a:t>
            </a:r>
            <a:endParaRPr lang="en-US" sz="1550" dirty="0"/>
          </a:p>
        </p:txBody>
      </p:sp>
      <p:sp>
        <p:nvSpPr>
          <p:cNvPr id="7" name="Text 4"/>
          <p:cNvSpPr txBox="1"/>
          <p:nvPr/>
        </p:nvSpPr>
        <p:spPr>
          <a:xfrm>
            <a:off x="859536" y="3136392"/>
            <a:ext cx="3026664" cy="1051560"/>
          </a:xfrm>
          <a:prstGeom prst="rect">
            <a:avLst/>
          </a:prstGeom>
          <a:noFill/>
          <a:ln/>
        </p:spPr>
        <p:txBody>
          <a:bodyPr wrap="square" lIns="0" tIns="0" rIns="0" bIns="0" rtlCol="0" anchor="t"/>
          <a:lstStyle/>
          <a:p>
            <a:pPr indent="0" marL="0">
              <a:buNone/>
            </a:pPr>
            <a:r>
              <a:rPr lang="en-US" sz="1250" dirty="0">
                <a:solidFill>
                  <a:srgbClr val="6B6577"/>
                </a:solidFill>
                <a:latin typeface="Open Sans" pitchFamily="34" charset="0"/>
                <a:ea typeface="Open Sans" pitchFamily="34" charset="-122"/>
                <a:cs typeface="Open Sans" pitchFamily="34" charset="-120"/>
              </a:rPr>
              <a:t>Widersprüche und Lücken aus dem Fact-Check — nicht aus der Luft gegriffen.</a:t>
            </a:r>
            <a:endParaRPr lang="en-US" sz="1250" dirty="0"/>
          </a:p>
        </p:txBody>
      </p:sp>
      <p:sp>
        <p:nvSpPr>
          <p:cNvPr id="8" name="Shape 5"/>
          <p:cNvSpPr/>
          <p:nvPr/>
        </p:nvSpPr>
        <p:spPr>
          <a:xfrm>
            <a:off x="4498848" y="1691640"/>
            <a:ext cx="3611880" cy="2651760"/>
          </a:xfrm>
          <a:prstGeom prst="roundRect">
            <a:avLst>
              <a:gd name="adj" fmla="val 4138"/>
            </a:avLst>
          </a:prstGeom>
          <a:solidFill>
            <a:srgbClr val="F4F0FC"/>
          </a:solidFill>
          <a:ln/>
        </p:spPr>
      </p:sp>
      <p:sp>
        <p:nvSpPr>
          <p:cNvPr id="9" name="Shape 6"/>
          <p:cNvSpPr/>
          <p:nvPr/>
        </p:nvSpPr>
        <p:spPr>
          <a:xfrm>
            <a:off x="4791456" y="2002536"/>
            <a:ext cx="512064" cy="512064"/>
          </a:xfrm>
          <a:prstGeom prst="ellipse">
            <a:avLst/>
          </a:prstGeom>
          <a:solidFill>
            <a:srgbClr val="E7DEF8"/>
          </a:solidFill>
          <a:ln/>
        </p:spPr>
      </p:sp>
      <p:pic>
        <p:nvPicPr>
          <p:cNvPr id="10" name="Image 1" descr="preencoded.png">    </p:cNvPr>
          <p:cNvPicPr>
            <a:picLocks noChangeAspect="1"/>
          </p:cNvPicPr>
          <p:nvPr/>
        </p:nvPicPr>
        <p:blipFill>
          <a:blip r:embed="rId2"/>
          <a:stretch>
            <a:fillRect/>
          </a:stretch>
        </p:blipFill>
        <p:spPr>
          <a:xfrm>
            <a:off x="4929713" y="2140793"/>
            <a:ext cx="235549" cy="235549"/>
          </a:xfrm>
          <a:prstGeom prst="rect">
            <a:avLst/>
          </a:prstGeom>
        </p:spPr>
      </p:pic>
      <p:sp>
        <p:nvSpPr>
          <p:cNvPr id="11" name="Text 7"/>
          <p:cNvSpPr txBox="1"/>
          <p:nvPr/>
        </p:nvSpPr>
        <p:spPr>
          <a:xfrm>
            <a:off x="4791456" y="2679192"/>
            <a:ext cx="3026664" cy="411480"/>
          </a:xfrm>
          <a:prstGeom prst="rect">
            <a:avLst/>
          </a:prstGeom>
          <a:noFill/>
          <a:ln/>
        </p:spPr>
        <p:txBody>
          <a:bodyPr wrap="square" lIns="0" tIns="0" rIns="0" bIns="0" rtlCol="0" anchor="ctr"/>
          <a:lstStyle/>
          <a:p>
            <a:pPr indent="0" marL="0">
              <a:buNone/>
            </a:pPr>
            <a:r>
              <a:rPr lang="en-US" sz="1550" b="1" dirty="0">
                <a:solidFill>
                  <a:srgbClr val="17111F"/>
                </a:solidFill>
                <a:latin typeface="Open Sans" pitchFamily="34" charset="0"/>
                <a:ea typeface="Open Sans" pitchFamily="34" charset="-122"/>
                <a:cs typeface="Open Sans" pitchFamily="34" charset="-120"/>
              </a:rPr>
              <a:t>Tippen oder sprechen</a:t>
            </a:r>
            <a:endParaRPr lang="en-US" sz="1550" dirty="0"/>
          </a:p>
        </p:txBody>
      </p:sp>
      <p:sp>
        <p:nvSpPr>
          <p:cNvPr id="12" name="Text 8"/>
          <p:cNvSpPr txBox="1"/>
          <p:nvPr/>
        </p:nvSpPr>
        <p:spPr>
          <a:xfrm>
            <a:off x="4791456" y="3136392"/>
            <a:ext cx="3026664" cy="1051560"/>
          </a:xfrm>
          <a:prstGeom prst="rect">
            <a:avLst/>
          </a:prstGeom>
          <a:noFill/>
          <a:ln/>
        </p:spPr>
        <p:txBody>
          <a:bodyPr wrap="square" lIns="0" tIns="0" rIns="0" bIns="0" rtlCol="0" anchor="t"/>
          <a:lstStyle/>
          <a:p>
            <a:pPr indent="0" marL="0">
              <a:buNone/>
            </a:pPr>
            <a:r>
              <a:rPr lang="en-US" sz="1250" dirty="0">
                <a:solidFill>
                  <a:srgbClr val="6B6577"/>
                </a:solidFill>
                <a:latin typeface="Open Sans" pitchFamily="34" charset="0"/>
                <a:ea typeface="Open Sans" pitchFamily="34" charset="-122"/>
                <a:cs typeface="Open Sans" pitchFamily="34" charset="-120"/>
              </a:rPr>
              <a:t>Voice-Agent liest vor und nimmt auf — optional mit ElevenLabs-Stimme.</a:t>
            </a:r>
            <a:endParaRPr lang="en-US" sz="1250" dirty="0"/>
          </a:p>
        </p:txBody>
      </p:sp>
      <p:sp>
        <p:nvSpPr>
          <p:cNvPr id="13" name="Shape 9"/>
          <p:cNvSpPr/>
          <p:nvPr/>
        </p:nvSpPr>
        <p:spPr>
          <a:xfrm>
            <a:off x="8430768" y="1691640"/>
            <a:ext cx="3611880" cy="2651760"/>
          </a:xfrm>
          <a:prstGeom prst="roundRect">
            <a:avLst>
              <a:gd name="adj" fmla="val 4138"/>
            </a:avLst>
          </a:prstGeom>
          <a:solidFill>
            <a:srgbClr val="F4F0FC"/>
          </a:solidFill>
          <a:ln/>
        </p:spPr>
      </p:sp>
      <p:sp>
        <p:nvSpPr>
          <p:cNvPr id="14" name="Shape 10"/>
          <p:cNvSpPr/>
          <p:nvPr/>
        </p:nvSpPr>
        <p:spPr>
          <a:xfrm>
            <a:off x="8723376" y="2002536"/>
            <a:ext cx="512064" cy="512064"/>
          </a:xfrm>
          <a:prstGeom prst="ellipse">
            <a:avLst/>
          </a:prstGeom>
          <a:solidFill>
            <a:srgbClr val="E7DEF8"/>
          </a:solidFill>
          <a:ln/>
        </p:spPr>
      </p:sp>
      <p:pic>
        <p:nvPicPr>
          <p:cNvPr id="15" name="Image 2" descr="preencoded.png">    </p:cNvPr>
          <p:cNvPicPr>
            <a:picLocks noChangeAspect="1"/>
          </p:cNvPicPr>
          <p:nvPr/>
        </p:nvPicPr>
        <p:blipFill>
          <a:blip r:embed="rId3"/>
          <a:stretch>
            <a:fillRect/>
          </a:stretch>
        </p:blipFill>
        <p:spPr>
          <a:xfrm>
            <a:off x="8861633" y="2140793"/>
            <a:ext cx="235549" cy="235549"/>
          </a:xfrm>
          <a:prstGeom prst="rect">
            <a:avLst/>
          </a:prstGeom>
        </p:spPr>
      </p:pic>
      <p:sp>
        <p:nvSpPr>
          <p:cNvPr id="16" name="Text 11"/>
          <p:cNvSpPr txBox="1"/>
          <p:nvPr/>
        </p:nvSpPr>
        <p:spPr>
          <a:xfrm>
            <a:off x="8723376" y="2679192"/>
            <a:ext cx="3026664" cy="411480"/>
          </a:xfrm>
          <a:prstGeom prst="rect">
            <a:avLst/>
          </a:prstGeom>
          <a:noFill/>
          <a:ln/>
        </p:spPr>
        <p:txBody>
          <a:bodyPr wrap="square" lIns="0" tIns="0" rIns="0" bIns="0" rtlCol="0" anchor="ctr"/>
          <a:lstStyle/>
          <a:p>
            <a:pPr indent="0" marL="0">
              <a:buNone/>
            </a:pPr>
            <a:r>
              <a:rPr lang="en-US" sz="1550" b="1" dirty="0">
                <a:solidFill>
                  <a:srgbClr val="17111F"/>
                </a:solidFill>
                <a:latin typeface="Open Sans" pitchFamily="34" charset="0"/>
                <a:ea typeface="Open Sans" pitchFamily="34" charset="-122"/>
                <a:cs typeface="Open Sans" pitchFamily="34" charset="-120"/>
              </a:rPr>
              <a:t>Abgleich mit den Quellen</a:t>
            </a:r>
            <a:endParaRPr lang="en-US" sz="1550" dirty="0"/>
          </a:p>
        </p:txBody>
      </p:sp>
      <p:sp>
        <p:nvSpPr>
          <p:cNvPr id="17" name="Text 12"/>
          <p:cNvSpPr txBox="1"/>
          <p:nvPr/>
        </p:nvSpPr>
        <p:spPr>
          <a:xfrm>
            <a:off x="8723376" y="3136392"/>
            <a:ext cx="3026664" cy="1051560"/>
          </a:xfrm>
          <a:prstGeom prst="rect">
            <a:avLst/>
          </a:prstGeom>
          <a:noFill/>
          <a:ln/>
        </p:spPr>
        <p:txBody>
          <a:bodyPr wrap="square" lIns="0" tIns="0" rIns="0" bIns="0" rtlCol="0" anchor="t"/>
          <a:lstStyle/>
          <a:p>
            <a:pPr indent="0" marL="0">
              <a:buNone/>
            </a:pPr>
            <a:r>
              <a:rPr lang="en-US" sz="1250" dirty="0">
                <a:solidFill>
                  <a:srgbClr val="6B6577"/>
                </a:solidFill>
                <a:latin typeface="Open Sans" pitchFamily="34" charset="0"/>
                <a:ea typeface="Open Sans" pitchFamily="34" charset="-122"/>
                <a:cs typeface="Open Sans" pitchFamily="34" charset="-120"/>
              </a:rPr>
              <a:t>Jede Antwort wird mit Zitat-Prüfung gegen die Unterlagen verglichen.</a:t>
            </a:r>
            <a:endParaRPr lang="en-US" sz="1250" dirty="0"/>
          </a:p>
        </p:txBody>
      </p:sp>
      <p:sp>
        <p:nvSpPr>
          <p:cNvPr id="18" name="Text 13"/>
          <p:cNvSpPr/>
          <p:nvPr/>
        </p:nvSpPr>
        <p:spPr>
          <a:xfrm>
            <a:off x="566928" y="4846320"/>
            <a:ext cx="3063240" cy="512064"/>
          </a:xfrm>
          <a:prstGeom prst="roundRect">
            <a:avLst>
              <a:gd name="adj" fmla="val 50000"/>
            </a:avLst>
          </a:prstGeom>
          <a:solidFill>
            <a:srgbClr val="FFFFFF"/>
          </a:solidFill>
          <a:ln w="15875">
            <a:solidFill>
              <a:srgbClr val="3803BF"/>
            </a:solidFill>
          </a:ln>
        </p:spPr>
        <p:txBody>
          <a:bodyPr wrap="square" lIns="0" tIns="0" rIns="0" bIns="0" rtlCol="0" anchor="ctr"/>
          <a:lstStyle/>
          <a:p>
            <a:pPr algn="ctr" indent="0" marL="0">
              <a:buNone/>
            </a:pPr>
            <a:r>
              <a:rPr lang="en-US" sz="1350" b="1" dirty="0">
                <a:solidFill>
                  <a:srgbClr val="3803BF"/>
                </a:solidFill>
                <a:latin typeface="Open Sans" pitchFamily="34" charset="0"/>
                <a:ea typeface="Open Sans" pitchFamily="34" charset="-122"/>
                <a:cs typeface="Open Sans" pitchFamily="34" charset="-120"/>
              </a:rPr>
              <a:t>„Erstsemester“ — neugierig</a:t>
            </a:r>
            <a:endParaRPr lang="en-US" sz="1350" dirty="0"/>
          </a:p>
        </p:txBody>
      </p:sp>
      <p:sp>
        <p:nvSpPr>
          <p:cNvPr id="19" name="Text 14"/>
          <p:cNvSpPr/>
          <p:nvPr/>
        </p:nvSpPr>
        <p:spPr>
          <a:xfrm>
            <a:off x="3858768" y="4846320"/>
            <a:ext cx="3063240" cy="512064"/>
          </a:xfrm>
          <a:prstGeom prst="roundRect">
            <a:avLst>
              <a:gd name="adj" fmla="val 50000"/>
            </a:avLst>
          </a:prstGeom>
          <a:solidFill>
            <a:srgbClr val="FFFFFF"/>
          </a:solidFill>
          <a:ln w="15875">
            <a:solidFill>
              <a:srgbClr val="3803BF"/>
            </a:solidFill>
          </a:ln>
        </p:spPr>
        <p:txBody>
          <a:bodyPr wrap="square" lIns="0" tIns="0" rIns="0" bIns="0" rtlCol="0" anchor="ctr"/>
          <a:lstStyle/>
          <a:p>
            <a:pPr algn="ctr" indent="0" marL="0">
              <a:buNone/>
            </a:pPr>
            <a:r>
              <a:rPr lang="en-US" sz="1350" b="1" dirty="0">
                <a:solidFill>
                  <a:srgbClr val="3803BF"/>
                </a:solidFill>
                <a:latin typeface="Open Sans" pitchFamily="34" charset="0"/>
                <a:ea typeface="Open Sans" pitchFamily="34" charset="-122"/>
                <a:cs typeface="Open Sans" pitchFamily="34" charset="-120"/>
              </a:rPr>
              <a:t>„Professor“ — kritisch</a:t>
            </a:r>
            <a:endParaRPr lang="en-US" sz="1350" dirty="0"/>
          </a:p>
        </p:txBody>
      </p:sp>
      <p:sp>
        <p:nvSpPr>
          <p:cNvPr id="20" name="Text 15"/>
          <p:cNvSpPr txBox="1"/>
          <p:nvPr/>
        </p:nvSpPr>
        <p:spPr>
          <a:xfrm>
            <a:off x="7498080" y="4956048"/>
            <a:ext cx="4114800" cy="320040"/>
          </a:xfrm>
          <a:prstGeom prst="rect">
            <a:avLst/>
          </a:prstGeom>
          <a:noFill/>
          <a:ln/>
        </p:spPr>
        <p:txBody>
          <a:bodyPr wrap="square" lIns="0" tIns="0" rIns="0" bIns="0" rtlCol="0" anchor="ctr"/>
          <a:lstStyle/>
          <a:p>
            <a:pPr indent="0" marL="0">
              <a:buNone/>
            </a:pPr>
            <a:r>
              <a:rPr lang="en-US" sz="1450" b="1" dirty="0">
                <a:solidFill>
                  <a:srgbClr val="17111F"/>
                </a:solidFill>
                <a:latin typeface="Open Sans" pitchFamily="34" charset="0"/>
                <a:ea typeface="Open Sans" pitchFamily="34" charset="-122"/>
                <a:cs typeface="Open Sans" pitchFamily="34" charset="-120"/>
              </a:rPr>
              <a:t>Keine Punkte, keine Noten.</a:t>
            </a:r>
            <a:endParaRPr lang="en-US" sz="1450" dirty="0"/>
          </a:p>
        </p:txBody>
      </p:sp>
      <p:sp>
        <p:nvSpPr>
          <p:cNvPr id="25" name="Slide Number Placeholder 0"/>
          <p:cNvSpPr>
            <a:spLocks noGrp="1"/>
          </p:cNvSpPr>
          <p:nvPr>
            <p:ph type="sldNum" sz="quarter" idx="4294967295"/>
          </p:nvPr>
        </p:nvSpPr>
        <p:spPr>
          <a:xfrm>
            <a:off x="11338560" y="6446520"/>
            <a:ext cx="384048"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577"/>
                </a:solidFill>
                <a:latin typeface="Open Sans"/>
                <a:ea typeface="Open Sans"/>
                <a:cs typeface="Open Sans"/>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0" y="0"/>
            <a:ext cx="9143771" cy="0"/>
          </a:xfrm>
          <a:prstGeom prst="rect">
            <a:avLst/>
          </a:prstGeom>
          <a:noFill/>
          <a:ln/>
        </p:spPr>
        <p:txBody>
          <a:bodyPr wrap="square" rtlCol="0"/>
          <a:lstStyle/>
          <a:p>
            <a:pPr indent="0" marL="0">
              <a:buNone/>
            </a:pPr>
            <a:r>
              <a:rPr lang="en-US" dirty="0"/>
              <a:t>Ein Befehl — lokaler Standard, Cloud optional</a:t>
            </a:r>
            <a:endParaRPr lang="en-US" dirty="0"/>
          </a:p>
        </p:txBody>
      </p:sp>
      <p:sp>
        <p:nvSpPr>
          <p:cNvPr id="3" name="Shape 1"/>
          <p:cNvSpPr/>
          <p:nvPr/>
        </p:nvSpPr>
        <p:spPr>
          <a:xfrm>
            <a:off x="566928" y="1481328"/>
            <a:ext cx="5486400" cy="3246120"/>
          </a:xfrm>
          <a:prstGeom prst="roundRect">
            <a:avLst>
              <a:gd name="adj" fmla="val 3380"/>
            </a:avLst>
          </a:prstGeom>
          <a:solidFill>
            <a:srgbClr val="F4F0FC"/>
          </a:solidFill>
          <a:ln/>
        </p:spPr>
      </p:sp>
      <p:sp>
        <p:nvSpPr>
          <p:cNvPr id="4" name="Shape 2"/>
          <p:cNvSpPr/>
          <p:nvPr/>
        </p:nvSpPr>
        <p:spPr>
          <a:xfrm>
            <a:off x="896112" y="1773936"/>
            <a:ext cx="457200" cy="457200"/>
          </a:xfrm>
          <a:prstGeom prst="ellipse">
            <a:avLst/>
          </a:prstGeom>
          <a:solidFill>
            <a:srgbClr val="E7DEF8"/>
          </a:solidFill>
          <a:ln/>
        </p:spPr>
      </p:sp>
      <p:pic>
        <p:nvPicPr>
          <p:cNvPr id="5" name="Image 0" descr="preencoded.png">    </p:cNvPr>
          <p:cNvPicPr>
            <a:picLocks noChangeAspect="1"/>
          </p:cNvPicPr>
          <p:nvPr/>
        </p:nvPicPr>
        <p:blipFill>
          <a:blip r:embed="rId1"/>
          <a:stretch>
            <a:fillRect/>
          </a:stretch>
        </p:blipFill>
        <p:spPr>
          <a:xfrm>
            <a:off x="1019556" y="1897380"/>
            <a:ext cx="210312" cy="210312"/>
          </a:xfrm>
          <a:prstGeom prst="rect">
            <a:avLst/>
          </a:prstGeom>
        </p:spPr>
      </p:pic>
      <p:sp>
        <p:nvSpPr>
          <p:cNvPr id="6" name="Text 3"/>
          <p:cNvSpPr txBox="1"/>
          <p:nvPr/>
        </p:nvSpPr>
        <p:spPr>
          <a:xfrm>
            <a:off x="1517904" y="1828800"/>
            <a:ext cx="4297680" cy="365760"/>
          </a:xfrm>
          <a:prstGeom prst="rect">
            <a:avLst/>
          </a:prstGeom>
          <a:noFill/>
          <a:ln/>
        </p:spPr>
        <p:txBody>
          <a:bodyPr wrap="square" lIns="0" tIns="0" rIns="0" bIns="0" rtlCol="0" anchor="ctr"/>
          <a:lstStyle/>
          <a:p>
            <a:pPr indent="0" marL="0">
              <a:buNone/>
            </a:pPr>
            <a:r>
              <a:rPr lang="en-US" sz="1550" b="1" dirty="0">
                <a:solidFill>
                  <a:srgbClr val="3803BF"/>
                </a:solidFill>
                <a:latin typeface="Open Sans" pitchFamily="34" charset="0"/>
                <a:ea typeface="Open Sans" pitchFamily="34" charset="-122"/>
                <a:cs typeface="Open Sans" pitchFamily="34" charset="-120"/>
              </a:rPr>
              <a:t>Lokal — der Standard</a:t>
            </a:r>
            <a:endParaRPr lang="en-US" sz="1550" dirty="0"/>
          </a:p>
        </p:txBody>
      </p:sp>
      <p:sp>
        <p:nvSpPr>
          <p:cNvPr id="7" name="Text 4"/>
          <p:cNvSpPr txBox="1"/>
          <p:nvPr/>
        </p:nvSpPr>
        <p:spPr>
          <a:xfrm>
            <a:off x="914400" y="2441448"/>
            <a:ext cx="4800600" cy="2011680"/>
          </a:xfrm>
          <a:prstGeom prst="rect">
            <a:avLst/>
          </a:prstGeom>
          <a:noFill/>
          <a:ln/>
        </p:spPr>
        <p:txBody>
          <a:bodyPr wrap="square" lIns="0" tIns="0" rIns="0" bIns="0" rtlCol="0" anchor="t"/>
          <a:lstStyle/>
          <a:p>
            <a:pPr marL="152400" indent="-152400">
              <a:spcAft>
                <a:spcPts val="1000"/>
              </a:spcAft>
              <a:buSzPct val="100000"/>
              <a:buChar char="•"/>
            </a:pPr>
            <a:r>
              <a:rPr lang="en-US" sz="1300" dirty="0">
                <a:solidFill>
                  <a:srgbClr val="17111F"/>
                </a:solidFill>
                <a:latin typeface="Open Sans" pitchFamily="34" charset="0"/>
                <a:ea typeface="Open Sans" pitchFamily="34" charset="-122"/>
                <a:cs typeface="Open Sans" pitchFamily="34" charset="-120"/>
              </a:rPr>
              <a:t>Next.js — MediaPipe &amp; AudioWorklet im Browser</a:t>
            </a:r>
            <a:endParaRPr lang="en-US" sz="1300" dirty="0"/>
          </a:p>
          <a:p>
            <a:pPr marL="152400" indent="-152400">
              <a:spcAft>
                <a:spcPts val="1000"/>
              </a:spcAft>
              <a:buSzPct val="100000"/>
              <a:buChar char="•"/>
            </a:pPr>
            <a:r>
              <a:rPr lang="en-US" sz="1300" dirty="0">
                <a:solidFill>
                  <a:srgbClr val="17111F"/>
                </a:solidFill>
                <a:latin typeface="Open Sans" pitchFamily="34" charset="0"/>
                <a:ea typeface="Open Sans" pitchFamily="34" charset="-122"/>
                <a:cs typeface="Open Sans" pitchFamily="34" charset="-120"/>
              </a:rPr>
              <a:t>FastAPI · Celery/Redis als Hintergrund-Jobs</a:t>
            </a:r>
            <a:endParaRPr lang="en-US" sz="1300" dirty="0"/>
          </a:p>
          <a:p>
            <a:pPr marL="152400" indent="-152400">
              <a:spcAft>
                <a:spcPts val="1000"/>
              </a:spcAft>
              <a:buSzPct val="100000"/>
              <a:buChar char="•"/>
            </a:pPr>
            <a:r>
              <a:rPr lang="en-US" sz="1300" dirty="0">
                <a:solidFill>
                  <a:srgbClr val="17111F"/>
                </a:solidFill>
                <a:latin typeface="Open Sans" pitchFamily="34" charset="0"/>
                <a:ea typeface="Open Sans" pitchFamily="34" charset="-122"/>
                <a:cs typeface="Open Sans" pitchFamily="34" charset="-120"/>
              </a:rPr>
              <a:t>Postgres + pgvector · SeaweedFS (S3-kompatibel)</a:t>
            </a:r>
            <a:endParaRPr lang="en-US" sz="1300" dirty="0"/>
          </a:p>
          <a:p>
            <a:pPr marL="152400" indent="-152400">
              <a:spcAft>
                <a:spcPts val="1000"/>
              </a:spcAft>
              <a:buSzPct val="100000"/>
              <a:buChar char="•"/>
            </a:pPr>
            <a:r>
              <a:rPr lang="en-US" sz="1300" dirty="0">
                <a:solidFill>
                  <a:srgbClr val="17111F"/>
                </a:solidFill>
                <a:latin typeface="Open Sans" pitchFamily="34" charset="0"/>
                <a:ea typeface="Open Sans" pitchFamily="34" charset="-122"/>
                <a:cs typeface="Open Sans" pitchFamily="34" charset="-120"/>
              </a:rPr>
              <a:t>faster-whisper · Silero VAD · jina-v2-Embeddings</a:t>
            </a:r>
            <a:endParaRPr lang="en-US" sz="1300" dirty="0"/>
          </a:p>
        </p:txBody>
      </p:sp>
      <p:sp>
        <p:nvSpPr>
          <p:cNvPr id="8" name="Shape 5"/>
          <p:cNvSpPr/>
          <p:nvPr/>
        </p:nvSpPr>
        <p:spPr>
          <a:xfrm>
            <a:off x="6281928" y="1481328"/>
            <a:ext cx="5486400" cy="3246120"/>
          </a:xfrm>
          <a:prstGeom prst="roundRect">
            <a:avLst>
              <a:gd name="adj" fmla="val 3380"/>
            </a:avLst>
          </a:prstGeom>
          <a:solidFill>
            <a:srgbClr val="F4F0FC"/>
          </a:solidFill>
          <a:ln/>
        </p:spPr>
      </p:sp>
      <p:sp>
        <p:nvSpPr>
          <p:cNvPr id="9" name="Shape 6"/>
          <p:cNvSpPr/>
          <p:nvPr/>
        </p:nvSpPr>
        <p:spPr>
          <a:xfrm>
            <a:off x="6611112" y="1773936"/>
            <a:ext cx="457200" cy="457200"/>
          </a:xfrm>
          <a:prstGeom prst="ellipse">
            <a:avLst/>
          </a:prstGeom>
          <a:solidFill>
            <a:srgbClr val="E7DEF8"/>
          </a:solidFill>
          <a:ln/>
        </p:spPr>
      </p:sp>
      <p:pic>
        <p:nvPicPr>
          <p:cNvPr id="10" name="Image 1" descr="preencoded.png">    </p:cNvPr>
          <p:cNvPicPr>
            <a:picLocks noChangeAspect="1"/>
          </p:cNvPicPr>
          <p:nvPr/>
        </p:nvPicPr>
        <p:blipFill>
          <a:blip r:embed="rId2"/>
          <a:stretch>
            <a:fillRect/>
          </a:stretch>
        </p:blipFill>
        <p:spPr>
          <a:xfrm>
            <a:off x="6734556" y="1897380"/>
            <a:ext cx="210312" cy="210312"/>
          </a:xfrm>
          <a:prstGeom prst="rect">
            <a:avLst/>
          </a:prstGeom>
        </p:spPr>
      </p:pic>
      <p:sp>
        <p:nvSpPr>
          <p:cNvPr id="11" name="Text 7"/>
          <p:cNvSpPr txBox="1"/>
          <p:nvPr/>
        </p:nvSpPr>
        <p:spPr>
          <a:xfrm>
            <a:off x="7232904" y="1828800"/>
            <a:ext cx="4297680" cy="365760"/>
          </a:xfrm>
          <a:prstGeom prst="rect">
            <a:avLst/>
          </a:prstGeom>
          <a:noFill/>
          <a:ln/>
        </p:spPr>
        <p:txBody>
          <a:bodyPr wrap="square" lIns="0" tIns="0" rIns="0" bIns="0" rtlCol="0" anchor="ctr"/>
          <a:lstStyle/>
          <a:p>
            <a:pPr indent="0" marL="0">
              <a:buNone/>
            </a:pPr>
            <a:r>
              <a:rPr lang="en-US" sz="1550" b="1" dirty="0">
                <a:solidFill>
                  <a:srgbClr val="17111F"/>
                </a:solidFill>
                <a:latin typeface="Open Sans" pitchFamily="34" charset="0"/>
                <a:ea typeface="Open Sans" pitchFamily="34" charset="-122"/>
                <a:cs typeface="Open Sans" pitchFamily="34" charset="-120"/>
              </a:rPr>
              <a:t>Cloud — nur mit Einwilligung</a:t>
            </a:r>
            <a:endParaRPr lang="en-US" sz="1550" dirty="0"/>
          </a:p>
        </p:txBody>
      </p:sp>
      <p:sp>
        <p:nvSpPr>
          <p:cNvPr id="12" name="Text 8"/>
          <p:cNvSpPr txBox="1"/>
          <p:nvPr/>
        </p:nvSpPr>
        <p:spPr>
          <a:xfrm>
            <a:off x="6629400" y="2441448"/>
            <a:ext cx="4800600" cy="2011680"/>
          </a:xfrm>
          <a:prstGeom prst="rect">
            <a:avLst/>
          </a:prstGeom>
          <a:noFill/>
          <a:ln/>
        </p:spPr>
        <p:txBody>
          <a:bodyPr wrap="square" lIns="0" tIns="0" rIns="0" bIns="0" rtlCol="0" anchor="t"/>
          <a:lstStyle/>
          <a:p>
            <a:pPr marL="152400" indent="-152400">
              <a:spcAft>
                <a:spcPts val="1000"/>
              </a:spcAft>
              <a:buSzPct val="100000"/>
              <a:buChar char="•"/>
            </a:pPr>
            <a:r>
              <a:rPr lang="en-US" sz="1300" dirty="0">
                <a:solidFill>
                  <a:srgbClr val="17111F"/>
                </a:solidFill>
                <a:latin typeface="Open Sans" pitchFamily="34" charset="0"/>
                <a:ea typeface="Open Sans" pitchFamily="34" charset="-122"/>
                <a:cs typeface="Open Sans" pitchFamily="34" charset="-120"/>
              </a:rPr>
              <a:t>Gemini flash-lite — Fact-Check &amp; Frage-Agent</a:t>
            </a:r>
            <a:endParaRPr lang="en-US" sz="1300" dirty="0"/>
          </a:p>
          <a:p>
            <a:pPr marL="152400" indent="-152400">
              <a:spcAft>
                <a:spcPts val="1000"/>
              </a:spcAft>
              <a:buSzPct val="100000"/>
              <a:buChar char="•"/>
            </a:pPr>
            <a:r>
              <a:rPr lang="en-US" sz="1300" dirty="0">
                <a:solidFill>
                  <a:srgbClr val="17111F"/>
                </a:solidFill>
                <a:latin typeface="Open Sans" pitchFamily="34" charset="0"/>
                <a:ea typeface="Open Sans" pitchFamily="34" charset="-122"/>
                <a:cs typeface="Open Sans" pitchFamily="34" charset="-120"/>
              </a:rPr>
              <a:t>Optional: Deepgram (EU) — Live-Transkript</a:t>
            </a:r>
            <a:endParaRPr lang="en-US" sz="1300" dirty="0"/>
          </a:p>
          <a:p>
            <a:pPr marL="152400" indent="-152400">
              <a:spcAft>
                <a:spcPts val="1000"/>
              </a:spcAft>
              <a:buSzPct val="100000"/>
              <a:buChar char="•"/>
            </a:pPr>
            <a:r>
              <a:rPr lang="en-US" sz="1300" dirty="0">
                <a:solidFill>
                  <a:srgbClr val="17111F"/>
                </a:solidFill>
                <a:latin typeface="Open Sans" pitchFamily="34" charset="0"/>
                <a:ea typeface="Open Sans" pitchFamily="34" charset="-122"/>
                <a:cs typeface="Open Sans" pitchFamily="34" charset="-120"/>
              </a:rPr>
              <a:t>Optional: ElevenLabs — Voice-Agent-Stimme</a:t>
            </a:r>
            <a:endParaRPr lang="en-US" sz="1300" dirty="0"/>
          </a:p>
          <a:p>
            <a:pPr marL="152400" indent="-152400">
              <a:spcAft>
                <a:spcPts val="1000"/>
              </a:spcAft>
              <a:buSzPct val="100000"/>
              <a:buChar char="•"/>
            </a:pPr>
            <a:r>
              <a:rPr lang="en-US" sz="1300" dirty="0">
                <a:solidFill>
                  <a:srgbClr val="17111F"/>
                </a:solidFill>
                <a:latin typeface="Open Sans" pitchFamily="34" charset="0"/>
                <a:ea typeface="Open Sans" pitchFamily="34" charset="-122"/>
                <a:cs typeface="Open Sans" pitchFamily="34" charset="-120"/>
              </a:rPr>
              <a:t>Ohne Schlüssel bleibt alles auf dem lokalen Pfad</a:t>
            </a:r>
            <a:endParaRPr lang="en-US" sz="1300" dirty="0"/>
          </a:p>
        </p:txBody>
      </p:sp>
      <p:sp>
        <p:nvSpPr>
          <p:cNvPr id="13" name="Text 9"/>
          <p:cNvSpPr/>
          <p:nvPr/>
        </p:nvSpPr>
        <p:spPr>
          <a:xfrm>
            <a:off x="2441448" y="5074920"/>
            <a:ext cx="7315200" cy="603504"/>
          </a:xfrm>
          <a:prstGeom prst="roundRect">
            <a:avLst>
              <a:gd name="adj" fmla="val 18182"/>
            </a:avLst>
          </a:prstGeom>
          <a:solidFill>
            <a:srgbClr val="17111F"/>
          </a:solidFill>
          <a:ln/>
        </p:spPr>
        <p:txBody>
          <a:bodyPr wrap="square" lIns="0" tIns="0" rIns="0" bIns="0" rtlCol="0" anchor="ctr"/>
          <a:lstStyle/>
          <a:p>
            <a:pPr algn="ctr" indent="0" marL="0">
              <a:buNone/>
            </a:pPr>
            <a:r>
              <a:rPr lang="en-US" sz="1500" dirty="0">
                <a:solidFill>
                  <a:srgbClr val="CBB6F6"/>
                </a:solidFill>
                <a:latin typeface="Courier New" pitchFamily="34" charset="0"/>
                <a:ea typeface="Courier New" pitchFamily="34" charset="-122"/>
                <a:cs typeface="Courier New" pitchFamily="34" charset="-120"/>
              </a:rPr>
              <a:t>$ </a:t>
            </a:r>
            <a:pPr algn="ctr" indent="0" marL="0">
              <a:buNone/>
            </a:pPr>
            <a:r>
              <a:rPr lang="en-US" sz="1500" dirty="0">
                <a:solidFill>
                  <a:srgbClr val="FFFFFF"/>
                </a:solidFill>
                <a:latin typeface="Courier New" pitchFamily="34" charset="0"/>
                <a:ea typeface="Courier New" pitchFamily="34" charset="-122"/>
                <a:cs typeface="Courier New" pitchFamily="34" charset="-120"/>
              </a:rPr>
              <a:t>docker compose up --build -d --wait</a:t>
            </a:r>
            <a:endParaRPr lang="en-US" sz="1500" dirty="0"/>
          </a:p>
        </p:txBody>
      </p:sp>
      <p:sp>
        <p:nvSpPr>
          <p:cNvPr id="25" name="Slide Number Placeholder 0"/>
          <p:cNvSpPr>
            <a:spLocks noGrp="1"/>
          </p:cNvSpPr>
          <p:nvPr>
            <p:ph type="sldNum" sz="quarter" idx="4294967295"/>
          </p:nvPr>
        </p:nvSpPr>
        <p:spPr>
          <a:xfrm>
            <a:off x="11338560" y="6446520"/>
            <a:ext cx="384048"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577"/>
                </a:solidFill>
                <a:latin typeface="Open Sans"/>
                <a:ea typeface="Open Sans"/>
                <a:cs typeface="Open Sans"/>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0" y="0"/>
            <a:ext cx="9143771" cy="0"/>
          </a:xfrm>
          <a:prstGeom prst="rect">
            <a:avLst/>
          </a:prstGeom>
          <a:noFill/>
          <a:ln/>
        </p:spPr>
        <p:txBody>
          <a:bodyPr wrap="square" rtlCol="0"/>
          <a:lstStyle/>
          <a:p>
            <a:pPr indent="0" marL="0">
              <a:buNone/>
            </a:pPr>
            <a:r>
              <a:rPr lang="en-US" dirty="0"/>
              <a:t>Privat by design — ehrlich by design</a:t>
            </a:r>
            <a:endParaRPr lang="en-US" dirty="0"/>
          </a:p>
        </p:txBody>
      </p:sp>
      <p:sp>
        <p:nvSpPr>
          <p:cNvPr id="3" name="Shape 1"/>
          <p:cNvSpPr/>
          <p:nvPr/>
        </p:nvSpPr>
        <p:spPr>
          <a:xfrm>
            <a:off x="484632" y="1554480"/>
            <a:ext cx="3566160" cy="1810512"/>
          </a:xfrm>
          <a:prstGeom prst="roundRect">
            <a:avLst>
              <a:gd name="adj" fmla="val 6061"/>
            </a:avLst>
          </a:prstGeom>
          <a:solidFill>
            <a:srgbClr val="F4F0FC"/>
          </a:solidFill>
          <a:ln/>
        </p:spPr>
      </p:sp>
      <p:sp>
        <p:nvSpPr>
          <p:cNvPr id="4" name="Shape 2"/>
          <p:cNvSpPr/>
          <p:nvPr/>
        </p:nvSpPr>
        <p:spPr>
          <a:xfrm>
            <a:off x="740664" y="1828800"/>
            <a:ext cx="457200" cy="457200"/>
          </a:xfrm>
          <a:prstGeom prst="ellipse">
            <a:avLst/>
          </a:prstGeom>
          <a:solidFill>
            <a:srgbClr val="E7DEF8"/>
          </a:solidFill>
          <a:ln/>
        </p:spPr>
      </p:sp>
      <p:pic>
        <p:nvPicPr>
          <p:cNvPr id="5" name="Image 0" descr="preencoded.png">    </p:cNvPr>
          <p:cNvPicPr>
            <a:picLocks noChangeAspect="1"/>
          </p:cNvPicPr>
          <p:nvPr/>
        </p:nvPicPr>
        <p:blipFill>
          <a:blip r:embed="rId1"/>
          <a:stretch>
            <a:fillRect/>
          </a:stretch>
        </p:blipFill>
        <p:spPr>
          <a:xfrm>
            <a:off x="864108" y="1952244"/>
            <a:ext cx="210312" cy="210312"/>
          </a:xfrm>
          <a:prstGeom prst="rect">
            <a:avLst/>
          </a:prstGeom>
        </p:spPr>
      </p:pic>
      <p:sp>
        <p:nvSpPr>
          <p:cNvPr id="6" name="Text 3"/>
          <p:cNvSpPr txBox="1"/>
          <p:nvPr/>
        </p:nvSpPr>
        <p:spPr>
          <a:xfrm>
            <a:off x="1353312" y="1847088"/>
            <a:ext cx="2468880" cy="411480"/>
          </a:xfrm>
          <a:prstGeom prst="rect">
            <a:avLst/>
          </a:prstGeom>
          <a:noFill/>
          <a:ln/>
        </p:spPr>
        <p:txBody>
          <a:bodyPr wrap="square" lIns="0" tIns="0" rIns="0" bIns="0" rtlCol="0" anchor="ctr"/>
          <a:lstStyle/>
          <a:p>
            <a:pPr indent="0" marL="0">
              <a:buNone/>
            </a:pPr>
            <a:r>
              <a:rPr lang="en-US" sz="1350" b="1" dirty="0">
                <a:solidFill>
                  <a:srgbClr val="17111F"/>
                </a:solidFill>
                <a:latin typeface="Open Sans" pitchFamily="34" charset="0"/>
                <a:ea typeface="Open Sans" pitchFamily="34" charset="-122"/>
                <a:cs typeface="Open Sans" pitchFamily="34" charset="-120"/>
              </a:rPr>
              <a:t>Video bleibt beim Client</a:t>
            </a:r>
            <a:endParaRPr lang="en-US" sz="1350" dirty="0"/>
          </a:p>
        </p:txBody>
      </p:sp>
      <p:sp>
        <p:nvSpPr>
          <p:cNvPr id="7" name="Text 4"/>
          <p:cNvSpPr txBox="1"/>
          <p:nvPr/>
        </p:nvSpPr>
        <p:spPr>
          <a:xfrm>
            <a:off x="1353312" y="2331720"/>
            <a:ext cx="2468880" cy="822960"/>
          </a:xfrm>
          <a:prstGeom prst="rect">
            <a:avLst/>
          </a:prstGeom>
          <a:noFill/>
          <a:ln/>
        </p:spPr>
        <p:txBody>
          <a:bodyPr wrap="square" lIns="0" tIns="0" rIns="0" bIns="0" rtlCol="0" anchor="t"/>
          <a:lstStyle/>
          <a:p>
            <a:pPr indent="0" marL="0">
              <a:buNone/>
            </a:pPr>
            <a:r>
              <a:rPr lang="en-US" sz="1200" dirty="0">
                <a:solidFill>
                  <a:srgbClr val="6B6577"/>
                </a:solidFill>
                <a:latin typeface="Open Sans" pitchFamily="34" charset="0"/>
                <a:ea typeface="Open Sans" pitchFamily="34" charset="-122"/>
                <a:cs typeface="Open Sans" pitchFamily="34" charset="-120"/>
              </a:rPr>
              <a:t>keine Server-Clips, keine Snapshots</a:t>
            </a:r>
            <a:endParaRPr lang="en-US" sz="1200" dirty="0"/>
          </a:p>
        </p:txBody>
      </p:sp>
      <p:sp>
        <p:nvSpPr>
          <p:cNvPr id="8" name="Shape 5"/>
          <p:cNvSpPr/>
          <p:nvPr/>
        </p:nvSpPr>
        <p:spPr>
          <a:xfrm>
            <a:off x="4315968" y="1554480"/>
            <a:ext cx="3566160" cy="1810512"/>
          </a:xfrm>
          <a:prstGeom prst="roundRect">
            <a:avLst>
              <a:gd name="adj" fmla="val 6061"/>
            </a:avLst>
          </a:prstGeom>
          <a:solidFill>
            <a:srgbClr val="F4F0FC"/>
          </a:solidFill>
          <a:ln/>
        </p:spPr>
      </p:sp>
      <p:sp>
        <p:nvSpPr>
          <p:cNvPr id="9" name="Shape 6"/>
          <p:cNvSpPr/>
          <p:nvPr/>
        </p:nvSpPr>
        <p:spPr>
          <a:xfrm>
            <a:off x="4572000" y="1828800"/>
            <a:ext cx="457200" cy="457200"/>
          </a:xfrm>
          <a:prstGeom prst="ellipse">
            <a:avLst/>
          </a:prstGeom>
          <a:solidFill>
            <a:srgbClr val="E7DEF8"/>
          </a:solidFill>
          <a:ln/>
        </p:spPr>
      </p:sp>
      <p:pic>
        <p:nvPicPr>
          <p:cNvPr id="10" name="Image 1" descr="preencoded.png">    </p:cNvPr>
          <p:cNvPicPr>
            <a:picLocks noChangeAspect="1"/>
          </p:cNvPicPr>
          <p:nvPr/>
        </p:nvPicPr>
        <p:blipFill>
          <a:blip r:embed="rId2"/>
          <a:stretch>
            <a:fillRect/>
          </a:stretch>
        </p:blipFill>
        <p:spPr>
          <a:xfrm>
            <a:off x="4695444" y="1952244"/>
            <a:ext cx="210312" cy="210312"/>
          </a:xfrm>
          <a:prstGeom prst="rect">
            <a:avLst/>
          </a:prstGeom>
        </p:spPr>
      </p:pic>
      <p:sp>
        <p:nvSpPr>
          <p:cNvPr id="11" name="Text 7"/>
          <p:cNvSpPr txBox="1"/>
          <p:nvPr/>
        </p:nvSpPr>
        <p:spPr>
          <a:xfrm>
            <a:off x="5184648" y="1847088"/>
            <a:ext cx="2468880" cy="411480"/>
          </a:xfrm>
          <a:prstGeom prst="rect">
            <a:avLst/>
          </a:prstGeom>
          <a:noFill/>
          <a:ln/>
        </p:spPr>
        <p:txBody>
          <a:bodyPr wrap="square" lIns="0" tIns="0" rIns="0" bIns="0" rtlCol="0" anchor="ctr"/>
          <a:lstStyle/>
          <a:p>
            <a:pPr indent="0" marL="0">
              <a:buNone/>
            </a:pPr>
            <a:r>
              <a:rPr lang="en-US" sz="1350" b="1" dirty="0">
                <a:solidFill>
                  <a:srgbClr val="17111F"/>
                </a:solidFill>
                <a:latin typeface="Open Sans" pitchFamily="34" charset="0"/>
                <a:ea typeface="Open Sans" pitchFamily="34" charset="-122"/>
                <a:cs typeface="Open Sans" pitchFamily="34" charset="-120"/>
              </a:rPr>
              <a:t>Audio wird gelöscht</a:t>
            </a:r>
            <a:endParaRPr lang="en-US" sz="1350" dirty="0"/>
          </a:p>
        </p:txBody>
      </p:sp>
      <p:sp>
        <p:nvSpPr>
          <p:cNvPr id="12" name="Text 8"/>
          <p:cNvSpPr txBox="1"/>
          <p:nvPr/>
        </p:nvSpPr>
        <p:spPr>
          <a:xfrm>
            <a:off x="5184648" y="2331720"/>
            <a:ext cx="2468880" cy="822960"/>
          </a:xfrm>
          <a:prstGeom prst="rect">
            <a:avLst/>
          </a:prstGeom>
          <a:noFill/>
          <a:ln/>
        </p:spPr>
        <p:txBody>
          <a:bodyPr wrap="square" lIns="0" tIns="0" rIns="0" bIns="0" rtlCol="0" anchor="t"/>
          <a:lstStyle/>
          <a:p>
            <a:pPr indent="0" marL="0">
              <a:buNone/>
            </a:pPr>
            <a:r>
              <a:rPr lang="en-US" sz="1200" dirty="0">
                <a:solidFill>
                  <a:srgbClr val="6B6577"/>
                </a:solidFill>
                <a:latin typeface="Open Sans" pitchFamily="34" charset="0"/>
                <a:ea typeface="Open Sans" pitchFamily="34" charset="-122"/>
                <a:cs typeface="Open Sans" pitchFamily="34" charset="-120"/>
              </a:rPr>
              <a:t>Original nach der Analyse — auch bei Fehlern</a:t>
            </a:r>
            <a:endParaRPr lang="en-US" sz="1200" dirty="0"/>
          </a:p>
        </p:txBody>
      </p:sp>
      <p:sp>
        <p:nvSpPr>
          <p:cNvPr id="13" name="Shape 9"/>
          <p:cNvSpPr/>
          <p:nvPr/>
        </p:nvSpPr>
        <p:spPr>
          <a:xfrm>
            <a:off x="8147304" y="1554480"/>
            <a:ext cx="3566160" cy="1810512"/>
          </a:xfrm>
          <a:prstGeom prst="roundRect">
            <a:avLst>
              <a:gd name="adj" fmla="val 6061"/>
            </a:avLst>
          </a:prstGeom>
          <a:solidFill>
            <a:srgbClr val="F4F0FC"/>
          </a:solidFill>
          <a:ln/>
        </p:spPr>
      </p:sp>
      <p:sp>
        <p:nvSpPr>
          <p:cNvPr id="14" name="Shape 10"/>
          <p:cNvSpPr/>
          <p:nvPr/>
        </p:nvSpPr>
        <p:spPr>
          <a:xfrm>
            <a:off x="8403336" y="1828800"/>
            <a:ext cx="457200" cy="457200"/>
          </a:xfrm>
          <a:prstGeom prst="ellipse">
            <a:avLst/>
          </a:prstGeom>
          <a:solidFill>
            <a:srgbClr val="E7DEF8"/>
          </a:solidFill>
          <a:ln/>
        </p:spPr>
      </p:sp>
      <p:pic>
        <p:nvPicPr>
          <p:cNvPr id="15" name="Image 2" descr="preencoded.png">    </p:cNvPr>
          <p:cNvPicPr>
            <a:picLocks noChangeAspect="1"/>
          </p:cNvPicPr>
          <p:nvPr/>
        </p:nvPicPr>
        <p:blipFill>
          <a:blip r:embed="rId3"/>
          <a:stretch>
            <a:fillRect/>
          </a:stretch>
        </p:blipFill>
        <p:spPr>
          <a:xfrm>
            <a:off x="8526780" y="1952244"/>
            <a:ext cx="210312" cy="210312"/>
          </a:xfrm>
          <a:prstGeom prst="rect">
            <a:avLst/>
          </a:prstGeom>
        </p:spPr>
      </p:pic>
      <p:sp>
        <p:nvSpPr>
          <p:cNvPr id="16" name="Text 11"/>
          <p:cNvSpPr txBox="1"/>
          <p:nvPr/>
        </p:nvSpPr>
        <p:spPr>
          <a:xfrm>
            <a:off x="9015984" y="1847088"/>
            <a:ext cx="2468880" cy="411480"/>
          </a:xfrm>
          <a:prstGeom prst="rect">
            <a:avLst/>
          </a:prstGeom>
          <a:noFill/>
          <a:ln/>
        </p:spPr>
        <p:txBody>
          <a:bodyPr wrap="square" lIns="0" tIns="0" rIns="0" bIns="0" rtlCol="0" anchor="ctr"/>
          <a:lstStyle/>
          <a:p>
            <a:pPr indent="0" marL="0">
              <a:buNone/>
            </a:pPr>
            <a:r>
              <a:rPr lang="en-US" sz="1350" b="1" dirty="0">
                <a:solidFill>
                  <a:srgbClr val="17111F"/>
                </a:solidFill>
                <a:latin typeface="Open Sans" pitchFamily="34" charset="0"/>
                <a:ea typeface="Open Sans" pitchFamily="34" charset="-122"/>
                <a:cs typeface="Open Sans" pitchFamily="34" charset="-120"/>
              </a:rPr>
              <a:t>Keine Pose-Frames zu Anbietern</a:t>
            </a:r>
            <a:endParaRPr lang="en-US" sz="1350" dirty="0"/>
          </a:p>
        </p:txBody>
      </p:sp>
      <p:sp>
        <p:nvSpPr>
          <p:cNvPr id="17" name="Text 12"/>
          <p:cNvSpPr txBox="1"/>
          <p:nvPr/>
        </p:nvSpPr>
        <p:spPr>
          <a:xfrm>
            <a:off x="9015984" y="2331720"/>
            <a:ext cx="2468880" cy="822960"/>
          </a:xfrm>
          <a:prstGeom prst="rect">
            <a:avLst/>
          </a:prstGeom>
          <a:noFill/>
          <a:ln/>
        </p:spPr>
        <p:txBody>
          <a:bodyPr wrap="square" lIns="0" tIns="0" rIns="0" bIns="0" rtlCol="0" anchor="t"/>
          <a:lstStyle/>
          <a:p>
            <a:pPr indent="0" marL="0">
              <a:buNone/>
            </a:pPr>
            <a:r>
              <a:rPr lang="en-US" sz="1200" dirty="0">
                <a:solidFill>
                  <a:srgbClr val="6B6577"/>
                </a:solidFill>
                <a:latin typeface="Open Sans" pitchFamily="34" charset="0"/>
                <a:ea typeface="Open Sans" pitchFamily="34" charset="-122"/>
                <a:cs typeface="Open Sans" pitchFamily="34" charset="-120"/>
              </a:rPr>
              <a:t>Landmarks bleiben im Browser</a:t>
            </a:r>
            <a:endParaRPr lang="en-US" sz="1200" dirty="0"/>
          </a:p>
        </p:txBody>
      </p:sp>
      <p:sp>
        <p:nvSpPr>
          <p:cNvPr id="18" name="Shape 13"/>
          <p:cNvSpPr/>
          <p:nvPr/>
        </p:nvSpPr>
        <p:spPr>
          <a:xfrm>
            <a:off x="484632" y="3584448"/>
            <a:ext cx="3566160" cy="1810512"/>
          </a:xfrm>
          <a:prstGeom prst="roundRect">
            <a:avLst>
              <a:gd name="adj" fmla="val 6061"/>
            </a:avLst>
          </a:prstGeom>
          <a:solidFill>
            <a:srgbClr val="F4F0FC"/>
          </a:solidFill>
          <a:ln/>
        </p:spPr>
      </p:sp>
      <p:sp>
        <p:nvSpPr>
          <p:cNvPr id="19" name="Shape 14"/>
          <p:cNvSpPr/>
          <p:nvPr/>
        </p:nvSpPr>
        <p:spPr>
          <a:xfrm>
            <a:off x="740664" y="3858768"/>
            <a:ext cx="457200" cy="457200"/>
          </a:xfrm>
          <a:prstGeom prst="ellipse">
            <a:avLst/>
          </a:prstGeom>
          <a:solidFill>
            <a:srgbClr val="E7DEF8"/>
          </a:solidFill>
          <a:ln/>
        </p:spPr>
      </p:sp>
      <p:pic>
        <p:nvPicPr>
          <p:cNvPr id="20" name="Image 3" descr="preencoded.png">    </p:cNvPr>
          <p:cNvPicPr>
            <a:picLocks noChangeAspect="1"/>
          </p:cNvPicPr>
          <p:nvPr/>
        </p:nvPicPr>
        <p:blipFill>
          <a:blip r:embed="rId4"/>
          <a:stretch>
            <a:fillRect/>
          </a:stretch>
        </p:blipFill>
        <p:spPr>
          <a:xfrm>
            <a:off x="864108" y="3982212"/>
            <a:ext cx="210312" cy="210312"/>
          </a:xfrm>
          <a:prstGeom prst="rect">
            <a:avLst/>
          </a:prstGeom>
        </p:spPr>
      </p:pic>
      <p:sp>
        <p:nvSpPr>
          <p:cNvPr id="21" name="Text 15"/>
          <p:cNvSpPr txBox="1"/>
          <p:nvPr/>
        </p:nvSpPr>
        <p:spPr>
          <a:xfrm>
            <a:off x="1353312" y="3877056"/>
            <a:ext cx="2468880" cy="411480"/>
          </a:xfrm>
          <a:prstGeom prst="rect">
            <a:avLst/>
          </a:prstGeom>
          <a:noFill/>
          <a:ln/>
        </p:spPr>
        <p:txBody>
          <a:bodyPr wrap="square" lIns="0" tIns="0" rIns="0" bIns="0" rtlCol="0" anchor="ctr"/>
          <a:lstStyle/>
          <a:p>
            <a:pPr indent="0" marL="0">
              <a:buNone/>
            </a:pPr>
            <a:r>
              <a:rPr lang="en-US" sz="1350" b="1" dirty="0">
                <a:solidFill>
                  <a:srgbClr val="17111F"/>
                </a:solidFill>
                <a:latin typeface="Open Sans" pitchFamily="34" charset="0"/>
                <a:ea typeface="Open Sans" pitchFamily="34" charset="-122"/>
                <a:cs typeface="Open Sans" pitchFamily="34" charset="-120"/>
              </a:rPr>
              <a:t>Cloud nur mit Einwilligung</a:t>
            </a:r>
            <a:endParaRPr lang="en-US" sz="1350" dirty="0"/>
          </a:p>
        </p:txBody>
      </p:sp>
      <p:sp>
        <p:nvSpPr>
          <p:cNvPr id="22" name="Text 16"/>
          <p:cNvSpPr txBox="1"/>
          <p:nvPr/>
        </p:nvSpPr>
        <p:spPr>
          <a:xfrm>
            <a:off x="1353312" y="4361688"/>
            <a:ext cx="2468880" cy="822960"/>
          </a:xfrm>
          <a:prstGeom prst="rect">
            <a:avLst/>
          </a:prstGeom>
          <a:noFill/>
          <a:ln/>
        </p:spPr>
        <p:txBody>
          <a:bodyPr wrap="square" lIns="0" tIns="0" rIns="0" bIns="0" rtlCol="0" anchor="t"/>
          <a:lstStyle/>
          <a:p>
            <a:pPr indent="0" marL="0">
              <a:buNone/>
            </a:pPr>
            <a:r>
              <a:rPr lang="en-US" sz="1200" dirty="0">
                <a:solidFill>
                  <a:srgbClr val="6B6577"/>
                </a:solidFill>
                <a:latin typeface="Open Sans" pitchFamily="34" charset="0"/>
                <a:ea typeface="Open Sans" pitchFamily="34" charset="-122"/>
                <a:cs typeface="Open Sans" pitchFamily="34" charset="-120"/>
              </a:rPr>
              <a:t>Anbieter werden vorab benannt</a:t>
            </a:r>
            <a:endParaRPr lang="en-US" sz="1200" dirty="0"/>
          </a:p>
        </p:txBody>
      </p:sp>
      <p:sp>
        <p:nvSpPr>
          <p:cNvPr id="23" name="Shape 17"/>
          <p:cNvSpPr/>
          <p:nvPr/>
        </p:nvSpPr>
        <p:spPr>
          <a:xfrm>
            <a:off x="4315968" y="3584448"/>
            <a:ext cx="3566160" cy="1810512"/>
          </a:xfrm>
          <a:prstGeom prst="roundRect">
            <a:avLst>
              <a:gd name="adj" fmla="val 6061"/>
            </a:avLst>
          </a:prstGeom>
          <a:solidFill>
            <a:srgbClr val="F4F0FC"/>
          </a:solidFill>
          <a:ln/>
        </p:spPr>
      </p:sp>
      <p:sp>
        <p:nvSpPr>
          <p:cNvPr id="24" name="Shape 18"/>
          <p:cNvSpPr/>
          <p:nvPr/>
        </p:nvSpPr>
        <p:spPr>
          <a:xfrm>
            <a:off x="4572000" y="3858768"/>
            <a:ext cx="457200" cy="457200"/>
          </a:xfrm>
          <a:prstGeom prst="ellipse">
            <a:avLst/>
          </a:prstGeom>
          <a:solidFill>
            <a:srgbClr val="E7DEF8"/>
          </a:solidFill>
          <a:ln/>
        </p:spPr>
      </p:sp>
      <p:pic>
        <p:nvPicPr>
          <p:cNvPr id="25" name="Image 4" descr="preencoded.png">    </p:cNvPr>
          <p:cNvPicPr>
            <a:picLocks noChangeAspect="1"/>
          </p:cNvPicPr>
          <p:nvPr/>
        </p:nvPicPr>
        <p:blipFill>
          <a:blip r:embed="rId5"/>
          <a:stretch>
            <a:fillRect/>
          </a:stretch>
        </p:blipFill>
        <p:spPr>
          <a:xfrm>
            <a:off x="4695444" y="3982212"/>
            <a:ext cx="210312" cy="210312"/>
          </a:xfrm>
          <a:prstGeom prst="rect">
            <a:avLst/>
          </a:prstGeom>
        </p:spPr>
      </p:pic>
      <p:sp>
        <p:nvSpPr>
          <p:cNvPr id="26" name="Text 19"/>
          <p:cNvSpPr txBox="1"/>
          <p:nvPr/>
        </p:nvSpPr>
        <p:spPr>
          <a:xfrm>
            <a:off x="5184648" y="3877056"/>
            <a:ext cx="2468880" cy="411480"/>
          </a:xfrm>
          <a:prstGeom prst="rect">
            <a:avLst/>
          </a:prstGeom>
          <a:noFill/>
          <a:ln/>
        </p:spPr>
        <p:txBody>
          <a:bodyPr wrap="square" lIns="0" tIns="0" rIns="0" bIns="0" rtlCol="0" anchor="ctr"/>
          <a:lstStyle/>
          <a:p>
            <a:pPr indent="0" marL="0">
              <a:buNone/>
            </a:pPr>
            <a:r>
              <a:rPr lang="en-US" sz="1350" b="1" dirty="0">
                <a:solidFill>
                  <a:srgbClr val="17111F"/>
                </a:solidFill>
                <a:latin typeface="Open Sans" pitchFamily="34" charset="0"/>
                <a:ea typeface="Open Sans" pitchFamily="34" charset="-122"/>
                <a:cs typeface="Open Sans" pitchFamily="34" charset="-120"/>
              </a:rPr>
              <a:t>Nur synthetische Demo-Daten</a:t>
            </a:r>
            <a:endParaRPr lang="en-US" sz="1350" dirty="0"/>
          </a:p>
        </p:txBody>
      </p:sp>
      <p:sp>
        <p:nvSpPr>
          <p:cNvPr id="27" name="Text 20"/>
          <p:cNvSpPr txBox="1"/>
          <p:nvPr/>
        </p:nvSpPr>
        <p:spPr>
          <a:xfrm>
            <a:off x="5184648" y="4361688"/>
            <a:ext cx="2468880" cy="822960"/>
          </a:xfrm>
          <a:prstGeom prst="rect">
            <a:avLst/>
          </a:prstGeom>
          <a:noFill/>
          <a:ln/>
        </p:spPr>
        <p:txBody>
          <a:bodyPr wrap="square" lIns="0" tIns="0" rIns="0" bIns="0" rtlCol="0" anchor="t"/>
          <a:lstStyle/>
          <a:p>
            <a:pPr indent="0" marL="0">
              <a:buNone/>
            </a:pPr>
            <a:r>
              <a:rPr lang="en-US" sz="1200" dirty="0">
                <a:solidFill>
                  <a:srgbClr val="6B6577"/>
                </a:solidFill>
                <a:latin typeface="Open Sans" pitchFamily="34" charset="0"/>
                <a:ea typeface="Open Sans" pitchFamily="34" charset="-122"/>
                <a:cs typeface="Open Sans" pitchFamily="34" charset="-120"/>
              </a:rPr>
              <a:t>keine echten personenbezogenen Daten</a:t>
            </a:r>
            <a:endParaRPr lang="en-US" sz="1200" dirty="0"/>
          </a:p>
        </p:txBody>
      </p:sp>
      <p:sp>
        <p:nvSpPr>
          <p:cNvPr id="28" name="Shape 21"/>
          <p:cNvSpPr/>
          <p:nvPr/>
        </p:nvSpPr>
        <p:spPr>
          <a:xfrm>
            <a:off x="8147304" y="3584448"/>
            <a:ext cx="3566160" cy="1810512"/>
          </a:xfrm>
          <a:prstGeom prst="roundRect">
            <a:avLst>
              <a:gd name="adj" fmla="val 6061"/>
            </a:avLst>
          </a:prstGeom>
          <a:solidFill>
            <a:srgbClr val="F4F0FC"/>
          </a:solidFill>
          <a:ln/>
        </p:spPr>
      </p:sp>
      <p:sp>
        <p:nvSpPr>
          <p:cNvPr id="29" name="Shape 22"/>
          <p:cNvSpPr/>
          <p:nvPr/>
        </p:nvSpPr>
        <p:spPr>
          <a:xfrm>
            <a:off x="8403336" y="3858768"/>
            <a:ext cx="457200" cy="457200"/>
          </a:xfrm>
          <a:prstGeom prst="ellipse">
            <a:avLst/>
          </a:prstGeom>
          <a:solidFill>
            <a:srgbClr val="E7DEF8"/>
          </a:solidFill>
          <a:ln/>
        </p:spPr>
      </p:sp>
      <p:pic>
        <p:nvPicPr>
          <p:cNvPr id="30" name="Image 5" descr="preencoded.png">    </p:cNvPr>
          <p:cNvPicPr>
            <a:picLocks noChangeAspect="1"/>
          </p:cNvPicPr>
          <p:nvPr/>
        </p:nvPicPr>
        <p:blipFill>
          <a:blip r:embed="rId6"/>
          <a:stretch>
            <a:fillRect/>
          </a:stretch>
        </p:blipFill>
        <p:spPr>
          <a:xfrm>
            <a:off x="8526780" y="3982212"/>
            <a:ext cx="210312" cy="210312"/>
          </a:xfrm>
          <a:prstGeom prst="rect">
            <a:avLst/>
          </a:prstGeom>
        </p:spPr>
      </p:pic>
      <p:sp>
        <p:nvSpPr>
          <p:cNvPr id="31" name="Text 23"/>
          <p:cNvSpPr txBox="1"/>
          <p:nvPr/>
        </p:nvSpPr>
        <p:spPr>
          <a:xfrm>
            <a:off x="9015984" y="3877056"/>
            <a:ext cx="2468880" cy="411480"/>
          </a:xfrm>
          <a:prstGeom prst="rect">
            <a:avLst/>
          </a:prstGeom>
          <a:noFill/>
          <a:ln/>
        </p:spPr>
        <p:txBody>
          <a:bodyPr wrap="square" lIns="0" tIns="0" rIns="0" bIns="0" rtlCol="0" anchor="ctr"/>
          <a:lstStyle/>
          <a:p>
            <a:pPr indent="0" marL="0">
              <a:buNone/>
            </a:pPr>
            <a:r>
              <a:rPr lang="en-US" sz="1350" b="1" dirty="0">
                <a:solidFill>
                  <a:srgbClr val="17111F"/>
                </a:solidFill>
                <a:latin typeface="Open Sans" pitchFamily="34" charset="0"/>
                <a:ea typeface="Open Sans" pitchFamily="34" charset="-122"/>
                <a:cs typeface="Open Sans" pitchFamily="34" charset="-120"/>
              </a:rPr>
              <a:t>Heuristiken offen markiert</a:t>
            </a:r>
            <a:endParaRPr lang="en-US" sz="1350" dirty="0"/>
          </a:p>
        </p:txBody>
      </p:sp>
      <p:sp>
        <p:nvSpPr>
          <p:cNvPr id="32" name="Text 24"/>
          <p:cNvSpPr txBox="1"/>
          <p:nvPr/>
        </p:nvSpPr>
        <p:spPr>
          <a:xfrm>
            <a:off x="9015984" y="4361688"/>
            <a:ext cx="2468880" cy="822960"/>
          </a:xfrm>
          <a:prstGeom prst="rect">
            <a:avLst/>
          </a:prstGeom>
          <a:noFill/>
          <a:ln/>
        </p:spPr>
        <p:txBody>
          <a:bodyPr wrap="square" lIns="0" tIns="0" rIns="0" bIns="0" rtlCol="0" anchor="t"/>
          <a:lstStyle/>
          <a:p>
            <a:pPr indent="0" marL="0">
              <a:buNone/>
            </a:pPr>
            <a:r>
              <a:rPr lang="en-US" sz="1200" dirty="0">
                <a:solidFill>
                  <a:srgbClr val="6B6577"/>
                </a:solidFill>
                <a:latin typeface="Open Sans" pitchFamily="34" charset="0"/>
                <a:ea typeface="Open Sans" pitchFamily="34" charset="-122"/>
                <a:cs typeface="Open Sans" pitchFamily="34" charset="-120"/>
              </a:rPr>
              <a:t>„unvalidiert“ statt glaub behauptet</a:t>
            </a:r>
            <a:endParaRPr lang="en-US" sz="1200" dirty="0"/>
          </a:p>
        </p:txBody>
      </p:sp>
      <p:sp>
        <p:nvSpPr>
          <p:cNvPr id="33" name="Text 25"/>
          <p:cNvSpPr txBox="1"/>
          <p:nvPr/>
        </p:nvSpPr>
        <p:spPr>
          <a:xfrm>
            <a:off x="566928" y="5669280"/>
            <a:ext cx="11064240" cy="384048"/>
          </a:xfrm>
          <a:prstGeom prst="rect">
            <a:avLst/>
          </a:prstGeom>
          <a:noFill/>
          <a:ln/>
        </p:spPr>
        <p:txBody>
          <a:bodyPr wrap="square" lIns="0" tIns="0" rIns="0" bIns="0" rtlCol="0" anchor="ctr"/>
          <a:lstStyle/>
          <a:p>
            <a:pPr algn="ctr" indent="0" marL="0">
              <a:buNone/>
            </a:pPr>
            <a:r>
              <a:rPr lang="en-US" sz="1600" b="1" dirty="0">
                <a:solidFill>
                  <a:srgbClr val="3803BF"/>
                </a:solidFill>
                <a:latin typeface="Open Sans" pitchFamily="34" charset="0"/>
                <a:ea typeface="Open Sans" pitchFamily="34" charset="-122"/>
                <a:cs typeface="Open Sans" pitchFamily="34" charset="-120"/>
              </a:rPr>
              <a:t>Keine Scores, keine Noten, keine Emotionsanalyse — Feedback statt Benotung.</a:t>
            </a:r>
            <a:endParaRPr lang="en-US" sz="1600" dirty="0"/>
          </a:p>
        </p:txBody>
      </p:sp>
      <p:sp>
        <p:nvSpPr>
          <p:cNvPr id="25" name="Slide Number Placeholder 0"/>
          <p:cNvSpPr>
            <a:spLocks noGrp="1"/>
          </p:cNvSpPr>
          <p:nvPr>
            <p:ph type="sldNum" sz="quarter" idx="4294967295"/>
          </p:nvPr>
        </p:nvSpPr>
        <p:spPr>
          <a:xfrm>
            <a:off x="11338560" y="6446520"/>
            <a:ext cx="384048"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577"/>
                </a:solidFill>
                <a:latin typeface="Open Sans"/>
                <a:ea typeface="Open Sans"/>
                <a:cs typeface="Open Sans"/>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0" y="0"/>
            <a:ext cx="9143771" cy="0"/>
          </a:xfrm>
          <a:prstGeom prst="rect">
            <a:avLst/>
          </a:prstGeom>
          <a:noFill/>
          <a:ln/>
        </p:spPr>
        <p:txBody>
          <a:bodyPr wrap="square" rtlCol="0"/>
          <a:lstStyle/>
          <a:p>
            <a:pPr indent="0" marL="0">
              <a:buNone/>
            </a:pPr>
            <a:r>
              <a:rPr lang="en-US" dirty="0"/>
              <a:t>Gemessen im Prototyp — nicht versprochen</a:t>
            </a:r>
            <a:endParaRPr lang="en-US" dirty="0"/>
          </a:p>
        </p:txBody>
      </p:sp>
      <p:sp>
        <p:nvSpPr>
          <p:cNvPr id="3" name="Shape 1"/>
          <p:cNvSpPr/>
          <p:nvPr/>
        </p:nvSpPr>
        <p:spPr>
          <a:xfrm>
            <a:off x="449428" y="1554480"/>
            <a:ext cx="2651760" cy="1737360"/>
          </a:xfrm>
          <a:prstGeom prst="roundRect">
            <a:avLst>
              <a:gd name="adj" fmla="val 6316"/>
            </a:avLst>
          </a:prstGeom>
          <a:solidFill>
            <a:srgbClr val="F4F0FC"/>
          </a:solidFill>
          <a:ln/>
        </p:spPr>
      </p:sp>
      <p:sp>
        <p:nvSpPr>
          <p:cNvPr id="4" name="Text 2"/>
          <p:cNvSpPr txBox="1"/>
          <p:nvPr/>
        </p:nvSpPr>
        <p:spPr>
          <a:xfrm>
            <a:off x="705460" y="1755648"/>
            <a:ext cx="2139696" cy="566928"/>
          </a:xfrm>
          <a:prstGeom prst="rect">
            <a:avLst/>
          </a:prstGeom>
          <a:noFill/>
          <a:ln/>
        </p:spPr>
        <p:txBody>
          <a:bodyPr wrap="square" lIns="0" tIns="0" rIns="0" bIns="0" rtlCol="0" anchor="ctr"/>
          <a:lstStyle/>
          <a:p>
            <a:pPr indent="0" marL="0">
              <a:buNone/>
            </a:pPr>
            <a:r>
              <a:rPr lang="en-US" sz="3000" b="1" dirty="0">
                <a:solidFill>
                  <a:srgbClr val="3803BF"/>
                </a:solidFill>
                <a:latin typeface="Open Sans" pitchFamily="34" charset="0"/>
                <a:ea typeface="Open Sans" pitchFamily="34" charset="-122"/>
                <a:cs typeface="Open Sans" pitchFamily="34" charset="-120"/>
              </a:rPr>
              <a:t>2,7 s</a:t>
            </a:r>
            <a:endParaRPr lang="en-US" sz="3000" dirty="0"/>
          </a:p>
        </p:txBody>
      </p:sp>
      <p:sp>
        <p:nvSpPr>
          <p:cNvPr id="5" name="Text 3"/>
          <p:cNvSpPr txBox="1"/>
          <p:nvPr/>
        </p:nvSpPr>
        <p:spPr>
          <a:xfrm>
            <a:off x="705460" y="2423160"/>
            <a:ext cx="2194560" cy="777240"/>
          </a:xfrm>
          <a:prstGeom prst="rect">
            <a:avLst/>
          </a:prstGeom>
          <a:noFill/>
          <a:ln/>
        </p:spPr>
        <p:txBody>
          <a:bodyPr wrap="square" lIns="0" tIns="0" rIns="0" bIns="0" rtlCol="0" anchor="t"/>
          <a:lstStyle/>
          <a:p>
            <a:pPr indent="0" marL="0">
              <a:buNone/>
            </a:pPr>
            <a:r>
              <a:rPr lang="en-US" sz="1150" dirty="0">
                <a:solidFill>
                  <a:srgbClr val="6B6577"/>
                </a:solidFill>
                <a:latin typeface="Open Sans" pitchFamily="34" charset="0"/>
                <a:ea typeface="Open Sans" pitchFamily="34" charset="-122"/>
                <a:cs typeface="Open Sans" pitchFamily="34" charset="-120"/>
              </a:rPr>
              <a:t>100 Folien einlesen &amp; embedden</a:t>
            </a:r>
            <a:endParaRPr lang="en-US" sz="1150" dirty="0"/>
          </a:p>
        </p:txBody>
      </p:sp>
      <p:sp>
        <p:nvSpPr>
          <p:cNvPr id="6" name="Shape 4"/>
          <p:cNvSpPr/>
          <p:nvPr/>
        </p:nvSpPr>
        <p:spPr>
          <a:xfrm>
            <a:off x="3329788" y="1554480"/>
            <a:ext cx="2651760" cy="1737360"/>
          </a:xfrm>
          <a:prstGeom prst="roundRect">
            <a:avLst>
              <a:gd name="adj" fmla="val 6316"/>
            </a:avLst>
          </a:prstGeom>
          <a:solidFill>
            <a:srgbClr val="F4F0FC"/>
          </a:solidFill>
          <a:ln/>
        </p:spPr>
      </p:sp>
      <p:sp>
        <p:nvSpPr>
          <p:cNvPr id="7" name="Text 5"/>
          <p:cNvSpPr txBox="1"/>
          <p:nvPr/>
        </p:nvSpPr>
        <p:spPr>
          <a:xfrm>
            <a:off x="3585820" y="1755648"/>
            <a:ext cx="2139696" cy="566928"/>
          </a:xfrm>
          <a:prstGeom prst="rect">
            <a:avLst/>
          </a:prstGeom>
          <a:noFill/>
          <a:ln/>
        </p:spPr>
        <p:txBody>
          <a:bodyPr wrap="square" lIns="0" tIns="0" rIns="0" bIns="0" rtlCol="0" anchor="ctr"/>
          <a:lstStyle/>
          <a:p>
            <a:pPr indent="0" marL="0">
              <a:buNone/>
            </a:pPr>
            <a:r>
              <a:rPr lang="en-US" sz="3000" b="1" dirty="0">
                <a:solidFill>
                  <a:srgbClr val="3803BF"/>
                </a:solidFill>
                <a:latin typeface="Open Sans" pitchFamily="34" charset="0"/>
                <a:ea typeface="Open Sans" pitchFamily="34" charset="-122"/>
                <a:cs typeface="Open Sans" pitchFamily="34" charset="-120"/>
              </a:rPr>
              <a:t>54 ms</a:t>
            </a:r>
            <a:endParaRPr lang="en-US" sz="3000" dirty="0"/>
          </a:p>
        </p:txBody>
      </p:sp>
      <p:sp>
        <p:nvSpPr>
          <p:cNvPr id="8" name="Text 6"/>
          <p:cNvSpPr txBox="1"/>
          <p:nvPr/>
        </p:nvSpPr>
        <p:spPr>
          <a:xfrm>
            <a:off x="3585820" y="2423160"/>
            <a:ext cx="2194560" cy="777240"/>
          </a:xfrm>
          <a:prstGeom prst="rect">
            <a:avLst/>
          </a:prstGeom>
          <a:noFill/>
          <a:ln/>
        </p:spPr>
        <p:txBody>
          <a:bodyPr wrap="square" lIns="0" tIns="0" rIns="0" bIns="0" rtlCol="0" anchor="t"/>
          <a:lstStyle/>
          <a:p>
            <a:pPr indent="0" marL="0">
              <a:buNone/>
            </a:pPr>
            <a:r>
              <a:rPr lang="en-US" sz="1150" dirty="0">
                <a:solidFill>
                  <a:srgbClr val="6B6577"/>
                </a:solidFill>
                <a:latin typeface="Open Sans" pitchFamily="34" charset="0"/>
                <a:ea typeface="Open Sans" pitchFamily="34" charset="-122"/>
                <a:cs typeface="Open Sans" pitchFamily="34" charset="-120"/>
              </a:rPr>
              <a:t>Hybrid-Suche, Median bei 10.000 Chunks</a:t>
            </a:r>
            <a:endParaRPr lang="en-US" sz="1150" dirty="0"/>
          </a:p>
        </p:txBody>
      </p:sp>
      <p:sp>
        <p:nvSpPr>
          <p:cNvPr id="9" name="Shape 7"/>
          <p:cNvSpPr/>
          <p:nvPr/>
        </p:nvSpPr>
        <p:spPr>
          <a:xfrm>
            <a:off x="6210148" y="1554480"/>
            <a:ext cx="2651760" cy="1737360"/>
          </a:xfrm>
          <a:prstGeom prst="roundRect">
            <a:avLst>
              <a:gd name="adj" fmla="val 6316"/>
            </a:avLst>
          </a:prstGeom>
          <a:solidFill>
            <a:srgbClr val="F4F0FC"/>
          </a:solidFill>
          <a:ln/>
        </p:spPr>
      </p:sp>
      <p:sp>
        <p:nvSpPr>
          <p:cNvPr id="10" name="Text 8"/>
          <p:cNvSpPr txBox="1"/>
          <p:nvPr/>
        </p:nvSpPr>
        <p:spPr>
          <a:xfrm>
            <a:off x="6466180" y="1755648"/>
            <a:ext cx="2139696" cy="566928"/>
          </a:xfrm>
          <a:prstGeom prst="rect">
            <a:avLst/>
          </a:prstGeom>
          <a:noFill/>
          <a:ln/>
        </p:spPr>
        <p:txBody>
          <a:bodyPr wrap="square" lIns="0" tIns="0" rIns="0" bIns="0" rtlCol="0" anchor="ctr"/>
          <a:lstStyle/>
          <a:p>
            <a:pPr indent="0" marL="0">
              <a:buNone/>
            </a:pPr>
            <a:r>
              <a:rPr lang="en-US" sz="3000" b="1" dirty="0">
                <a:solidFill>
                  <a:srgbClr val="3803BF"/>
                </a:solidFill>
                <a:latin typeface="Open Sans" pitchFamily="34" charset="0"/>
                <a:ea typeface="Open Sans" pitchFamily="34" charset="-122"/>
                <a:cs typeface="Open Sans" pitchFamily="34" charset="-120"/>
              </a:rPr>
              <a:t>0,35 s</a:t>
            </a:r>
            <a:endParaRPr lang="en-US" sz="3000" dirty="0"/>
          </a:p>
        </p:txBody>
      </p:sp>
      <p:sp>
        <p:nvSpPr>
          <p:cNvPr id="11" name="Text 9"/>
          <p:cNvSpPr txBox="1"/>
          <p:nvPr/>
        </p:nvSpPr>
        <p:spPr>
          <a:xfrm>
            <a:off x="6466180" y="2423160"/>
            <a:ext cx="2194560" cy="777240"/>
          </a:xfrm>
          <a:prstGeom prst="rect">
            <a:avLst/>
          </a:prstGeom>
          <a:noFill/>
          <a:ln/>
        </p:spPr>
        <p:txBody>
          <a:bodyPr wrap="square" lIns="0" tIns="0" rIns="0" bIns="0" rtlCol="0" anchor="t"/>
          <a:lstStyle/>
          <a:p>
            <a:pPr indent="0" marL="0">
              <a:buNone/>
            </a:pPr>
            <a:r>
              <a:rPr lang="en-US" sz="1150" dirty="0">
                <a:solidFill>
                  <a:srgbClr val="6B6577"/>
                </a:solidFill>
                <a:latin typeface="Open Sans" pitchFamily="34" charset="0"/>
                <a:ea typeface="Open Sans" pitchFamily="34" charset="-122"/>
                <a:cs typeface="Open Sans" pitchFamily="34" charset="-120"/>
              </a:rPr>
              <a:t>Signal-Analyse für 60 s Audio</a:t>
            </a:r>
            <a:endParaRPr lang="en-US" sz="1150" dirty="0"/>
          </a:p>
        </p:txBody>
      </p:sp>
      <p:sp>
        <p:nvSpPr>
          <p:cNvPr id="12" name="Shape 10"/>
          <p:cNvSpPr/>
          <p:nvPr/>
        </p:nvSpPr>
        <p:spPr>
          <a:xfrm>
            <a:off x="9090508" y="1554480"/>
            <a:ext cx="2651760" cy="1737360"/>
          </a:xfrm>
          <a:prstGeom prst="roundRect">
            <a:avLst>
              <a:gd name="adj" fmla="val 6316"/>
            </a:avLst>
          </a:prstGeom>
          <a:solidFill>
            <a:srgbClr val="F4F0FC"/>
          </a:solidFill>
          <a:ln/>
        </p:spPr>
      </p:sp>
      <p:sp>
        <p:nvSpPr>
          <p:cNvPr id="13" name="Text 11"/>
          <p:cNvSpPr txBox="1"/>
          <p:nvPr/>
        </p:nvSpPr>
        <p:spPr>
          <a:xfrm>
            <a:off x="9346540" y="1755648"/>
            <a:ext cx="2139696" cy="566928"/>
          </a:xfrm>
          <a:prstGeom prst="rect">
            <a:avLst/>
          </a:prstGeom>
          <a:noFill/>
          <a:ln/>
        </p:spPr>
        <p:txBody>
          <a:bodyPr wrap="square" lIns="0" tIns="0" rIns="0" bIns="0" rtlCol="0" anchor="ctr"/>
          <a:lstStyle/>
          <a:p>
            <a:pPr indent="0" marL="0">
              <a:buNone/>
            </a:pPr>
            <a:r>
              <a:rPr lang="en-US" sz="3000" b="1" dirty="0">
                <a:solidFill>
                  <a:srgbClr val="3803BF"/>
                </a:solidFill>
                <a:latin typeface="Open Sans" pitchFamily="34" charset="0"/>
                <a:ea typeface="Open Sans" pitchFamily="34" charset="-122"/>
                <a:cs typeface="Open Sans" pitchFamily="34" charset="-120"/>
              </a:rPr>
              <a:t>3,4 s</a:t>
            </a:r>
            <a:endParaRPr lang="en-US" sz="3000" dirty="0"/>
          </a:p>
        </p:txBody>
      </p:sp>
      <p:sp>
        <p:nvSpPr>
          <p:cNvPr id="14" name="Text 12"/>
          <p:cNvSpPr txBox="1"/>
          <p:nvPr/>
        </p:nvSpPr>
        <p:spPr>
          <a:xfrm>
            <a:off x="9346540" y="2423160"/>
            <a:ext cx="2194560" cy="777240"/>
          </a:xfrm>
          <a:prstGeom prst="rect">
            <a:avLst/>
          </a:prstGeom>
          <a:noFill/>
          <a:ln/>
        </p:spPr>
        <p:txBody>
          <a:bodyPr wrap="square" lIns="0" tIns="0" rIns="0" bIns="0" rtlCol="0" anchor="t"/>
          <a:lstStyle/>
          <a:p>
            <a:pPr indent="0" marL="0">
              <a:buNone/>
            </a:pPr>
            <a:r>
              <a:rPr lang="en-US" sz="1150" dirty="0">
                <a:solidFill>
                  <a:srgbClr val="6B6577"/>
                </a:solidFill>
                <a:latin typeface="Open Sans" pitchFamily="34" charset="0"/>
                <a:ea typeface="Open Sans" pitchFamily="34" charset="-122"/>
                <a:cs typeface="Open Sans" pitchFamily="34" charset="-120"/>
              </a:rPr>
              <a:t>Fact-Check (Gemini flash-lite, synthetisch)</a:t>
            </a:r>
            <a:endParaRPr lang="en-US" sz="1150" dirty="0"/>
          </a:p>
        </p:txBody>
      </p:sp>
      <p:sp>
        <p:nvSpPr>
          <p:cNvPr id="15" name="Shape 13"/>
          <p:cNvSpPr/>
          <p:nvPr/>
        </p:nvSpPr>
        <p:spPr>
          <a:xfrm>
            <a:off x="449428" y="3493008"/>
            <a:ext cx="2651760" cy="1737360"/>
          </a:xfrm>
          <a:prstGeom prst="roundRect">
            <a:avLst>
              <a:gd name="adj" fmla="val 6316"/>
            </a:avLst>
          </a:prstGeom>
          <a:solidFill>
            <a:srgbClr val="F4F0FC"/>
          </a:solidFill>
          <a:ln/>
        </p:spPr>
      </p:sp>
      <p:sp>
        <p:nvSpPr>
          <p:cNvPr id="16" name="Text 14"/>
          <p:cNvSpPr txBox="1"/>
          <p:nvPr/>
        </p:nvSpPr>
        <p:spPr>
          <a:xfrm>
            <a:off x="705460" y="3694176"/>
            <a:ext cx="2139696" cy="566928"/>
          </a:xfrm>
          <a:prstGeom prst="rect">
            <a:avLst/>
          </a:prstGeom>
          <a:noFill/>
          <a:ln/>
        </p:spPr>
        <p:txBody>
          <a:bodyPr wrap="square" lIns="0" tIns="0" rIns="0" bIns="0" rtlCol="0" anchor="ctr"/>
          <a:lstStyle/>
          <a:p>
            <a:pPr indent="0" marL="0">
              <a:buNone/>
            </a:pPr>
            <a:r>
              <a:rPr lang="en-US" sz="3000" b="1" dirty="0">
                <a:solidFill>
                  <a:srgbClr val="3803BF"/>
                </a:solidFill>
                <a:latin typeface="Open Sans" pitchFamily="34" charset="0"/>
                <a:ea typeface="Open Sans" pitchFamily="34" charset="-122"/>
                <a:cs typeface="Open Sans" pitchFamily="34" charset="-120"/>
              </a:rPr>
              <a:t>4,8 s</a:t>
            </a:r>
            <a:endParaRPr lang="en-US" sz="3000" dirty="0"/>
          </a:p>
        </p:txBody>
      </p:sp>
      <p:sp>
        <p:nvSpPr>
          <p:cNvPr id="17" name="Text 15"/>
          <p:cNvSpPr txBox="1"/>
          <p:nvPr/>
        </p:nvSpPr>
        <p:spPr>
          <a:xfrm>
            <a:off x="705460" y="4361688"/>
            <a:ext cx="2194560" cy="777240"/>
          </a:xfrm>
          <a:prstGeom prst="rect">
            <a:avLst/>
          </a:prstGeom>
          <a:noFill/>
          <a:ln/>
        </p:spPr>
        <p:txBody>
          <a:bodyPr wrap="square" lIns="0" tIns="0" rIns="0" bIns="0" rtlCol="0" anchor="t"/>
          <a:lstStyle/>
          <a:p>
            <a:pPr indent="0" marL="0">
              <a:buNone/>
            </a:pPr>
            <a:r>
              <a:rPr lang="en-US" sz="1150" dirty="0">
                <a:solidFill>
                  <a:srgbClr val="6B6577"/>
                </a:solidFill>
                <a:latin typeface="Open Sans" pitchFamily="34" charset="0"/>
                <a:ea typeface="Open Sans" pitchFamily="34" charset="-122"/>
                <a:cs typeface="Open Sans" pitchFamily="34" charset="-120"/>
              </a:rPr>
              <a:t>Whisper small für 6,8 s Audio</a:t>
            </a:r>
            <a:endParaRPr lang="en-US" sz="1150" dirty="0"/>
          </a:p>
        </p:txBody>
      </p:sp>
      <p:sp>
        <p:nvSpPr>
          <p:cNvPr id="18" name="Shape 16"/>
          <p:cNvSpPr/>
          <p:nvPr/>
        </p:nvSpPr>
        <p:spPr>
          <a:xfrm>
            <a:off x="3329788" y="3493008"/>
            <a:ext cx="2651760" cy="1737360"/>
          </a:xfrm>
          <a:prstGeom prst="roundRect">
            <a:avLst>
              <a:gd name="adj" fmla="val 6316"/>
            </a:avLst>
          </a:prstGeom>
          <a:solidFill>
            <a:srgbClr val="F4F0FC"/>
          </a:solidFill>
          <a:ln/>
        </p:spPr>
      </p:sp>
      <p:sp>
        <p:nvSpPr>
          <p:cNvPr id="19" name="Text 17"/>
          <p:cNvSpPr txBox="1"/>
          <p:nvPr/>
        </p:nvSpPr>
        <p:spPr>
          <a:xfrm>
            <a:off x="3585820" y="3694176"/>
            <a:ext cx="2139696" cy="566928"/>
          </a:xfrm>
          <a:prstGeom prst="rect">
            <a:avLst/>
          </a:prstGeom>
          <a:noFill/>
          <a:ln/>
        </p:spPr>
        <p:txBody>
          <a:bodyPr wrap="square" lIns="0" tIns="0" rIns="0" bIns="0" rtlCol="0" anchor="ctr"/>
          <a:lstStyle/>
          <a:p>
            <a:pPr indent="0" marL="0">
              <a:buNone/>
            </a:pPr>
            <a:r>
              <a:rPr lang="en-US" sz="3000" b="1" dirty="0">
                <a:solidFill>
                  <a:srgbClr val="3803BF"/>
                </a:solidFill>
                <a:latin typeface="Open Sans" pitchFamily="34" charset="0"/>
                <a:ea typeface="Open Sans" pitchFamily="34" charset="-122"/>
                <a:cs typeface="Open Sans" pitchFamily="34" charset="-120"/>
              </a:rPr>
              <a:t>33</a:t>
            </a:r>
            <a:endParaRPr lang="en-US" sz="3000" dirty="0"/>
          </a:p>
        </p:txBody>
      </p:sp>
      <p:sp>
        <p:nvSpPr>
          <p:cNvPr id="20" name="Text 18"/>
          <p:cNvSpPr txBox="1"/>
          <p:nvPr/>
        </p:nvSpPr>
        <p:spPr>
          <a:xfrm>
            <a:off x="3585820" y="4361688"/>
            <a:ext cx="2194560" cy="777240"/>
          </a:xfrm>
          <a:prstGeom prst="rect">
            <a:avLst/>
          </a:prstGeom>
          <a:noFill/>
          <a:ln/>
        </p:spPr>
        <p:txBody>
          <a:bodyPr wrap="square" lIns="0" tIns="0" rIns="0" bIns="0" rtlCol="0" anchor="t"/>
          <a:lstStyle/>
          <a:p>
            <a:pPr indent="0" marL="0">
              <a:buNone/>
            </a:pPr>
            <a:r>
              <a:rPr lang="en-US" sz="1150" dirty="0">
                <a:solidFill>
                  <a:srgbClr val="6B6577"/>
                </a:solidFill>
                <a:latin typeface="Open Sans" pitchFamily="34" charset="0"/>
                <a:ea typeface="Open Sans" pitchFamily="34" charset="-122"/>
                <a:cs typeface="Open Sans" pitchFamily="34" charset="-120"/>
              </a:rPr>
              <a:t>API-Pfade im Backend</a:t>
            </a:r>
            <a:endParaRPr lang="en-US" sz="1150" dirty="0"/>
          </a:p>
        </p:txBody>
      </p:sp>
      <p:sp>
        <p:nvSpPr>
          <p:cNvPr id="21" name="Shape 19"/>
          <p:cNvSpPr/>
          <p:nvPr/>
        </p:nvSpPr>
        <p:spPr>
          <a:xfrm>
            <a:off x="6210148" y="3493008"/>
            <a:ext cx="2651760" cy="1737360"/>
          </a:xfrm>
          <a:prstGeom prst="roundRect">
            <a:avLst>
              <a:gd name="adj" fmla="val 6316"/>
            </a:avLst>
          </a:prstGeom>
          <a:solidFill>
            <a:srgbClr val="F4F0FC"/>
          </a:solidFill>
          <a:ln/>
        </p:spPr>
      </p:sp>
      <p:sp>
        <p:nvSpPr>
          <p:cNvPr id="22" name="Text 20"/>
          <p:cNvSpPr txBox="1"/>
          <p:nvPr/>
        </p:nvSpPr>
        <p:spPr>
          <a:xfrm>
            <a:off x="6466180" y="3694176"/>
            <a:ext cx="2139696" cy="566928"/>
          </a:xfrm>
          <a:prstGeom prst="rect">
            <a:avLst/>
          </a:prstGeom>
          <a:noFill/>
          <a:ln/>
        </p:spPr>
        <p:txBody>
          <a:bodyPr wrap="square" lIns="0" tIns="0" rIns="0" bIns="0" rtlCol="0" anchor="ctr"/>
          <a:lstStyle/>
          <a:p>
            <a:pPr indent="0" marL="0">
              <a:buNone/>
            </a:pPr>
            <a:r>
              <a:rPr lang="en-US" sz="3000" b="1" dirty="0">
                <a:solidFill>
                  <a:srgbClr val="3803BF"/>
                </a:solidFill>
                <a:latin typeface="Open Sans" pitchFamily="34" charset="0"/>
                <a:ea typeface="Open Sans" pitchFamily="34" charset="-122"/>
                <a:cs typeface="Open Sans" pitchFamily="34" charset="-120"/>
              </a:rPr>
              <a:t>281</a:t>
            </a:r>
            <a:endParaRPr lang="en-US" sz="3000" dirty="0"/>
          </a:p>
        </p:txBody>
      </p:sp>
      <p:sp>
        <p:nvSpPr>
          <p:cNvPr id="23" name="Text 21"/>
          <p:cNvSpPr txBox="1"/>
          <p:nvPr/>
        </p:nvSpPr>
        <p:spPr>
          <a:xfrm>
            <a:off x="6466180" y="4361688"/>
            <a:ext cx="2194560" cy="777240"/>
          </a:xfrm>
          <a:prstGeom prst="rect">
            <a:avLst/>
          </a:prstGeom>
          <a:noFill/>
          <a:ln/>
        </p:spPr>
        <p:txBody>
          <a:bodyPr wrap="square" lIns="0" tIns="0" rIns="0" bIns="0" rtlCol="0" anchor="t"/>
          <a:lstStyle/>
          <a:p>
            <a:pPr indent="0" marL="0">
              <a:buNone/>
            </a:pPr>
            <a:r>
              <a:rPr lang="en-US" sz="1150" dirty="0">
                <a:solidFill>
                  <a:srgbClr val="6B6577"/>
                </a:solidFill>
                <a:latin typeface="Open Sans" pitchFamily="34" charset="0"/>
                <a:ea typeface="Open Sans" pitchFamily="34" charset="-122"/>
                <a:cs typeface="Open Sans" pitchFamily="34" charset="-120"/>
              </a:rPr>
              <a:t>Backend-Tests</a:t>
            </a:r>
            <a:endParaRPr lang="en-US" sz="1150" dirty="0"/>
          </a:p>
        </p:txBody>
      </p:sp>
      <p:sp>
        <p:nvSpPr>
          <p:cNvPr id="24" name="Shape 22"/>
          <p:cNvSpPr/>
          <p:nvPr/>
        </p:nvSpPr>
        <p:spPr>
          <a:xfrm>
            <a:off x="9090508" y="3493008"/>
            <a:ext cx="2651760" cy="1737360"/>
          </a:xfrm>
          <a:prstGeom prst="roundRect">
            <a:avLst>
              <a:gd name="adj" fmla="val 6316"/>
            </a:avLst>
          </a:prstGeom>
          <a:solidFill>
            <a:srgbClr val="F4F0FC"/>
          </a:solidFill>
          <a:ln/>
        </p:spPr>
      </p:sp>
      <p:sp>
        <p:nvSpPr>
          <p:cNvPr id="25" name="Text 23"/>
          <p:cNvSpPr txBox="1"/>
          <p:nvPr/>
        </p:nvSpPr>
        <p:spPr>
          <a:xfrm>
            <a:off x="9346540" y="3694176"/>
            <a:ext cx="2139696" cy="566928"/>
          </a:xfrm>
          <a:prstGeom prst="rect">
            <a:avLst/>
          </a:prstGeom>
          <a:noFill/>
          <a:ln/>
        </p:spPr>
        <p:txBody>
          <a:bodyPr wrap="square" lIns="0" tIns="0" rIns="0" bIns="0" rtlCol="0" anchor="ctr"/>
          <a:lstStyle/>
          <a:p>
            <a:pPr indent="0" marL="0">
              <a:buNone/>
            </a:pPr>
            <a:r>
              <a:rPr lang="en-US" sz="3000" b="1" dirty="0">
                <a:solidFill>
                  <a:srgbClr val="3803BF"/>
                </a:solidFill>
                <a:latin typeface="Open Sans" pitchFamily="34" charset="0"/>
                <a:ea typeface="Open Sans" pitchFamily="34" charset="-122"/>
                <a:cs typeface="Open Sans" pitchFamily="34" charset="-120"/>
              </a:rPr>
              <a:t>232</a:t>
            </a:r>
            <a:endParaRPr lang="en-US" sz="3000" dirty="0"/>
          </a:p>
        </p:txBody>
      </p:sp>
      <p:sp>
        <p:nvSpPr>
          <p:cNvPr id="26" name="Text 24"/>
          <p:cNvSpPr txBox="1"/>
          <p:nvPr/>
        </p:nvSpPr>
        <p:spPr>
          <a:xfrm>
            <a:off x="9346540" y="4361688"/>
            <a:ext cx="2194560" cy="777240"/>
          </a:xfrm>
          <a:prstGeom prst="rect">
            <a:avLst/>
          </a:prstGeom>
          <a:noFill/>
          <a:ln/>
        </p:spPr>
        <p:txBody>
          <a:bodyPr wrap="square" lIns="0" tIns="0" rIns="0" bIns="0" rtlCol="0" anchor="t"/>
          <a:lstStyle/>
          <a:p>
            <a:pPr indent="0" marL="0">
              <a:buNone/>
            </a:pPr>
            <a:r>
              <a:rPr lang="en-US" sz="1150" dirty="0">
                <a:solidFill>
                  <a:srgbClr val="6B6577"/>
                </a:solidFill>
                <a:latin typeface="Open Sans" pitchFamily="34" charset="0"/>
                <a:ea typeface="Open Sans" pitchFamily="34" charset="-122"/>
                <a:cs typeface="Open Sans" pitchFamily="34" charset="-120"/>
              </a:rPr>
              <a:t>Web-Unit-Tests</a:t>
            </a:r>
            <a:endParaRPr lang="en-US" sz="1150" dirty="0"/>
          </a:p>
        </p:txBody>
      </p:sp>
      <p:sp>
        <p:nvSpPr>
          <p:cNvPr id="27" name="Text 25"/>
          <p:cNvSpPr txBox="1"/>
          <p:nvPr/>
        </p:nvSpPr>
        <p:spPr>
          <a:xfrm>
            <a:off x="566928" y="5596128"/>
            <a:ext cx="11064240" cy="365760"/>
          </a:xfrm>
          <a:prstGeom prst="rect">
            <a:avLst/>
          </a:prstGeom>
          <a:noFill/>
          <a:ln/>
        </p:spPr>
        <p:txBody>
          <a:bodyPr wrap="square" lIns="0" tIns="0" rIns="0" bIns="0" rtlCol="0" anchor="ctr"/>
          <a:lstStyle/>
          <a:p>
            <a:pPr algn="ctr" indent="0" marL="0">
              <a:buNone/>
            </a:pPr>
            <a:r>
              <a:rPr lang="en-US" sz="1100" i="1" dirty="0">
                <a:solidFill>
                  <a:srgbClr val="6B6577"/>
                </a:solidFill>
                <a:latin typeface="Open Sans" pitchFamily="34" charset="0"/>
                <a:ea typeface="Open Sans" pitchFamily="34" charset="-122"/>
                <a:cs typeface="Open Sans" pitchFamily="34" charset="-120"/>
              </a:rPr>
              <a:t>Messwerte: M5 Pro / 24 GB, synthetische Lasten · Cloud-Latenzen auf synthetischen Daten · in unserem Prototyp gemessen, keine garantierten Werte.</a:t>
            </a:r>
            <a:endParaRPr lang="en-US" sz="1100" dirty="0"/>
          </a:p>
        </p:txBody>
      </p:sp>
      <p:sp>
        <p:nvSpPr>
          <p:cNvPr id="25" name="Slide Number Placeholder 0"/>
          <p:cNvSpPr>
            <a:spLocks noGrp="1"/>
          </p:cNvSpPr>
          <p:nvPr>
            <p:ph type="sldNum" sz="quarter" idx="4294967295"/>
          </p:nvPr>
        </p:nvSpPr>
        <p:spPr>
          <a:xfrm>
            <a:off x="11338560" y="6446520"/>
            <a:ext cx="384048"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577"/>
                </a:solidFill>
                <a:latin typeface="Open Sans"/>
                <a:ea typeface="Open Sans"/>
                <a:cs typeface="Open Sans"/>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822960" y="640080"/>
            <a:ext cx="7315200" cy="320040"/>
          </a:xfrm>
          <a:prstGeom prst="rect">
            <a:avLst/>
          </a:prstGeom>
          <a:noFill/>
          <a:ln/>
        </p:spPr>
        <p:txBody>
          <a:bodyPr wrap="square" lIns="0" tIns="0" rIns="0" bIns="0" rtlCol="0" anchor="ctr"/>
          <a:lstStyle/>
          <a:p>
            <a:pPr indent="0" marL="0">
              <a:buNone/>
            </a:pPr>
            <a:r>
              <a:rPr lang="en-US" sz="1250" b="1" spc="300" kern="0" dirty="0">
                <a:solidFill>
                  <a:srgbClr val="CBB6F6"/>
                </a:solidFill>
                <a:latin typeface="Open Sans" pitchFamily="34" charset="0"/>
                <a:ea typeface="Open Sans" pitchFamily="34" charset="-122"/>
                <a:cs typeface="Open Sans" pitchFamily="34" charset="-120"/>
              </a:rPr>
              <a:t>AI-REFLECTION · 2 MINUTEN</a:t>
            </a:r>
            <a:endParaRPr lang="en-US" sz="1250" dirty="0"/>
          </a:p>
        </p:txBody>
      </p:sp>
      <p:sp>
        <p:nvSpPr>
          <p:cNvPr id="3" name="Text 1"/>
          <p:cNvSpPr txBox="1"/>
          <p:nvPr/>
        </p:nvSpPr>
        <p:spPr>
          <a:xfrm>
            <a:off x="822960" y="1005840"/>
            <a:ext cx="10515600" cy="640080"/>
          </a:xfrm>
          <a:prstGeom prst="rect">
            <a:avLst/>
          </a:prstGeom>
          <a:noFill/>
          <a:ln/>
        </p:spPr>
        <p:txBody>
          <a:bodyPr wrap="square" lIns="0" tIns="0" rIns="0" bIns="0" rtlCol="0" anchor="ctr"/>
          <a:lstStyle/>
          <a:p>
            <a:pPr indent="0" marL="0">
              <a:buNone/>
            </a:pPr>
            <a:r>
              <a:rPr lang="en-US" sz="2800" b="1" dirty="0">
                <a:solidFill>
                  <a:srgbClr val="FFFFFF"/>
                </a:solidFill>
                <a:latin typeface="Open Sans" pitchFamily="34" charset="0"/>
                <a:ea typeface="Open Sans" pitchFamily="34" charset="-122"/>
                <a:cs typeface="Open Sans" pitchFamily="34" charset="-120"/>
              </a:rPr>
              <a:t>Wo KI half — und wo wir korrigieren mussten</a:t>
            </a:r>
            <a:endParaRPr lang="en-US" sz="2800" dirty="0"/>
          </a:p>
        </p:txBody>
      </p:sp>
      <p:sp>
        <p:nvSpPr>
          <p:cNvPr id="4" name="Shape 2"/>
          <p:cNvSpPr/>
          <p:nvPr/>
        </p:nvSpPr>
        <p:spPr>
          <a:xfrm>
            <a:off x="822960" y="1874520"/>
            <a:ext cx="5349240" cy="3200400"/>
          </a:xfrm>
          <a:prstGeom prst="roundRect">
            <a:avLst>
              <a:gd name="adj" fmla="val 4000"/>
            </a:avLst>
          </a:prstGeom>
          <a:solidFill>
            <a:srgbClr val="221040"/>
          </a:solidFill>
          <a:ln/>
        </p:spPr>
      </p:sp>
      <p:sp>
        <p:nvSpPr>
          <p:cNvPr id="5" name="Text 3"/>
          <p:cNvSpPr txBox="1"/>
          <p:nvPr/>
        </p:nvSpPr>
        <p:spPr>
          <a:xfrm>
            <a:off x="1170432" y="2167128"/>
            <a:ext cx="4654296" cy="365760"/>
          </a:xfrm>
          <a:prstGeom prst="rect">
            <a:avLst/>
          </a:prstGeom>
          <a:noFill/>
          <a:ln/>
        </p:spPr>
        <p:txBody>
          <a:bodyPr wrap="square" lIns="0" tIns="0" rIns="0" bIns="0" rtlCol="0" anchor="ctr"/>
          <a:lstStyle/>
          <a:p>
            <a:pPr indent="0" marL="0">
              <a:buNone/>
            </a:pPr>
            <a:r>
              <a:rPr lang="en-US" sz="1550" b="1" dirty="0">
                <a:solidFill>
                  <a:srgbClr val="CBB6F6"/>
                </a:solidFill>
                <a:latin typeface="Open Sans" pitchFamily="34" charset="0"/>
                <a:ea typeface="Open Sans" pitchFamily="34" charset="-122"/>
                <a:cs typeface="Open Sans" pitchFamily="34" charset="-120"/>
              </a:rPr>
              <a:t>Beschleunigt</a:t>
            </a:r>
            <a:endParaRPr lang="en-US" sz="1550" dirty="0"/>
          </a:p>
        </p:txBody>
      </p:sp>
      <p:sp>
        <p:nvSpPr>
          <p:cNvPr id="6" name="Text 4"/>
          <p:cNvSpPr txBox="1"/>
          <p:nvPr/>
        </p:nvSpPr>
        <p:spPr>
          <a:xfrm>
            <a:off x="1170432" y="2697480"/>
            <a:ext cx="4709160" cy="2103120"/>
          </a:xfrm>
          <a:prstGeom prst="rect">
            <a:avLst/>
          </a:prstGeom>
          <a:noFill/>
          <a:ln/>
        </p:spPr>
        <p:txBody>
          <a:bodyPr wrap="square" lIns="0" tIns="0" rIns="0" bIns="0" rtlCol="0" anchor="t"/>
          <a:lstStyle/>
          <a:p>
            <a:pPr marL="152400" indent="-152400">
              <a:spcAft>
                <a:spcPts val="1100"/>
              </a:spcAft>
              <a:buSzPct val="100000"/>
              <a:buChar char="•"/>
            </a:pPr>
            <a:r>
              <a:rPr lang="en-US" sz="1300" dirty="0">
                <a:solidFill>
                  <a:srgbClr val="FFFFFF"/>
                </a:solidFill>
                <a:latin typeface="Open Sans" pitchFamily="34" charset="0"/>
                <a:ea typeface="Open Sans" pitchFamily="34" charset="-122"/>
                <a:cs typeface="Open Sans" pitchFamily="34" charset="-120"/>
              </a:rPr>
              <a:t>Stack &amp; Pipelines: Compose-Setup, Audio-, ASR- und RAG-Pfad</a:t>
            </a:r>
            <a:endParaRPr lang="en-US" sz="1300" dirty="0"/>
          </a:p>
          <a:p>
            <a:pPr marL="152400" indent="-152400">
              <a:spcAft>
                <a:spcPts val="1100"/>
              </a:spcAft>
              <a:buSzPct val="100000"/>
              <a:buChar char="•"/>
            </a:pPr>
            <a:r>
              <a:rPr lang="en-US" sz="1300" dirty="0">
                <a:solidFill>
                  <a:srgbClr val="FFFFFF"/>
                </a:solidFill>
                <a:latin typeface="Open Sans" pitchFamily="34" charset="0"/>
                <a:ea typeface="Open Sans" pitchFamily="34" charset="-122"/>
                <a:cs typeface="Open Sans" pitchFamily="34" charset="-120"/>
              </a:rPr>
              <a:t>Agenten: Fact-Check, Frage-Simulator, Review-Fallback</a:t>
            </a:r>
            <a:endParaRPr lang="en-US" sz="1300" dirty="0"/>
          </a:p>
          <a:p>
            <a:pPr marL="152400" indent="-152400">
              <a:spcAft>
                <a:spcPts val="1100"/>
              </a:spcAft>
              <a:buSzPct val="100000"/>
              <a:buChar char="•"/>
            </a:pPr>
            <a:r>
              <a:rPr lang="en-US" sz="1300" dirty="0">
                <a:solidFill>
                  <a:srgbClr val="FFFFFF"/>
                </a:solidFill>
                <a:latin typeface="Open Sans" pitchFamily="34" charset="0"/>
                <a:ea typeface="Open Sans" pitchFamily="34" charset="-122"/>
                <a:cs typeface="Open Sans" pitchFamily="34" charset="-120"/>
              </a:rPr>
              <a:t>Tests &amp; Dokumentation — diese Folien eingeschlossen</a:t>
            </a:r>
            <a:endParaRPr lang="en-US" sz="1300" dirty="0"/>
          </a:p>
        </p:txBody>
      </p:sp>
      <p:sp>
        <p:nvSpPr>
          <p:cNvPr id="7" name="Shape 5"/>
          <p:cNvSpPr/>
          <p:nvPr/>
        </p:nvSpPr>
        <p:spPr>
          <a:xfrm>
            <a:off x="6382512" y="1874520"/>
            <a:ext cx="5349240" cy="3200400"/>
          </a:xfrm>
          <a:prstGeom prst="roundRect">
            <a:avLst>
              <a:gd name="adj" fmla="val 4000"/>
            </a:avLst>
          </a:prstGeom>
          <a:solidFill>
            <a:srgbClr val="221040"/>
          </a:solidFill>
          <a:ln/>
        </p:spPr>
      </p:sp>
      <p:sp>
        <p:nvSpPr>
          <p:cNvPr id="8" name="Text 6"/>
          <p:cNvSpPr txBox="1"/>
          <p:nvPr/>
        </p:nvSpPr>
        <p:spPr>
          <a:xfrm>
            <a:off x="6729984" y="2167128"/>
            <a:ext cx="4654296" cy="365760"/>
          </a:xfrm>
          <a:prstGeom prst="rect">
            <a:avLst/>
          </a:prstGeom>
          <a:noFill/>
          <a:ln/>
        </p:spPr>
        <p:txBody>
          <a:bodyPr wrap="square" lIns="0" tIns="0" rIns="0" bIns="0" rtlCol="0" anchor="ctr"/>
          <a:lstStyle/>
          <a:p>
            <a:pPr indent="0" marL="0">
              <a:buNone/>
            </a:pPr>
            <a:r>
              <a:rPr lang="en-US" sz="1550" b="1" dirty="0">
                <a:solidFill>
                  <a:srgbClr val="CBB6F6"/>
                </a:solidFill>
                <a:latin typeface="Open Sans" pitchFamily="34" charset="0"/>
                <a:ea typeface="Open Sans" pitchFamily="34" charset="-122"/>
                <a:cs typeface="Open Sans" pitchFamily="34" charset="-120"/>
              </a:rPr>
              <a:t>Falsch gelegen → korrigiert</a:t>
            </a:r>
            <a:endParaRPr lang="en-US" sz="1550" dirty="0"/>
          </a:p>
        </p:txBody>
      </p:sp>
      <p:sp>
        <p:nvSpPr>
          <p:cNvPr id="9" name="Text 7"/>
          <p:cNvSpPr txBox="1"/>
          <p:nvPr/>
        </p:nvSpPr>
        <p:spPr>
          <a:xfrm>
            <a:off x="6729984" y="2697480"/>
            <a:ext cx="4709160" cy="2103120"/>
          </a:xfrm>
          <a:prstGeom prst="rect">
            <a:avLst/>
          </a:prstGeom>
          <a:noFill/>
          <a:ln/>
        </p:spPr>
        <p:txBody>
          <a:bodyPr wrap="square" lIns="0" tIns="0" rIns="0" bIns="0" rtlCol="0" anchor="t"/>
          <a:lstStyle/>
          <a:p>
            <a:pPr marL="152400" indent="-152400">
              <a:spcAft>
                <a:spcPts val="1000"/>
              </a:spcAft>
              <a:buSzPct val="100000"/>
              <a:buChar char="•"/>
            </a:pPr>
            <a:r>
              <a:rPr lang="en-US" sz="1300" dirty="0">
                <a:solidFill>
                  <a:srgbClr val="FFFFFF"/>
                </a:solidFill>
                <a:latin typeface="Open Sans" pitchFamily="34" charset="0"/>
                <a:ea typeface="Open Sans" pitchFamily="34" charset="-122"/>
                <a:cs typeface="Open Sans" pitchFamily="34" charset="-120"/>
              </a:rPr>
              <a:t>Ollama träge &amp; umständlich → Wechsel zu Gemini</a:t>
            </a:r>
            <a:endParaRPr lang="en-US" sz="1300" dirty="0"/>
          </a:p>
          <a:p>
            <a:pPr marL="152400" indent="-152400">
              <a:spcAft>
                <a:spcPts val="1000"/>
              </a:spcAft>
              <a:buSzPct val="100000"/>
              <a:buChar char="•"/>
            </a:pPr>
            <a:r>
              <a:rPr lang="en-US" sz="1300" dirty="0">
                <a:solidFill>
                  <a:srgbClr val="FFFFFF"/>
                </a:solidFill>
                <a:latin typeface="Open Sans" pitchFamily="34" charset="0"/>
                <a:ea typeface="Open Sans" pitchFamily="34" charset="-122"/>
                <a:cs typeface="Open Sans" pitchFamily="34" charset="-120"/>
              </a:rPr>
              <a:t>Falsches Urteil trotz gültigem Zitat → Prompt geschärft</a:t>
            </a:r>
            <a:endParaRPr lang="en-US" sz="1300" dirty="0"/>
          </a:p>
          <a:p>
            <a:pPr marL="152400" indent="-152400">
              <a:spcAft>
                <a:spcPts val="1000"/>
              </a:spcAft>
              <a:buSzPct val="100000"/>
              <a:buChar char="•"/>
            </a:pPr>
            <a:r>
              <a:rPr lang="en-US" sz="1300" dirty="0">
                <a:solidFill>
                  <a:srgbClr val="FFFFFF"/>
                </a:solidFill>
                <a:latin typeface="Open Sans" pitchFamily="34" charset="0"/>
                <a:ea typeface="Open Sans" pitchFamily="34" charset="-122"/>
                <a:cs typeface="Open Sans" pitchFamily="34" charset="-120"/>
              </a:rPr>
              <a:t>Wikipedia 403 → User-Agent mit Kontaktangabe</a:t>
            </a:r>
            <a:endParaRPr lang="en-US" sz="1300" dirty="0"/>
          </a:p>
          <a:p>
            <a:pPr marL="152400" indent="-152400">
              <a:spcAft>
                <a:spcPts val="1000"/>
              </a:spcAft>
              <a:buSzPct val="100000"/>
              <a:buChar char="•"/>
            </a:pPr>
            <a:r>
              <a:rPr lang="en-US" sz="1300" dirty="0">
                <a:solidFill>
                  <a:srgbClr val="FFFFFF"/>
                </a:solidFill>
                <a:latin typeface="Open Sans" pitchFamily="34" charset="0"/>
                <a:ea typeface="Open Sans" pitchFamily="34" charset="-122"/>
                <a:cs typeface="Open Sans" pitchFamily="34" charset="-120"/>
              </a:rPr>
              <a:t>Zu träge Gestenregel → kalibriert am echten Kameratest</a:t>
            </a:r>
            <a:endParaRPr lang="en-US" sz="1300" dirty="0"/>
          </a:p>
        </p:txBody>
      </p:sp>
      <p:sp>
        <p:nvSpPr>
          <p:cNvPr id="10" name="Text 8"/>
          <p:cNvSpPr txBox="1"/>
          <p:nvPr/>
        </p:nvSpPr>
        <p:spPr>
          <a:xfrm>
            <a:off x="822960" y="5394960"/>
            <a:ext cx="10881360" cy="548640"/>
          </a:xfrm>
          <a:prstGeom prst="rect">
            <a:avLst/>
          </a:prstGeom>
          <a:noFill/>
          <a:ln/>
        </p:spPr>
        <p:txBody>
          <a:bodyPr wrap="square" lIns="0" tIns="0" rIns="0" bIns="0" rtlCol="0" anchor="ctr"/>
          <a:lstStyle/>
          <a:p>
            <a:pPr algn="ctr" indent="0" marL="0">
              <a:buNone/>
            </a:pPr>
            <a:r>
              <a:rPr lang="en-US" sz="1650" b="1" i="1" dirty="0">
                <a:solidFill>
                  <a:srgbClr val="FFFFFF"/>
                </a:solidFill>
                <a:latin typeface="Open Sans" pitchFamily="34" charset="0"/>
                <a:ea typeface="Open Sans" pitchFamily="34" charset="-122"/>
                <a:cs typeface="Open Sans" pitchFamily="34" charset="-120"/>
              </a:rPr>
              <a:t>„Gültiges JSON und gültiges Zitat beweisen kein richtiges Urteil.“</a:t>
            </a:r>
            <a:pPr algn="ctr" indent="0" marL="0">
              <a:buNone/>
            </a:pPr>
            <a:r>
              <a:rPr lang="en-US" sz="1650" dirty="0">
                <a:solidFill>
                  <a:srgbClr val="CBB6F6"/>
                </a:solidFill>
                <a:latin typeface="Open Sans" pitchFamily="34" charset="0"/>
                <a:ea typeface="Open Sans" pitchFamily="34" charset="-122"/>
                <a:cs typeface="Open Sans" pitchFamily="34" charset="-120"/>
              </a:rPr>
              <a:t>  Deshalb verifiziert Code jedes Zitat.</a:t>
            </a:r>
            <a:endParaRPr lang="en-US" sz="16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5273345" y="731520"/>
            <a:ext cx="1645920" cy="1645920"/>
          </a:xfrm>
          <a:prstGeom prst="roundRect">
            <a:avLst>
              <a:gd name="adj" fmla="val 8889"/>
            </a:avLst>
          </a:prstGeom>
          <a:solidFill>
            <a:srgbClr val="FFFFFF"/>
          </a:solidFill>
          <a:ln/>
        </p:spPr>
      </p:sp>
      <p:pic>
        <p:nvPicPr>
          <p:cNvPr id="3" name="Image 0" descr="/home/patrice/hackathon_fulda/hackathon-fulda/frontend/public/brand/418-pitch-practice.png">    </p:cNvPr>
          <p:cNvPicPr>
            <a:picLocks noChangeAspect="1"/>
          </p:cNvPicPr>
          <p:nvPr/>
        </p:nvPicPr>
        <p:blipFill>
          <a:blip r:embed="rId1"/>
          <a:stretch>
            <a:fillRect/>
          </a:stretch>
        </p:blipFill>
        <p:spPr>
          <a:xfrm>
            <a:off x="5401361" y="859536"/>
            <a:ext cx="1389888" cy="1389888"/>
          </a:xfrm>
          <a:prstGeom prst="rect">
            <a:avLst/>
          </a:prstGeom>
        </p:spPr>
      </p:pic>
      <p:sp>
        <p:nvSpPr>
          <p:cNvPr id="4" name="Text 1"/>
          <p:cNvSpPr txBox="1"/>
          <p:nvPr/>
        </p:nvSpPr>
        <p:spPr>
          <a:xfrm>
            <a:off x="457200" y="2788920"/>
            <a:ext cx="11277295" cy="868680"/>
          </a:xfrm>
          <a:prstGeom prst="rect">
            <a:avLst/>
          </a:prstGeom>
          <a:noFill/>
          <a:ln/>
        </p:spPr>
        <p:txBody>
          <a:bodyPr wrap="square" lIns="0" tIns="0" rIns="0" bIns="0" rtlCol="0" anchor="ctr"/>
          <a:lstStyle/>
          <a:p>
            <a:pPr algn="ctr" indent="0" marL="0">
              <a:buNone/>
            </a:pPr>
            <a:r>
              <a:rPr lang="en-US" sz="4000" b="1" dirty="0">
                <a:solidFill>
                  <a:srgbClr val="FFFFFF"/>
                </a:solidFill>
                <a:latin typeface="Open Sans" pitchFamily="34" charset="0"/>
                <a:ea typeface="Open Sans" pitchFamily="34" charset="-122"/>
                <a:cs typeface="Open Sans" pitchFamily="34" charset="-120"/>
              </a:rPr>
              <a:t>Übe den Vortrag, nicht die Folien.</a:t>
            </a:r>
            <a:endParaRPr lang="en-US" sz="4000" dirty="0"/>
          </a:p>
        </p:txBody>
      </p:sp>
      <p:sp>
        <p:nvSpPr>
          <p:cNvPr id="5" name="Text 2"/>
          <p:cNvSpPr txBox="1"/>
          <p:nvPr/>
        </p:nvSpPr>
        <p:spPr>
          <a:xfrm>
            <a:off x="457200" y="3794760"/>
            <a:ext cx="11277295" cy="457200"/>
          </a:xfrm>
          <a:prstGeom prst="rect">
            <a:avLst/>
          </a:prstGeom>
          <a:noFill/>
          <a:ln/>
        </p:spPr>
        <p:txBody>
          <a:bodyPr wrap="square" lIns="0" tIns="0" rIns="0" bIns="0" rtlCol="0" anchor="ctr"/>
          <a:lstStyle/>
          <a:p>
            <a:pPr algn="ctr" indent="0" marL="0">
              <a:buNone/>
            </a:pPr>
            <a:r>
              <a:rPr lang="en-US" sz="1800" dirty="0">
                <a:solidFill>
                  <a:srgbClr val="CBB6F6"/>
                </a:solidFill>
                <a:latin typeface="Open Sans" pitchFamily="34" charset="0"/>
                <a:ea typeface="Open Sans" pitchFamily="34" charset="-122"/>
                <a:cs typeface="Open Sans" pitchFamily="34" charset="-120"/>
              </a:rPr>
              <a:t>Prototyp läuft lokal: localhost:3000 — kein Login, keine Cloud-Pflicht.</a:t>
            </a:r>
            <a:endParaRPr lang="en-US" sz="1800" dirty="0"/>
          </a:p>
        </p:txBody>
      </p:sp>
      <p:sp>
        <p:nvSpPr>
          <p:cNvPr id="6" name="Text 3"/>
          <p:cNvSpPr txBox="1"/>
          <p:nvPr/>
        </p:nvSpPr>
        <p:spPr>
          <a:xfrm>
            <a:off x="457200" y="4434840"/>
            <a:ext cx="11277295" cy="411480"/>
          </a:xfrm>
          <a:prstGeom prst="rect">
            <a:avLst/>
          </a:prstGeom>
          <a:noFill/>
          <a:ln/>
        </p:spPr>
        <p:txBody>
          <a:bodyPr wrap="square" lIns="0" tIns="0" rIns="0" bIns="0" rtlCol="0" anchor="ctr"/>
          <a:lstStyle/>
          <a:p>
            <a:pPr algn="ctr" indent="0" marL="0">
              <a:buNone/>
            </a:pPr>
            <a:r>
              <a:rPr lang="en-US" sz="1400" dirty="0">
                <a:solidFill>
                  <a:srgbClr val="8E82B8"/>
                </a:solidFill>
                <a:latin typeface="Open Sans" pitchFamily="34" charset="0"/>
                <a:ea typeface="Open Sans" pitchFamily="34" charset="-122"/>
                <a:cs typeface="Open Sans" pitchFamily="34" charset="-120"/>
              </a:rPr>
              <a:t>Produktreview willkommen — zeigen Sie uns drei Minuten Ihrer Zeit, wir zeigen Ihnen jeden Moment zurück.</a:t>
            </a:r>
            <a:endParaRPr lang="en-US" sz="1400" dirty="0"/>
          </a:p>
        </p:txBody>
      </p:sp>
      <p:sp>
        <p:nvSpPr>
          <p:cNvPr id="7" name="Text 4"/>
          <p:cNvSpPr txBox="1"/>
          <p:nvPr/>
        </p:nvSpPr>
        <p:spPr>
          <a:xfrm>
            <a:off x="457200" y="5852160"/>
            <a:ext cx="11277295" cy="320040"/>
          </a:xfrm>
          <a:prstGeom prst="rect">
            <a:avLst/>
          </a:prstGeom>
          <a:noFill/>
          <a:ln/>
        </p:spPr>
        <p:txBody>
          <a:bodyPr wrap="square" lIns="0" tIns="0" rIns="0" bIns="0" rtlCol="0" anchor="ctr"/>
          <a:lstStyle/>
          <a:p>
            <a:pPr algn="ctr" indent="0" marL="0">
              <a:buNone/>
            </a:pPr>
            <a:r>
              <a:rPr lang="en-US" sz="1300" dirty="0">
                <a:solidFill>
                  <a:srgbClr val="8E82B8"/>
                </a:solidFill>
                <a:latin typeface="Open Sans" pitchFamily="34" charset="0"/>
                <a:ea typeface="Open Sans" pitchFamily="34" charset="-122"/>
                <a:cs typeface="Open Sans" pitchFamily="34" charset="-120"/>
              </a:rPr>
              <a:t>Team 418 · 8. Hackathon Fulda · Future Education 2026</a:t>
            </a:r>
            <a:endParaRPr lang="en-US" sz="1300" dirty="0"/>
          </a:p>
        </p:txBody>
      </p:sp>
    </p:spTree>
  </p:cSld>
  <p:clrMapOvr>
    <a:masterClrMapping/>
  </p:clrMapOvr>
</p:sld>
</file>

<file path=ppt/theme/theme1.xml><?xml version="1.0" encoding="utf-8"?>
<a:theme xmlns:a="http://schemas.openxmlformats.org/drawingml/2006/main" name="418 Pitch Practice">
  <a:themeElements>
    <a:clrScheme name="418 Pitch Practice">
      <a:dk1>
        <a:srgbClr val="17111F"/>
      </a:dk1>
      <a:lt1>
        <a:srgbClr val="FFFFFF"/>
      </a:lt1>
      <a:dk2>
        <a:srgbClr val="6B6577"/>
      </a:dk2>
      <a:lt2>
        <a:srgbClr val="F4F0FC"/>
      </a:lt2>
      <a:accent1>
        <a:srgbClr val="3803BF"/>
      </a:accent1>
      <a:accent2>
        <a:srgbClr val="6C3CE0"/>
      </a:accent2>
      <a:accent3>
        <a:srgbClr val="CBB6F6"/>
      </a:accent3>
      <a:accent4>
        <a:srgbClr val="150826"/>
      </a:accent4>
      <a:accent5>
        <a:srgbClr val="E7DEF8"/>
      </a:accent5>
      <a:accent6>
        <a:srgbClr val="8E82B8"/>
      </a:accent6>
      <a:hlink>
        <a:srgbClr val="3803BF"/>
      </a:hlink>
      <a:folHlink>
        <a:srgbClr val="3803BF"/>
      </a:folHlink>
    </a:clrScheme>
    <a:fontScheme name="418 Pitch Practice">
      <a:majorFont>
        <a:latin typeface="Open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Open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418 presentation studio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Pitch Practice — Live-Präsentationstrainer</dc:title>
  <dc:subject>8. Hackathon Fulda 2026 — Future Education</dc:subject>
  <dc:creator>Team 418</dc:creator>
  <cp:lastModifiedBy>Team 418</cp:lastModifiedBy>
  <cp:revision>1</cp:revision>
  <dcterms:created xsi:type="dcterms:W3CDTF">2026-10-24T21:11:00Z</dcterms:created>
  <dcterms:modified xsi:type="dcterms:W3CDTF">2026-10-24T21:11:00Z</dcterms:modified>
</cp:coreProperties>
</file>