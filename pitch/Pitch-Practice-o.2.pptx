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Hook. „Nur 40,2 Prozent der 8- bis 18-Jährigen in UK sind sicher, vor Publikum zu sprechen. Das ist eine Selbsteinschätzung, keine Diagnose — aber es zeigt: Präsentieren muss man üben. Wir zeigen in drei Minuten, wie Feedback an der richtigen Stelle sitzt.“ Quelle: National Literacy Trust, Children and young people's speaking and listening in 2025, https://literacytrust.org.uk/research-services/research-reports/children-and-young-peoples-speaking-and-listening-in-2025/ — im Original: 40.2 % are confident speaking in front of an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0:15–0:30 · Problem. „Die eigene Runde nickt. Kritik hängt an keiner Minute. Quellen prüft niemand. Rückfragen kommen erst in der Prüfung. Genau diese vier Lücken schließt Pitch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0:30–0:45 · Lösung. „Ein Trainer im Browser: Pose, Gestik und Stimme live und lokal. Transkript und Quellencheck. Alles auf einer Timeline — ein Klick springt zur Stelle. Danach fragt der Agent 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0:45–2:45 · Live-Demo. Aufnahme starten (60 s), stoppen, ins Review. Eine Stelle öffnen, zur Sekunde springen, drei Kriterien zeigen. Dann eine Aussage gegen die Quelle prüfen und eine Rückfrage beantworten. Fallback: vorbereiteten Take öffnen und klar sagen: „Das ist ein vorbereiteter Take.“ Nicht als live ausgeben. Wenn die Zeit knapp wird: Quellencheck und Fragebot auf je eine Aktion kürzen. 2:45–3:00 · Übergang: „Das war das Produkt. Jetzt zwei Minuten darüber, wie KI im Produkt und in der Entwicklung geholfen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3:00–3:40 · AI-Reflection 1/2. „KI steckt an fünf Stellen im Produkt: MediaPipe für Pose und Hände, Whisper oder Deepgram für das Transkript, Embeddings für die Quellen, Gemini für Urteil und Fragen, ElevenLabs für den gesprochenen Dialog. Deepgram und ElevenLabs sind optional. Das Prinzip: Inhaltliche Ausgaben werden geprüft — Zitat-Match, Zahlen-Gate, offene Unsicherheit. Ohne Evidenz bleibt der Score offen. Keine Note, keine Emotionsanalyse.“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3:40–4:45 · AI-Reflection 2/2. „In der Entwicklung hat KI uns bei Recherche, Code und Tests beschleunigt: Codex und Claude Code für Architektur, Pipelines und Testentwürfe; dazu 418 Backend-, 298 Frontend-Tests und 130 Browser-Fälle. Aber sie lag auch falsch: Ein vorgeschlagener Docker-Tag existierte nicht — wir haben die Verfügbarkeit geprüft und korrigiert. Und ein gültiges Zitat führte zu einem falschen Urteil — seitdem sind Prompt und Code-Gates getrennt. Gültiges JSON und gültiges Zitat beweisen kein richtiges Urteil.“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4:45–5:00 · Schluss. „Satz, Quelle, Sekunde, Frage: Das ist der Loop, den wir zeigen wollten. Der Prototyp läuft lokal, ohne Login. Danke —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A20"/>
        </a:solidFill>
      </p:bgPr>
    </p:bg>
    <p:spTree>
      <p:nvGrpSpPr>
        <p:cNvPr id="1" name=""/>
        <p:cNvGrpSpPr/>
        <p:nvPr/>
      </p:nvGrpSpPr>
      <p:grpSpPr>
        <a:xfrm>
          <a:off x="0" y="0"/>
          <a:ext cx="0" cy="0"/>
          <a:chOff x="0" y="0"/>
          <a:chExt cx="0" cy="0"/>
        </a:xfrm>
      </p:grpSpPr>
      <p:pic>
        <p:nvPicPr>
          <p:cNvPr id="2" name="Image 0" descr="418 Pitch Practice Logo">    </p:cNvPr>
          <p:cNvPicPr>
            <a:picLocks noChangeAspect="1"/>
          </p:cNvPicPr>
          <p:nvPr/>
        </p:nvPicPr>
        <p:blipFill>
          <a:blip r:embed="rId1"/>
          <a:stretch>
            <a:fillRect/>
          </a:stretch>
        </p:blipFill>
        <p:spPr>
          <a:xfrm>
            <a:off x="822960" y="457200"/>
            <a:ext cx="868680" cy="868680"/>
          </a:xfrm>
          <a:prstGeom prst="rect">
            <a:avLst/>
          </a:prstGeom>
        </p:spPr>
      </p:pic>
      <p:sp>
        <p:nvSpPr>
          <p:cNvPr id="3" name="Text 0"/>
          <p:cNvSpPr txBox="1"/>
          <p:nvPr/>
        </p:nvSpPr>
        <p:spPr>
          <a:xfrm>
            <a:off x="1783080" y="658368"/>
            <a:ext cx="7772400" cy="274320"/>
          </a:xfrm>
          <a:prstGeom prst="rect">
            <a:avLst/>
          </a:prstGeom>
          <a:noFill/>
          <a:ln/>
        </p:spPr>
        <p:txBody>
          <a:bodyPr wrap="square" lIns="0" tIns="0" rIns="0" bIns="0" rtlCol="0" anchor="ctr"/>
          <a:lstStyle/>
          <a:p>
            <a:pPr indent="0" marL="0">
              <a:buNone/>
            </a:pPr>
            <a:r>
              <a:rPr lang="en-US" sz="1100" b="1" spc="200" kern="0" dirty="0">
                <a:solidFill>
                  <a:srgbClr val="CBB6F6"/>
                </a:solidFill>
                <a:latin typeface="Aptos" pitchFamily="34" charset="0"/>
                <a:ea typeface="Aptos" pitchFamily="34" charset="-122"/>
                <a:cs typeface="Aptos" pitchFamily="34" charset="-120"/>
              </a:rPr>
              <a:t>8. HACKATHON FULDA · FUTURE EDUCATION</a:t>
            </a:r>
            <a:endParaRPr lang="en-US" sz="1100" dirty="0"/>
          </a:p>
        </p:txBody>
      </p:sp>
      <p:sp>
        <p:nvSpPr>
          <p:cNvPr id="4" name="Text 1"/>
          <p:cNvSpPr txBox="1"/>
          <p:nvPr/>
        </p:nvSpPr>
        <p:spPr>
          <a:xfrm>
            <a:off x="822960" y="1371600"/>
            <a:ext cx="10607040" cy="868680"/>
          </a:xfrm>
          <a:prstGeom prst="rect">
            <a:avLst/>
          </a:prstGeom>
          <a:noFill/>
          <a:ln/>
        </p:spPr>
        <p:txBody>
          <a:bodyPr wrap="square" lIns="0" tIns="0" rIns="0" bIns="0" rtlCol="0" anchor="ctr"/>
          <a:lstStyle/>
          <a:p>
            <a:pPr indent="0" marL="0">
              <a:buNone/>
            </a:pPr>
            <a:r>
              <a:rPr lang="en-US" sz="5400" b="1" dirty="0">
                <a:solidFill>
                  <a:srgbClr val="FFFFFF"/>
                </a:solidFill>
                <a:latin typeface="Aptos" pitchFamily="34" charset="0"/>
                <a:ea typeface="Aptos" pitchFamily="34" charset="-122"/>
                <a:cs typeface="Aptos" pitchFamily="34" charset="-120"/>
              </a:rPr>
              <a:t>Pitch Practice</a:t>
            </a:r>
            <a:endParaRPr lang="en-US" sz="5400" dirty="0"/>
          </a:p>
        </p:txBody>
      </p:sp>
      <p:sp>
        <p:nvSpPr>
          <p:cNvPr id="5" name="Text 2"/>
          <p:cNvSpPr txBox="1"/>
          <p:nvPr/>
        </p:nvSpPr>
        <p:spPr>
          <a:xfrm>
            <a:off x="822960" y="2267712"/>
            <a:ext cx="10607040" cy="457200"/>
          </a:xfrm>
          <a:prstGeom prst="rect">
            <a:avLst/>
          </a:prstGeom>
          <a:noFill/>
          <a:ln/>
        </p:spPr>
        <p:txBody>
          <a:bodyPr wrap="square" lIns="0" tIns="0" rIns="0" bIns="0" rtlCol="0" anchor="ctr"/>
          <a:lstStyle/>
          <a:p>
            <a:pPr indent="0" marL="0">
              <a:buNone/>
            </a:pPr>
            <a:r>
              <a:rPr lang="en-US" sz="2400" dirty="0">
                <a:solidFill>
                  <a:srgbClr val="CBB6F6"/>
                </a:solidFill>
                <a:latin typeface="Aptos" pitchFamily="34" charset="0"/>
                <a:ea typeface="Aptos" pitchFamily="34" charset="-122"/>
                <a:cs typeface="Aptos" pitchFamily="34" charset="-120"/>
              </a:rPr>
              <a:t>Der Live-Präsentationstrainer</a:t>
            </a:r>
            <a:endParaRPr lang="en-US" sz="2400" dirty="0"/>
          </a:p>
        </p:txBody>
      </p:sp>
      <p:sp>
        <p:nvSpPr>
          <p:cNvPr id="6" name="Text 3"/>
          <p:cNvSpPr txBox="1"/>
          <p:nvPr/>
        </p:nvSpPr>
        <p:spPr>
          <a:xfrm>
            <a:off x="822960" y="2852928"/>
            <a:ext cx="10424160" cy="411480"/>
          </a:xfrm>
          <a:prstGeom prst="rect">
            <a:avLst/>
          </a:prstGeom>
          <a:noFill/>
          <a:ln/>
        </p:spPr>
        <p:txBody>
          <a:bodyPr wrap="square" lIns="0" tIns="0" rIns="0" bIns="0" rtlCol="0" anchor="ctr"/>
          <a:lstStyle/>
          <a:p>
            <a:pPr indent="0" marL="0">
              <a:buNone/>
            </a:pPr>
            <a:r>
              <a:rPr lang="en-US" sz="1700" dirty="0">
                <a:solidFill>
                  <a:srgbClr val="D8CFF0"/>
                </a:solidFill>
                <a:latin typeface="Aptos" pitchFamily="34" charset="0"/>
                <a:ea typeface="Aptos" pitchFamily="34" charset="-122"/>
                <a:cs typeface="Aptos" pitchFamily="34" charset="-120"/>
              </a:rPr>
              <a:t>Auftritt, Stimme und Inhalt — eine Timeline, ein Klick zur Stelle.</a:t>
            </a:r>
            <a:endParaRPr lang="en-US" sz="1700" dirty="0"/>
          </a:p>
        </p:txBody>
      </p:sp>
      <p:sp>
        <p:nvSpPr>
          <p:cNvPr id="7" name="Shape 4"/>
          <p:cNvSpPr/>
          <p:nvPr/>
        </p:nvSpPr>
        <p:spPr>
          <a:xfrm>
            <a:off x="822960" y="3703320"/>
            <a:ext cx="6693408" cy="2057400"/>
          </a:xfrm>
          <a:prstGeom prst="roundRect">
            <a:avLst>
              <a:gd name="adj" fmla="val 6222"/>
            </a:avLst>
          </a:prstGeom>
          <a:solidFill>
            <a:srgbClr val="221040"/>
          </a:solidFill>
          <a:ln/>
        </p:spPr>
      </p:sp>
      <p:sp>
        <p:nvSpPr>
          <p:cNvPr id="8" name="Text 5"/>
          <p:cNvSpPr txBox="1"/>
          <p:nvPr/>
        </p:nvSpPr>
        <p:spPr>
          <a:xfrm>
            <a:off x="1097280" y="3877056"/>
            <a:ext cx="2834640" cy="868680"/>
          </a:xfrm>
          <a:prstGeom prst="rect">
            <a:avLst/>
          </a:prstGeom>
          <a:noFill/>
          <a:ln/>
        </p:spPr>
        <p:txBody>
          <a:bodyPr wrap="square" lIns="0" tIns="0" rIns="0" bIns="0" rtlCol="0" anchor="ctr"/>
          <a:lstStyle/>
          <a:p>
            <a:pPr indent="0" marL="0">
              <a:buNone/>
            </a:pPr>
            <a:r>
              <a:rPr lang="en-US" sz="5600" b="1" dirty="0">
                <a:solidFill>
                  <a:srgbClr val="FFFFFF"/>
                </a:solidFill>
                <a:latin typeface="Aptos" pitchFamily="34" charset="0"/>
                <a:ea typeface="Aptos" pitchFamily="34" charset="-122"/>
                <a:cs typeface="Aptos" pitchFamily="34" charset="-120"/>
              </a:rPr>
              <a:t>40,2 %</a:t>
            </a:r>
            <a:endParaRPr lang="en-US" sz="5600" dirty="0"/>
          </a:p>
        </p:txBody>
      </p:sp>
      <p:sp>
        <p:nvSpPr>
          <p:cNvPr id="9" name="Text 6"/>
          <p:cNvSpPr txBox="1"/>
          <p:nvPr/>
        </p:nvSpPr>
        <p:spPr>
          <a:xfrm>
            <a:off x="4005072" y="3986784"/>
            <a:ext cx="3246120" cy="960120"/>
          </a:xfrm>
          <a:prstGeom prst="rect">
            <a:avLst/>
          </a:prstGeom>
          <a:noFill/>
          <a:ln/>
        </p:spPr>
        <p:txBody>
          <a:bodyPr wrap="square" lIns="0" tIns="0" rIns="0" bIns="0" rtlCol="0" anchor="t"/>
          <a:lstStyle/>
          <a:p>
            <a:pPr indent="0" marL="0">
              <a:buNone/>
            </a:pPr>
            <a:r>
              <a:rPr lang="en-US" sz="1550" dirty="0">
                <a:solidFill>
                  <a:srgbClr val="FFFFFF"/>
                </a:solidFill>
                <a:latin typeface="Aptos" pitchFamily="34" charset="0"/>
                <a:ea typeface="Aptos" pitchFamily="34" charset="-122"/>
                <a:cs typeface="Aptos" pitchFamily="34" charset="-120"/>
              </a:rPr>
              <a:t>der 8- bis 18-Jährigen in UK sind sicher, vor Publikum zu sprechen.</a:t>
            </a:r>
            <a:endParaRPr lang="en-US" sz="1550" dirty="0"/>
          </a:p>
        </p:txBody>
      </p:sp>
      <p:sp>
        <p:nvSpPr>
          <p:cNvPr id="10" name="Text 7"/>
          <p:cNvSpPr txBox="1"/>
          <p:nvPr/>
        </p:nvSpPr>
        <p:spPr>
          <a:xfrm>
            <a:off x="4005072" y="5047488"/>
            <a:ext cx="3246120" cy="475488"/>
          </a:xfrm>
          <a:prstGeom prst="rect">
            <a:avLst/>
          </a:prstGeom>
          <a:noFill/>
          <a:ln/>
        </p:spPr>
        <p:txBody>
          <a:bodyPr wrap="square" lIns="0" tIns="0" rIns="0" bIns="0" rtlCol="0" anchor="t"/>
          <a:lstStyle/>
          <a:p>
            <a:pPr indent="0" marL="0">
              <a:buNone/>
            </a:pPr>
            <a:r>
              <a:rPr lang="en-US" sz="950" dirty="0">
                <a:solidFill>
                  <a:srgbClr val="9A8EC0"/>
                </a:solidFill>
                <a:latin typeface="Aptos" pitchFamily="34" charset="0"/>
                <a:ea typeface="Aptos" pitchFamily="34" charset="-122"/>
                <a:cs typeface="Aptos" pitchFamily="34" charset="-120"/>
              </a:rPr>
              <a:t>National Literacy Trust, 2025 · UK · n = 105.583 · Selbsteinschätzung</a:t>
            </a:r>
            <a:endParaRPr lang="en-US" sz="950" dirty="0"/>
          </a:p>
        </p:txBody>
      </p:sp>
      <p:sp>
        <p:nvSpPr>
          <p:cNvPr id="11" name="Shape 8"/>
          <p:cNvSpPr/>
          <p:nvPr/>
        </p:nvSpPr>
        <p:spPr>
          <a:xfrm>
            <a:off x="7827264" y="3703320"/>
            <a:ext cx="3538728" cy="2057400"/>
          </a:xfrm>
          <a:prstGeom prst="roundRect">
            <a:avLst>
              <a:gd name="adj" fmla="val 6222"/>
            </a:avLst>
          </a:prstGeom>
          <a:solidFill>
            <a:srgbClr val="120A20"/>
          </a:solidFill>
          <a:ln w="12700">
            <a:solidFill>
              <a:srgbClr val="3A2560"/>
            </a:solidFill>
            <a:prstDash val="solid"/>
          </a:ln>
        </p:spPr>
      </p:sp>
      <p:sp>
        <p:nvSpPr>
          <p:cNvPr id="12" name="Text 9"/>
          <p:cNvSpPr txBox="1"/>
          <p:nvPr/>
        </p:nvSpPr>
        <p:spPr>
          <a:xfrm>
            <a:off x="8156448" y="3977640"/>
            <a:ext cx="2926080" cy="411480"/>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Übe den Vortrag,</a:t>
            </a:r>
            <a:endParaRPr lang="en-US" sz="2200" dirty="0"/>
          </a:p>
        </p:txBody>
      </p:sp>
      <p:sp>
        <p:nvSpPr>
          <p:cNvPr id="13" name="Text 10"/>
          <p:cNvSpPr txBox="1"/>
          <p:nvPr/>
        </p:nvSpPr>
        <p:spPr>
          <a:xfrm>
            <a:off x="8156448" y="4370832"/>
            <a:ext cx="2926080" cy="411480"/>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nicht die Folien.</a:t>
            </a:r>
            <a:endParaRPr lang="en-US" sz="2200" dirty="0"/>
          </a:p>
        </p:txBody>
      </p:sp>
      <p:sp>
        <p:nvSpPr>
          <p:cNvPr id="14" name="Text 11"/>
          <p:cNvSpPr txBox="1"/>
          <p:nvPr/>
        </p:nvSpPr>
        <p:spPr>
          <a:xfrm>
            <a:off x="8156448" y="5175504"/>
            <a:ext cx="2926080" cy="274320"/>
          </a:xfrm>
          <a:prstGeom prst="rect">
            <a:avLst/>
          </a:prstGeom>
          <a:noFill/>
          <a:ln/>
        </p:spPr>
        <p:txBody>
          <a:bodyPr wrap="square" lIns="0" tIns="0" rIns="0" bIns="0" rtlCol="0" anchor="ctr"/>
          <a:lstStyle/>
          <a:p>
            <a:pPr indent="0" marL="0">
              <a:buNone/>
            </a:pPr>
            <a:r>
              <a:rPr lang="en-US" sz="1050" dirty="0">
                <a:solidFill>
                  <a:srgbClr val="9A8EC0"/>
                </a:solidFill>
                <a:latin typeface="Aptos" pitchFamily="34" charset="0"/>
                <a:ea typeface="Aptos" pitchFamily="34" charset="-122"/>
                <a:cs typeface="Aptos" pitchFamily="34" charset="-120"/>
              </a:rPr>
              <a:t>Team 418 · 24.–25.10.2026</a:t>
            </a:r>
            <a:endParaRPr lang="en-US" sz="1050" dirty="0"/>
          </a:p>
        </p:txBody>
      </p:sp>
      <p:sp>
        <p:nvSpPr>
          <p:cNvPr id="15" name="Text 12"/>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9A8EC0"/>
                </a:solidFill>
                <a:latin typeface="Aptos" pitchFamily="34" charset="0"/>
                <a:ea typeface="Aptos" pitchFamily="34" charset="-122"/>
                <a:cs typeface="Aptos" pitchFamily="34" charset="-120"/>
              </a:rPr>
              <a:t>418 pitch practice</a:t>
            </a:r>
            <a:endParaRPr lang="en-US" sz="900" dirty="0"/>
          </a:p>
        </p:txBody>
      </p:sp>
      <p:sp>
        <p:nvSpPr>
          <p:cNvPr id="16" name="Text 13"/>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9A8EC0"/>
                </a:solidFill>
                <a:latin typeface="Aptos" pitchFamily="34" charset="0"/>
                <a:ea typeface="Aptos" pitchFamily="34" charset="-122"/>
                <a:cs typeface="Aptos" pitchFamily="34" charset="-120"/>
              </a:rPr>
              <a:t>1 /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1064240" cy="640080"/>
          </a:xfrm>
          <a:prstGeom prst="rect">
            <a:avLst/>
          </a:prstGeom>
          <a:noFill/>
          <a:ln/>
        </p:spPr>
        <p:txBody>
          <a:bodyPr wrap="square" lIns="0" tIns="0" rIns="0" bIns="0" rtlCol="0" anchor="ctr"/>
          <a:lstStyle/>
          <a:p>
            <a:pPr indent="0" marL="0">
              <a:buNone/>
            </a:pPr>
            <a:r>
              <a:rPr lang="en-US" sz="3600" b="1" dirty="0">
                <a:solidFill>
                  <a:srgbClr val="17111F"/>
                </a:solidFill>
                <a:latin typeface="Aptos" pitchFamily="34" charset="0"/>
                <a:ea typeface="Aptos" pitchFamily="34" charset="-122"/>
                <a:cs typeface="Aptos" pitchFamily="34" charset="-120"/>
              </a:rPr>
              <a:t>Warum Üben allein nicht reicht</a:t>
            </a:r>
            <a:endParaRPr lang="en-US" sz="3600" dirty="0"/>
          </a:p>
        </p:txBody>
      </p:sp>
      <p:sp>
        <p:nvSpPr>
          <p:cNvPr id="3" name="Text 1"/>
          <p:cNvSpPr txBox="1"/>
          <p:nvPr/>
        </p:nvSpPr>
        <p:spPr>
          <a:xfrm>
            <a:off x="566928" y="1115568"/>
            <a:ext cx="11064240" cy="320040"/>
          </a:xfrm>
          <a:prstGeom prst="rect">
            <a:avLst/>
          </a:prstGeom>
          <a:noFill/>
          <a:ln/>
        </p:spPr>
        <p:txBody>
          <a:bodyPr wrap="square" lIns="0" tIns="0" rIns="0" bIns="0" rtlCol="0" anchor="ctr"/>
          <a:lstStyle/>
          <a:p>
            <a:pPr indent="0" marL="0">
              <a:buNone/>
            </a:pPr>
            <a:r>
              <a:rPr lang="en-US" sz="1400" dirty="0">
                <a:solidFill>
                  <a:srgbClr val="6B6577"/>
                </a:solidFill>
                <a:latin typeface="Aptos" pitchFamily="34" charset="0"/>
                <a:ea typeface="Aptos" pitchFamily="34" charset="-122"/>
                <a:cs typeface="Aptos" pitchFamily="34" charset="-120"/>
              </a:rPr>
              <a:t>Vier Lücken, die eine freundliche Übungsrunde nicht schließt.</a:t>
            </a:r>
            <a:endParaRPr lang="en-US" sz="1400" dirty="0"/>
          </a:p>
        </p:txBody>
      </p:sp>
      <p:sp>
        <p:nvSpPr>
          <p:cNvPr id="4" name="Shape 2"/>
          <p:cNvSpPr/>
          <p:nvPr/>
        </p:nvSpPr>
        <p:spPr>
          <a:xfrm>
            <a:off x="566928" y="1737360"/>
            <a:ext cx="5440680" cy="1783080"/>
          </a:xfrm>
          <a:prstGeom prst="roundRect">
            <a:avLst>
              <a:gd name="adj" fmla="val 7179"/>
            </a:avLst>
          </a:prstGeom>
          <a:solidFill>
            <a:srgbClr val="F4F0FC"/>
          </a:solidFill>
          <a:ln/>
        </p:spPr>
      </p:sp>
      <p:sp>
        <p:nvSpPr>
          <p:cNvPr id="5" name="Shape 3"/>
          <p:cNvSpPr/>
          <p:nvPr/>
        </p:nvSpPr>
        <p:spPr>
          <a:xfrm>
            <a:off x="841248" y="2011680"/>
            <a:ext cx="457200" cy="457200"/>
          </a:xfrm>
          <a:prstGeom prst="ellipse">
            <a:avLst/>
          </a:prstGeom>
          <a:solidFill>
            <a:srgbClr val="E7DEF8"/>
          </a:solidFill>
          <a:ln/>
        </p:spPr>
      </p:sp>
      <p:pic>
        <p:nvPicPr>
          <p:cNvPr id="6" name="Image 0" descr="preencoded.png">    </p:cNvPr>
          <p:cNvPicPr>
            <a:picLocks noChangeAspect="1"/>
          </p:cNvPicPr>
          <p:nvPr/>
        </p:nvPicPr>
        <p:blipFill>
          <a:blip r:embed="rId1"/>
          <a:stretch>
            <a:fillRect/>
          </a:stretch>
        </p:blipFill>
        <p:spPr>
          <a:xfrm>
            <a:off x="960120" y="2130552"/>
            <a:ext cx="219456" cy="219456"/>
          </a:xfrm>
          <a:prstGeom prst="rect">
            <a:avLst/>
          </a:prstGeom>
        </p:spPr>
      </p:pic>
      <p:sp>
        <p:nvSpPr>
          <p:cNvPr id="7" name="Text 4"/>
          <p:cNvSpPr txBox="1"/>
          <p:nvPr/>
        </p:nvSpPr>
        <p:spPr>
          <a:xfrm>
            <a:off x="1481328" y="2039112"/>
            <a:ext cx="4270248" cy="329184"/>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Feedback ist höflich</a:t>
            </a:r>
            <a:endParaRPr lang="en-US" sz="1550" dirty="0"/>
          </a:p>
        </p:txBody>
      </p:sp>
      <p:sp>
        <p:nvSpPr>
          <p:cNvPr id="8" name="Text 5"/>
          <p:cNvSpPr txBox="1"/>
          <p:nvPr/>
        </p:nvSpPr>
        <p:spPr>
          <a:xfrm>
            <a:off x="1481328" y="2468880"/>
            <a:ext cx="4251960" cy="8229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Die eigene Runde nickt. Konkrete, unbequeme Hinweise bleiben aus.</a:t>
            </a:r>
            <a:endParaRPr lang="en-US" sz="1250" dirty="0"/>
          </a:p>
        </p:txBody>
      </p:sp>
      <p:sp>
        <p:nvSpPr>
          <p:cNvPr id="9" name="Shape 6"/>
          <p:cNvSpPr/>
          <p:nvPr/>
        </p:nvSpPr>
        <p:spPr>
          <a:xfrm>
            <a:off x="6281928" y="1737360"/>
            <a:ext cx="5440680" cy="1783080"/>
          </a:xfrm>
          <a:prstGeom prst="roundRect">
            <a:avLst>
              <a:gd name="adj" fmla="val 7179"/>
            </a:avLst>
          </a:prstGeom>
          <a:solidFill>
            <a:srgbClr val="F4F0FC"/>
          </a:solidFill>
          <a:ln/>
        </p:spPr>
      </p:sp>
      <p:sp>
        <p:nvSpPr>
          <p:cNvPr id="10" name="Shape 7"/>
          <p:cNvSpPr/>
          <p:nvPr/>
        </p:nvSpPr>
        <p:spPr>
          <a:xfrm>
            <a:off x="6556248" y="2011680"/>
            <a:ext cx="457200" cy="457200"/>
          </a:xfrm>
          <a:prstGeom prst="ellipse">
            <a:avLst/>
          </a:prstGeom>
          <a:solidFill>
            <a:srgbClr val="E7DEF8"/>
          </a:solidFill>
          <a:ln/>
        </p:spPr>
      </p:sp>
      <p:pic>
        <p:nvPicPr>
          <p:cNvPr id="11" name="Image 1" descr="preencoded.png">    </p:cNvPr>
          <p:cNvPicPr>
            <a:picLocks noChangeAspect="1"/>
          </p:cNvPicPr>
          <p:nvPr/>
        </p:nvPicPr>
        <p:blipFill>
          <a:blip r:embed="rId2"/>
          <a:stretch>
            <a:fillRect/>
          </a:stretch>
        </p:blipFill>
        <p:spPr>
          <a:xfrm>
            <a:off x="6675120" y="2130552"/>
            <a:ext cx="219456" cy="219456"/>
          </a:xfrm>
          <a:prstGeom prst="rect">
            <a:avLst/>
          </a:prstGeom>
        </p:spPr>
      </p:pic>
      <p:sp>
        <p:nvSpPr>
          <p:cNvPr id="12" name="Text 8"/>
          <p:cNvSpPr txBox="1"/>
          <p:nvPr/>
        </p:nvSpPr>
        <p:spPr>
          <a:xfrm>
            <a:off x="7196328" y="2039112"/>
            <a:ext cx="4270248" cy="329184"/>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Kritik hängt an keiner Minute</a:t>
            </a:r>
            <a:endParaRPr lang="en-US" sz="1550" dirty="0"/>
          </a:p>
        </p:txBody>
      </p:sp>
      <p:sp>
        <p:nvSpPr>
          <p:cNvPr id="13" name="Text 9"/>
          <p:cNvSpPr txBox="1"/>
          <p:nvPr/>
        </p:nvSpPr>
        <p:spPr>
          <a:xfrm>
            <a:off x="7196328" y="2468880"/>
            <a:ext cx="4251960" cy="8229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„Wirke nervöser“ hilft nicht, wenn niemand sagt, an welcher Minute es auffiel.</a:t>
            </a:r>
            <a:endParaRPr lang="en-US" sz="1250" dirty="0"/>
          </a:p>
        </p:txBody>
      </p:sp>
      <p:sp>
        <p:nvSpPr>
          <p:cNvPr id="14" name="Shape 10"/>
          <p:cNvSpPr/>
          <p:nvPr/>
        </p:nvSpPr>
        <p:spPr>
          <a:xfrm>
            <a:off x="566928" y="3758184"/>
            <a:ext cx="5440680" cy="1783080"/>
          </a:xfrm>
          <a:prstGeom prst="roundRect">
            <a:avLst>
              <a:gd name="adj" fmla="val 7179"/>
            </a:avLst>
          </a:prstGeom>
          <a:solidFill>
            <a:srgbClr val="F4F0FC"/>
          </a:solidFill>
          <a:ln/>
        </p:spPr>
      </p:sp>
      <p:sp>
        <p:nvSpPr>
          <p:cNvPr id="15" name="Shape 11"/>
          <p:cNvSpPr/>
          <p:nvPr/>
        </p:nvSpPr>
        <p:spPr>
          <a:xfrm>
            <a:off x="841248" y="4032504"/>
            <a:ext cx="457200" cy="457200"/>
          </a:xfrm>
          <a:prstGeom prst="ellipse">
            <a:avLst/>
          </a:prstGeom>
          <a:solidFill>
            <a:srgbClr val="E7DEF8"/>
          </a:solidFill>
          <a:ln/>
        </p:spPr>
      </p:sp>
      <p:pic>
        <p:nvPicPr>
          <p:cNvPr id="16" name="Image 2" descr="preencoded.png">    </p:cNvPr>
          <p:cNvPicPr>
            <a:picLocks noChangeAspect="1"/>
          </p:cNvPicPr>
          <p:nvPr/>
        </p:nvPicPr>
        <p:blipFill>
          <a:blip r:embed="rId3"/>
          <a:stretch>
            <a:fillRect/>
          </a:stretch>
        </p:blipFill>
        <p:spPr>
          <a:xfrm>
            <a:off x="960120" y="4151376"/>
            <a:ext cx="219456" cy="219456"/>
          </a:xfrm>
          <a:prstGeom prst="rect">
            <a:avLst/>
          </a:prstGeom>
        </p:spPr>
      </p:pic>
      <p:sp>
        <p:nvSpPr>
          <p:cNvPr id="17" name="Text 12"/>
          <p:cNvSpPr txBox="1"/>
          <p:nvPr/>
        </p:nvSpPr>
        <p:spPr>
          <a:xfrm>
            <a:off x="1481328" y="4059936"/>
            <a:ext cx="4270248" cy="329184"/>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Quellen prüft niemand</a:t>
            </a:r>
            <a:endParaRPr lang="en-US" sz="1550" dirty="0"/>
          </a:p>
        </p:txBody>
      </p:sp>
      <p:sp>
        <p:nvSpPr>
          <p:cNvPr id="18" name="Text 13"/>
          <p:cNvSpPr txBox="1"/>
          <p:nvPr/>
        </p:nvSpPr>
        <p:spPr>
          <a:xfrm>
            <a:off x="1481328" y="4489704"/>
            <a:ext cx="4251960" cy="8229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Niemand gleicht die Aussagen mit den eigenen Folien und Unterlagen ab.</a:t>
            </a:r>
            <a:endParaRPr lang="en-US" sz="1250" dirty="0"/>
          </a:p>
        </p:txBody>
      </p:sp>
      <p:sp>
        <p:nvSpPr>
          <p:cNvPr id="19" name="Shape 14"/>
          <p:cNvSpPr/>
          <p:nvPr/>
        </p:nvSpPr>
        <p:spPr>
          <a:xfrm>
            <a:off x="6281928" y="3758184"/>
            <a:ext cx="5440680" cy="1783080"/>
          </a:xfrm>
          <a:prstGeom prst="roundRect">
            <a:avLst>
              <a:gd name="adj" fmla="val 7179"/>
            </a:avLst>
          </a:prstGeom>
          <a:solidFill>
            <a:srgbClr val="F4F0FC"/>
          </a:solidFill>
          <a:ln/>
        </p:spPr>
      </p:sp>
      <p:sp>
        <p:nvSpPr>
          <p:cNvPr id="20" name="Shape 15"/>
          <p:cNvSpPr/>
          <p:nvPr/>
        </p:nvSpPr>
        <p:spPr>
          <a:xfrm>
            <a:off x="6556248" y="4032504"/>
            <a:ext cx="457200" cy="457200"/>
          </a:xfrm>
          <a:prstGeom prst="ellipse">
            <a:avLst/>
          </a:prstGeom>
          <a:solidFill>
            <a:srgbClr val="E7DEF8"/>
          </a:solidFill>
          <a:ln/>
        </p:spPr>
      </p:sp>
      <p:pic>
        <p:nvPicPr>
          <p:cNvPr id="21" name="Image 3" descr="preencoded.png">    </p:cNvPr>
          <p:cNvPicPr>
            <a:picLocks noChangeAspect="1"/>
          </p:cNvPicPr>
          <p:nvPr/>
        </p:nvPicPr>
        <p:blipFill>
          <a:blip r:embed="rId4"/>
          <a:stretch>
            <a:fillRect/>
          </a:stretch>
        </p:blipFill>
        <p:spPr>
          <a:xfrm>
            <a:off x="6675120" y="4151376"/>
            <a:ext cx="219456" cy="219456"/>
          </a:xfrm>
          <a:prstGeom prst="rect">
            <a:avLst/>
          </a:prstGeom>
        </p:spPr>
      </p:pic>
      <p:sp>
        <p:nvSpPr>
          <p:cNvPr id="22" name="Text 16"/>
          <p:cNvSpPr txBox="1"/>
          <p:nvPr/>
        </p:nvSpPr>
        <p:spPr>
          <a:xfrm>
            <a:off x="7196328" y="4059936"/>
            <a:ext cx="4270248" cy="329184"/>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Rückfragen kommen zu spät</a:t>
            </a:r>
            <a:endParaRPr lang="en-US" sz="1550" dirty="0"/>
          </a:p>
        </p:txBody>
      </p:sp>
      <p:sp>
        <p:nvSpPr>
          <p:cNvPr id="23" name="Text 17"/>
          <p:cNvSpPr txBox="1"/>
          <p:nvPr/>
        </p:nvSpPr>
        <p:spPr>
          <a:xfrm>
            <a:off x="7196328" y="4489704"/>
            <a:ext cx="4251960" cy="8229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Unter Druck antworten übt man erst in der Prüfung — dann ist es zu spät.</a:t>
            </a:r>
            <a:endParaRPr lang="en-US" sz="1250" dirty="0"/>
          </a:p>
        </p:txBody>
      </p:sp>
      <p:sp>
        <p:nvSpPr>
          <p:cNvPr id="24" name="Text 18"/>
          <p:cNvSpPr txBox="1"/>
          <p:nvPr/>
        </p:nvSpPr>
        <p:spPr>
          <a:xfrm>
            <a:off x="566928" y="5806440"/>
            <a:ext cx="11064240" cy="365760"/>
          </a:xfrm>
          <a:prstGeom prst="rect">
            <a:avLst/>
          </a:prstGeom>
          <a:noFill/>
          <a:ln/>
        </p:spPr>
        <p:txBody>
          <a:bodyPr wrap="square" lIns="0" tIns="0" rIns="0" bIns="0" rtlCol="0" anchor="ctr"/>
          <a:lstStyle/>
          <a:p>
            <a:pPr indent="0" marL="0">
              <a:buNone/>
            </a:pPr>
            <a:r>
              <a:rPr lang="en-US" sz="1500" b="1" dirty="0">
                <a:solidFill>
                  <a:srgbClr val="3803BF"/>
                </a:solidFill>
                <a:latin typeface="Aptos" pitchFamily="34" charset="0"/>
                <a:ea typeface="Aptos" pitchFamily="34" charset="-122"/>
                <a:cs typeface="Aptos" pitchFamily="34" charset="-120"/>
              </a:rPr>
              <a:t>Der Prototyp schließt alle vier — in einer Aufnahme.</a:t>
            </a:r>
            <a:endParaRPr lang="en-US" sz="1500" dirty="0"/>
          </a:p>
        </p:txBody>
      </p:sp>
      <p:sp>
        <p:nvSpPr>
          <p:cNvPr id="25" name="Text 19"/>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6B6577"/>
                </a:solidFill>
                <a:latin typeface="Aptos" pitchFamily="34" charset="0"/>
                <a:ea typeface="Aptos" pitchFamily="34" charset="-122"/>
                <a:cs typeface="Aptos" pitchFamily="34" charset="-120"/>
              </a:rPr>
              <a:t>418 pitch practice</a:t>
            </a:r>
            <a:endParaRPr lang="en-US" sz="900" dirty="0"/>
          </a:p>
        </p:txBody>
      </p:sp>
      <p:sp>
        <p:nvSpPr>
          <p:cNvPr id="26" name="Text 20"/>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6B6577"/>
                </a:solidFill>
                <a:latin typeface="Aptos" pitchFamily="34" charset="0"/>
                <a:ea typeface="Aptos" pitchFamily="34" charset="-122"/>
                <a:cs typeface="Aptos"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0A20"/>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56032"/>
          </a:xfrm>
          <a:prstGeom prst="rect">
            <a:avLst/>
          </a:prstGeom>
          <a:noFill/>
          <a:ln/>
        </p:spPr>
        <p:txBody>
          <a:bodyPr wrap="square" lIns="0" tIns="0" rIns="0" bIns="0" rtlCol="0" anchor="ctr"/>
          <a:lstStyle/>
          <a:p>
            <a:pPr indent="0" marL="0">
              <a:buNone/>
            </a:pPr>
            <a:r>
              <a:rPr lang="en-US" sz="1100" b="1" spc="200" kern="0" dirty="0">
                <a:solidFill>
                  <a:srgbClr val="CBB6F6"/>
                </a:solidFill>
                <a:latin typeface="Aptos" pitchFamily="34" charset="0"/>
                <a:ea typeface="Aptos" pitchFamily="34" charset="-122"/>
                <a:cs typeface="Aptos" pitchFamily="34" charset="-120"/>
              </a:rPr>
              <a:t>DIE LÖSUNG</a:t>
            </a:r>
            <a:endParaRPr lang="en-US" sz="1100" dirty="0"/>
          </a:p>
        </p:txBody>
      </p:sp>
      <p:sp>
        <p:nvSpPr>
          <p:cNvPr id="3" name="Text 1"/>
          <p:cNvSpPr txBox="1"/>
          <p:nvPr/>
        </p:nvSpPr>
        <p:spPr>
          <a:xfrm>
            <a:off x="566928" y="804672"/>
            <a:ext cx="11064240" cy="640080"/>
          </a:xfrm>
          <a:prstGeom prst="rect">
            <a:avLst/>
          </a:prstGeom>
          <a:noFill/>
          <a:ln/>
        </p:spPr>
        <p:txBody>
          <a:bodyPr wrap="square" lIns="0" tIns="0" rIns="0" bIns="0" rtlCol="0" anchor="ctr"/>
          <a:lstStyle/>
          <a:p>
            <a:pPr indent="0" marL="0">
              <a:buNone/>
            </a:pPr>
            <a:r>
              <a:rPr lang="en-US" sz="3400" b="1" dirty="0">
                <a:solidFill>
                  <a:srgbClr val="FFFFFF"/>
                </a:solidFill>
                <a:latin typeface="Aptos" pitchFamily="34" charset="0"/>
                <a:ea typeface="Aptos" pitchFamily="34" charset="-122"/>
                <a:cs typeface="Aptos" pitchFamily="34" charset="-120"/>
              </a:rPr>
              <a:t>Ein Trainer. Eine Timeline. Drei Ebenen.</a:t>
            </a:r>
            <a:endParaRPr lang="en-US" sz="3400" dirty="0"/>
          </a:p>
        </p:txBody>
      </p:sp>
      <p:sp>
        <p:nvSpPr>
          <p:cNvPr id="4" name="Shape 2"/>
          <p:cNvSpPr/>
          <p:nvPr/>
        </p:nvSpPr>
        <p:spPr>
          <a:xfrm>
            <a:off x="566928" y="1828800"/>
            <a:ext cx="420624" cy="420624"/>
          </a:xfrm>
          <a:prstGeom prst="ellipse">
            <a:avLst/>
          </a:prstGeom>
          <a:solidFill>
            <a:srgbClr val="E7DEF8"/>
          </a:solidFill>
          <a:ln/>
        </p:spPr>
      </p:sp>
      <p:pic>
        <p:nvPicPr>
          <p:cNvPr id="5" name="Image 0" descr="preencoded.png">    </p:cNvPr>
          <p:cNvPicPr>
            <a:picLocks noChangeAspect="1"/>
          </p:cNvPicPr>
          <p:nvPr/>
        </p:nvPicPr>
        <p:blipFill>
          <a:blip r:embed="rId1"/>
          <a:stretch>
            <a:fillRect/>
          </a:stretch>
        </p:blipFill>
        <p:spPr>
          <a:xfrm>
            <a:off x="676290" y="1938162"/>
            <a:ext cx="201900" cy="201900"/>
          </a:xfrm>
          <a:prstGeom prst="rect">
            <a:avLst/>
          </a:prstGeom>
        </p:spPr>
      </p:pic>
      <p:sp>
        <p:nvSpPr>
          <p:cNvPr id="6" name="Text 3"/>
          <p:cNvSpPr txBox="1"/>
          <p:nvPr/>
        </p:nvSpPr>
        <p:spPr>
          <a:xfrm>
            <a:off x="1143000" y="1764792"/>
            <a:ext cx="4480560" cy="219456"/>
          </a:xfrm>
          <a:prstGeom prst="rect">
            <a:avLst/>
          </a:prstGeom>
          <a:noFill/>
          <a:ln/>
        </p:spPr>
        <p:txBody>
          <a:bodyPr wrap="square" lIns="0" tIns="0" rIns="0" bIns="0" rtlCol="0" anchor="ctr"/>
          <a:lstStyle/>
          <a:p>
            <a:pPr indent="0" marL="0">
              <a:buNone/>
            </a:pPr>
            <a:r>
              <a:rPr lang="en-US" sz="1000" b="1" spc="180" kern="0" dirty="0">
                <a:solidFill>
                  <a:srgbClr val="CBB6F6"/>
                </a:solidFill>
                <a:latin typeface="Aptos" pitchFamily="34" charset="0"/>
                <a:ea typeface="Aptos" pitchFamily="34" charset="-122"/>
                <a:cs typeface="Aptos" pitchFamily="34" charset="-120"/>
              </a:rPr>
              <a:t>INHALT</a:t>
            </a:r>
            <a:endParaRPr lang="en-US" sz="1000" dirty="0"/>
          </a:p>
        </p:txBody>
      </p:sp>
      <p:sp>
        <p:nvSpPr>
          <p:cNvPr id="7" name="Text 4"/>
          <p:cNvSpPr txBox="1"/>
          <p:nvPr/>
        </p:nvSpPr>
        <p:spPr>
          <a:xfrm>
            <a:off x="1143000" y="1984248"/>
            <a:ext cx="4526280" cy="310896"/>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Quellencheck + Fragebot</a:t>
            </a:r>
            <a:endParaRPr lang="en-US" sz="1600" dirty="0"/>
          </a:p>
        </p:txBody>
      </p:sp>
      <p:sp>
        <p:nvSpPr>
          <p:cNvPr id="8" name="Text 5"/>
          <p:cNvSpPr txBox="1"/>
          <p:nvPr/>
        </p:nvSpPr>
        <p:spPr>
          <a:xfrm>
            <a:off x="1143000" y="2331720"/>
            <a:ext cx="4526280" cy="475488"/>
          </a:xfrm>
          <a:prstGeom prst="rect">
            <a:avLst/>
          </a:prstGeom>
          <a:noFill/>
          <a:ln/>
        </p:spPr>
        <p:txBody>
          <a:bodyPr wrap="square" lIns="0" tIns="0" rIns="0" bIns="0" rtlCol="0" anchor="t"/>
          <a:lstStyle/>
          <a:p>
            <a:pPr indent="0" marL="0">
              <a:buNone/>
            </a:pPr>
            <a:r>
              <a:rPr lang="en-US" sz="1250" dirty="0">
                <a:solidFill>
                  <a:srgbClr val="D8CFF0"/>
                </a:solidFill>
                <a:latin typeface="Aptos" pitchFamily="34" charset="0"/>
                <a:ea typeface="Aptos" pitchFamily="34" charset="-122"/>
                <a:cs typeface="Aptos" pitchFamily="34" charset="-120"/>
              </a:rPr>
              <a:t>Aussagen zitiergenau prüfen, danach gezielt nachfragen.</a:t>
            </a:r>
            <a:endParaRPr lang="en-US" sz="1250" dirty="0"/>
          </a:p>
        </p:txBody>
      </p:sp>
      <p:sp>
        <p:nvSpPr>
          <p:cNvPr id="9" name="Shape 6"/>
          <p:cNvSpPr/>
          <p:nvPr/>
        </p:nvSpPr>
        <p:spPr>
          <a:xfrm>
            <a:off x="566928" y="3017520"/>
            <a:ext cx="420624" cy="420624"/>
          </a:xfrm>
          <a:prstGeom prst="ellipse">
            <a:avLst/>
          </a:prstGeom>
          <a:solidFill>
            <a:srgbClr val="E7DEF8"/>
          </a:solidFill>
          <a:ln/>
        </p:spPr>
      </p:sp>
      <p:pic>
        <p:nvPicPr>
          <p:cNvPr id="10" name="Image 1" descr="preencoded.png">    </p:cNvPr>
          <p:cNvPicPr>
            <a:picLocks noChangeAspect="1"/>
          </p:cNvPicPr>
          <p:nvPr/>
        </p:nvPicPr>
        <p:blipFill>
          <a:blip r:embed="rId2"/>
          <a:stretch>
            <a:fillRect/>
          </a:stretch>
        </p:blipFill>
        <p:spPr>
          <a:xfrm>
            <a:off x="676290" y="3126882"/>
            <a:ext cx="201900" cy="201900"/>
          </a:xfrm>
          <a:prstGeom prst="rect">
            <a:avLst/>
          </a:prstGeom>
        </p:spPr>
      </p:pic>
      <p:sp>
        <p:nvSpPr>
          <p:cNvPr id="11" name="Text 7"/>
          <p:cNvSpPr txBox="1"/>
          <p:nvPr/>
        </p:nvSpPr>
        <p:spPr>
          <a:xfrm>
            <a:off x="1143000" y="2953512"/>
            <a:ext cx="4480560" cy="219456"/>
          </a:xfrm>
          <a:prstGeom prst="rect">
            <a:avLst/>
          </a:prstGeom>
          <a:noFill/>
          <a:ln/>
        </p:spPr>
        <p:txBody>
          <a:bodyPr wrap="square" lIns="0" tIns="0" rIns="0" bIns="0" rtlCol="0" anchor="ctr"/>
          <a:lstStyle/>
          <a:p>
            <a:pPr indent="0" marL="0">
              <a:buNone/>
            </a:pPr>
            <a:r>
              <a:rPr lang="en-US" sz="1000" b="1" spc="180" kern="0" dirty="0">
                <a:solidFill>
                  <a:srgbClr val="CBB6F6"/>
                </a:solidFill>
                <a:latin typeface="Aptos" pitchFamily="34" charset="0"/>
                <a:ea typeface="Aptos" pitchFamily="34" charset="-122"/>
                <a:cs typeface="Aptos" pitchFamily="34" charset="-120"/>
              </a:rPr>
              <a:t>AUFTRITT</a:t>
            </a:r>
            <a:endParaRPr lang="en-US" sz="1000" dirty="0"/>
          </a:p>
        </p:txBody>
      </p:sp>
      <p:sp>
        <p:nvSpPr>
          <p:cNvPr id="12" name="Text 8"/>
          <p:cNvSpPr txBox="1"/>
          <p:nvPr/>
        </p:nvSpPr>
        <p:spPr>
          <a:xfrm>
            <a:off x="1143000" y="3172968"/>
            <a:ext cx="4526280" cy="310896"/>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Pose, Gestik, Stimme</a:t>
            </a:r>
            <a:endParaRPr lang="en-US" sz="1600" dirty="0"/>
          </a:p>
        </p:txBody>
      </p:sp>
      <p:sp>
        <p:nvSpPr>
          <p:cNvPr id="13" name="Text 9"/>
          <p:cNvSpPr txBox="1"/>
          <p:nvPr/>
        </p:nvSpPr>
        <p:spPr>
          <a:xfrm>
            <a:off x="1143000" y="3520440"/>
            <a:ext cx="4526280" cy="475488"/>
          </a:xfrm>
          <a:prstGeom prst="rect">
            <a:avLst/>
          </a:prstGeom>
          <a:noFill/>
          <a:ln/>
        </p:spPr>
        <p:txBody>
          <a:bodyPr wrap="square" lIns="0" tIns="0" rIns="0" bIns="0" rtlCol="0" anchor="t"/>
          <a:lstStyle/>
          <a:p>
            <a:pPr indent="0" marL="0">
              <a:buNone/>
            </a:pPr>
            <a:r>
              <a:rPr lang="en-US" sz="1250" dirty="0">
                <a:solidFill>
                  <a:srgbClr val="D8CFF0"/>
                </a:solidFill>
                <a:latin typeface="Aptos" pitchFamily="34" charset="0"/>
                <a:ea typeface="Aptos" pitchFamily="34" charset="-122"/>
                <a:cs typeface="Aptos" pitchFamily="34" charset="-120"/>
              </a:rPr>
              <a:t>Live im Browser; Heuristiken sind als solche markiert.</a:t>
            </a:r>
            <a:endParaRPr lang="en-US" sz="1250" dirty="0"/>
          </a:p>
        </p:txBody>
      </p:sp>
      <p:sp>
        <p:nvSpPr>
          <p:cNvPr id="14" name="Shape 10"/>
          <p:cNvSpPr/>
          <p:nvPr/>
        </p:nvSpPr>
        <p:spPr>
          <a:xfrm>
            <a:off x="566928" y="4206240"/>
            <a:ext cx="420624" cy="420624"/>
          </a:xfrm>
          <a:prstGeom prst="ellipse">
            <a:avLst/>
          </a:prstGeom>
          <a:solidFill>
            <a:srgbClr val="E7DEF8"/>
          </a:solidFill>
          <a:ln/>
        </p:spPr>
      </p:sp>
      <p:pic>
        <p:nvPicPr>
          <p:cNvPr id="15" name="Image 2" descr="preencoded.png">    </p:cNvPr>
          <p:cNvPicPr>
            <a:picLocks noChangeAspect="1"/>
          </p:cNvPicPr>
          <p:nvPr/>
        </p:nvPicPr>
        <p:blipFill>
          <a:blip r:embed="rId3"/>
          <a:stretch>
            <a:fillRect/>
          </a:stretch>
        </p:blipFill>
        <p:spPr>
          <a:xfrm>
            <a:off x="676290" y="4315602"/>
            <a:ext cx="201900" cy="201900"/>
          </a:xfrm>
          <a:prstGeom prst="rect">
            <a:avLst/>
          </a:prstGeom>
        </p:spPr>
      </p:pic>
      <p:sp>
        <p:nvSpPr>
          <p:cNvPr id="16" name="Text 11"/>
          <p:cNvSpPr txBox="1"/>
          <p:nvPr/>
        </p:nvSpPr>
        <p:spPr>
          <a:xfrm>
            <a:off x="1143000" y="4142232"/>
            <a:ext cx="4480560" cy="219456"/>
          </a:xfrm>
          <a:prstGeom prst="rect">
            <a:avLst/>
          </a:prstGeom>
          <a:noFill/>
          <a:ln/>
        </p:spPr>
        <p:txBody>
          <a:bodyPr wrap="square" lIns="0" tIns="0" rIns="0" bIns="0" rtlCol="0" anchor="ctr"/>
          <a:lstStyle/>
          <a:p>
            <a:pPr indent="0" marL="0">
              <a:buNone/>
            </a:pPr>
            <a:r>
              <a:rPr lang="en-US" sz="1000" b="1" spc="180" kern="0" dirty="0">
                <a:solidFill>
                  <a:srgbClr val="CBB6F6"/>
                </a:solidFill>
                <a:latin typeface="Aptos" pitchFamily="34" charset="0"/>
                <a:ea typeface="Aptos" pitchFamily="34" charset="-122"/>
                <a:cs typeface="Aptos" pitchFamily="34" charset="-120"/>
              </a:rPr>
              <a:t>REVIEW</a:t>
            </a:r>
            <a:endParaRPr lang="en-US" sz="1000" dirty="0"/>
          </a:p>
        </p:txBody>
      </p:sp>
      <p:sp>
        <p:nvSpPr>
          <p:cNvPr id="17" name="Text 12"/>
          <p:cNvSpPr txBox="1"/>
          <p:nvPr/>
        </p:nvSpPr>
        <p:spPr>
          <a:xfrm>
            <a:off x="1143000" y="4361688"/>
            <a:ext cx="4526280" cy="310896"/>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Eine Timeline</a:t>
            </a:r>
            <a:endParaRPr lang="en-US" sz="1600" dirty="0"/>
          </a:p>
        </p:txBody>
      </p:sp>
      <p:sp>
        <p:nvSpPr>
          <p:cNvPr id="18" name="Text 13"/>
          <p:cNvSpPr txBox="1"/>
          <p:nvPr/>
        </p:nvSpPr>
        <p:spPr>
          <a:xfrm>
            <a:off x="1143000" y="4709160"/>
            <a:ext cx="4526280" cy="475488"/>
          </a:xfrm>
          <a:prstGeom prst="rect">
            <a:avLst/>
          </a:prstGeom>
          <a:noFill/>
          <a:ln/>
        </p:spPr>
        <p:txBody>
          <a:bodyPr wrap="square" lIns="0" tIns="0" rIns="0" bIns="0" rtlCol="0" anchor="t"/>
          <a:lstStyle/>
          <a:p>
            <a:pPr indent="0" marL="0">
              <a:buNone/>
            </a:pPr>
            <a:r>
              <a:rPr lang="en-US" sz="1250" dirty="0">
                <a:solidFill>
                  <a:srgbClr val="D8CFF0"/>
                </a:solidFill>
                <a:latin typeface="Aptos" pitchFamily="34" charset="0"/>
                <a:ea typeface="Aptos" pitchFamily="34" charset="-122"/>
                <a:cs typeface="Aptos" pitchFamily="34" charset="-120"/>
              </a:rPr>
              <a:t>Jeder Fund springt zur Stelle im lokalen Video.</a:t>
            </a:r>
            <a:endParaRPr lang="en-US" sz="1250" dirty="0"/>
          </a:p>
        </p:txBody>
      </p:sp>
      <p:sp>
        <p:nvSpPr>
          <p:cNvPr id="19" name="Text 14"/>
          <p:cNvSpPr txBox="1"/>
          <p:nvPr/>
        </p:nvSpPr>
        <p:spPr>
          <a:xfrm>
            <a:off x="566928" y="5486400"/>
            <a:ext cx="5257800" cy="457200"/>
          </a:xfrm>
          <a:prstGeom prst="rect">
            <a:avLst/>
          </a:prstGeom>
          <a:noFill/>
          <a:ln/>
        </p:spPr>
        <p:txBody>
          <a:bodyPr wrap="square" lIns="0" tIns="0" rIns="0" bIns="0" rtlCol="0" anchor="ctr"/>
          <a:lstStyle/>
          <a:p>
            <a:pPr indent="0" marL="0">
              <a:buNone/>
            </a:pPr>
            <a:r>
              <a:rPr lang="en-US" sz="1150" dirty="0">
                <a:solidFill>
                  <a:srgbClr val="9A8EC0"/>
                </a:solidFill>
                <a:latin typeface="Aptos" pitchFamily="34" charset="0"/>
                <a:ea typeface="Aptos" pitchFamily="34" charset="-122"/>
                <a:cs typeface="Aptos" pitchFamily="34" charset="-120"/>
              </a:rPr>
              <a:t>Eine Zeitachse für Haltung, Stimme, Transkript, Quellen und Fragen.</a:t>
            </a:r>
            <a:endParaRPr lang="en-US" sz="1150" dirty="0"/>
          </a:p>
        </p:txBody>
      </p:sp>
      <p:sp>
        <p:nvSpPr>
          <p:cNvPr id="20" name="Shape 15"/>
          <p:cNvSpPr/>
          <p:nvPr/>
        </p:nvSpPr>
        <p:spPr>
          <a:xfrm>
            <a:off x="5943600" y="1417320"/>
            <a:ext cx="5760720" cy="2514600"/>
          </a:xfrm>
          <a:prstGeom prst="roundRect">
            <a:avLst>
              <a:gd name="adj" fmla="val 5818"/>
            </a:avLst>
          </a:prstGeom>
          <a:solidFill>
            <a:srgbClr val="221040"/>
          </a:solidFill>
          <a:ln/>
        </p:spPr>
      </p:sp>
      <p:pic>
        <p:nvPicPr>
          <p:cNvPr id="21" name="Image 3" descr="Beispielansicht des Reviews: Timeline mit Markern und Momentenliste, synthetische Daten.">    </p:cNvPr>
          <p:cNvPicPr>
            <a:picLocks noChangeAspect="1"/>
          </p:cNvPicPr>
          <p:nvPr/>
        </p:nvPicPr>
        <p:blipFill>
          <a:blip r:embed="rId4"/>
          <a:stretch>
            <a:fillRect/>
          </a:stretch>
        </p:blipFill>
        <p:spPr>
          <a:xfrm>
            <a:off x="6053328" y="1527048"/>
            <a:ext cx="5541264" cy="2112264"/>
          </a:xfrm>
          <a:prstGeom prst="rect">
            <a:avLst/>
          </a:prstGeom>
        </p:spPr>
      </p:pic>
      <p:sp>
        <p:nvSpPr>
          <p:cNvPr id="22" name="Text 16"/>
          <p:cNvSpPr txBox="1"/>
          <p:nvPr/>
        </p:nvSpPr>
        <p:spPr>
          <a:xfrm>
            <a:off x="6053328" y="4023360"/>
            <a:ext cx="5541264" cy="256032"/>
          </a:xfrm>
          <a:prstGeom prst="rect">
            <a:avLst/>
          </a:prstGeom>
          <a:noFill/>
          <a:ln/>
        </p:spPr>
        <p:txBody>
          <a:bodyPr wrap="square" lIns="0" tIns="0" rIns="0" bIns="0" rtlCol="0" anchor="ctr"/>
          <a:lstStyle/>
          <a:p>
            <a:pPr indent="0" marL="0">
              <a:buNone/>
            </a:pPr>
            <a:r>
              <a:rPr lang="en-US" sz="1050" dirty="0">
                <a:solidFill>
                  <a:srgbClr val="9A8EC0"/>
                </a:solidFill>
                <a:latin typeface="Aptos" pitchFamily="34" charset="0"/>
                <a:ea typeface="Aptos" pitchFamily="34" charset="-122"/>
                <a:cs typeface="Aptos" pitchFamily="34" charset="-120"/>
              </a:rPr>
              <a:t>Beispielansicht · synthetische Daten · Timeline und Momente</a:t>
            </a:r>
            <a:endParaRPr lang="en-US" sz="1050" dirty="0"/>
          </a:p>
        </p:txBody>
      </p:sp>
      <p:sp>
        <p:nvSpPr>
          <p:cNvPr id="23" name="Text 17"/>
          <p:cNvSpPr txBox="1"/>
          <p:nvPr/>
        </p:nvSpPr>
        <p:spPr>
          <a:xfrm>
            <a:off x="6053328" y="4480560"/>
            <a:ext cx="5541264" cy="868680"/>
          </a:xfrm>
          <a:prstGeom prst="rect">
            <a:avLst/>
          </a:prstGeom>
          <a:noFill/>
          <a:ln/>
        </p:spPr>
        <p:txBody>
          <a:bodyPr wrap="square" lIns="0" tIns="0" rIns="0" bIns="0" rtlCol="0" anchor="t"/>
          <a:lstStyle/>
          <a:p>
            <a:pPr indent="0" marL="0">
              <a:buNone/>
            </a:pPr>
            <a:r>
              <a:rPr lang="en-US" sz="1800" i="1" dirty="0">
                <a:solidFill>
                  <a:srgbClr val="CBB6F6"/>
                </a:solidFill>
                <a:latin typeface="Aptos" pitchFamily="34" charset="0"/>
                <a:ea typeface="Aptos" pitchFamily="34" charset="-122"/>
                <a:cs typeface="Aptos" pitchFamily="34" charset="-120"/>
              </a:rPr>
              <a:t>Ein Klick springt zur Stelle. Eine Quelle prüft den Satz. Eine Frage hakt nach.</a:t>
            </a:r>
            <a:endParaRPr lang="en-US" sz="1800" dirty="0"/>
          </a:p>
        </p:txBody>
      </p:sp>
      <p:sp>
        <p:nvSpPr>
          <p:cNvPr id="24" name="Text 18"/>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9A8EC0"/>
                </a:solidFill>
                <a:latin typeface="Aptos" pitchFamily="34" charset="0"/>
                <a:ea typeface="Aptos" pitchFamily="34" charset="-122"/>
                <a:cs typeface="Aptos" pitchFamily="34" charset="-120"/>
              </a:rPr>
              <a:t>418 pitch practice</a:t>
            </a:r>
            <a:endParaRPr lang="en-US" sz="900" dirty="0"/>
          </a:p>
        </p:txBody>
      </p:sp>
      <p:sp>
        <p:nvSpPr>
          <p:cNvPr id="25" name="Text 19"/>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9A8EC0"/>
                </a:solidFill>
                <a:latin typeface="Aptos" pitchFamily="34" charset="0"/>
                <a:ea typeface="Aptos" pitchFamily="34" charset="-122"/>
                <a:cs typeface="Aptos"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8686800" cy="731520"/>
          </a:xfrm>
          <a:prstGeom prst="rect">
            <a:avLst/>
          </a:prstGeom>
          <a:noFill/>
          <a:ln/>
        </p:spPr>
        <p:txBody>
          <a:bodyPr wrap="square" lIns="0" tIns="0" rIns="0" bIns="0" rtlCol="0" anchor="ctr"/>
          <a:lstStyle/>
          <a:p>
            <a:pPr indent="0" marL="0">
              <a:buNone/>
            </a:pPr>
            <a:r>
              <a:rPr lang="en-US" sz="4000" b="1" dirty="0">
                <a:solidFill>
                  <a:srgbClr val="17111F"/>
                </a:solidFill>
                <a:latin typeface="Aptos" pitchFamily="34" charset="0"/>
                <a:ea typeface="Aptos" pitchFamily="34" charset="-122"/>
                <a:cs typeface="Aptos" pitchFamily="34" charset="-120"/>
              </a:rPr>
              <a:t>Live-Demo</a:t>
            </a:r>
            <a:endParaRPr lang="en-US" sz="4000" dirty="0"/>
          </a:p>
        </p:txBody>
      </p:sp>
      <p:sp>
        <p:nvSpPr>
          <p:cNvPr id="3" name="Text 1"/>
          <p:cNvSpPr txBox="1"/>
          <p:nvPr/>
        </p:nvSpPr>
        <p:spPr>
          <a:xfrm>
            <a:off x="566928" y="1170432"/>
            <a:ext cx="10241280" cy="365760"/>
          </a:xfrm>
          <a:prstGeom prst="rect">
            <a:avLst/>
          </a:prstGeom>
          <a:noFill/>
          <a:ln/>
        </p:spPr>
        <p:txBody>
          <a:bodyPr wrap="square" lIns="0" tIns="0" rIns="0" bIns="0" rtlCol="0" anchor="ctr"/>
          <a:lstStyle/>
          <a:p>
            <a:pPr indent="0" marL="0">
              <a:buNone/>
            </a:pPr>
            <a:r>
              <a:rPr lang="en-US" sz="1600" dirty="0">
                <a:solidFill>
                  <a:srgbClr val="6B6577"/>
                </a:solidFill>
                <a:latin typeface="Aptos" pitchFamily="34" charset="0"/>
                <a:ea typeface="Aptos" pitchFamily="34" charset="-122"/>
                <a:cs typeface="Aptos" pitchFamily="34" charset="-120"/>
              </a:rPr>
              <a:t>Unser eigener Pitch als Testfall — 60 Sekunden, dann springen wir ins Review.</a:t>
            </a:r>
            <a:endParaRPr lang="en-US" sz="1600" dirty="0"/>
          </a:p>
        </p:txBody>
      </p:sp>
      <p:sp>
        <p:nvSpPr>
          <p:cNvPr id="4" name="Text 2"/>
          <p:cNvSpPr/>
          <p:nvPr/>
        </p:nvSpPr>
        <p:spPr>
          <a:xfrm>
            <a:off x="10625328" y="621792"/>
            <a:ext cx="987552" cy="347472"/>
          </a:xfrm>
          <a:prstGeom prst="roundRect">
            <a:avLst>
              <a:gd name="adj" fmla="val 47368"/>
            </a:avLst>
          </a:prstGeom>
          <a:solidFill>
            <a:srgbClr val="3803BF"/>
          </a:solidFill>
          <a:ln/>
        </p:spPr>
        <p:txBody>
          <a:bodyPr wrap="square" lIns="0" tIns="0" rIns="0" bIns="0" rtlCol="0" anchor="ctr"/>
          <a:lstStyle/>
          <a:p>
            <a:pPr algn="ctr" indent="0" marL="0">
              <a:buNone/>
            </a:pPr>
            <a:r>
              <a:rPr lang="en-US" sz="1000" b="1" spc="150" kern="0" dirty="0">
                <a:solidFill>
                  <a:srgbClr val="FFFFFF"/>
                </a:solidFill>
                <a:latin typeface="Aptos" pitchFamily="34" charset="0"/>
                <a:ea typeface="Aptos" pitchFamily="34" charset="-122"/>
                <a:cs typeface="Aptos" pitchFamily="34" charset="-120"/>
              </a:rPr>
              <a:t>LIVE</a:t>
            </a:r>
            <a:endParaRPr lang="en-US" sz="1000" dirty="0"/>
          </a:p>
        </p:txBody>
      </p:sp>
      <p:sp>
        <p:nvSpPr>
          <p:cNvPr id="5" name="Shape 3"/>
          <p:cNvSpPr/>
          <p:nvPr/>
        </p:nvSpPr>
        <p:spPr>
          <a:xfrm>
            <a:off x="566928" y="1828800"/>
            <a:ext cx="3520440" cy="3063240"/>
          </a:xfrm>
          <a:prstGeom prst="roundRect">
            <a:avLst>
              <a:gd name="adj" fmla="val 4179"/>
            </a:avLst>
          </a:prstGeom>
          <a:solidFill>
            <a:srgbClr val="F4F0FC"/>
          </a:solidFill>
          <a:ln/>
        </p:spPr>
      </p:sp>
      <p:sp>
        <p:nvSpPr>
          <p:cNvPr id="6" name="Text 4"/>
          <p:cNvSpPr txBox="1"/>
          <p:nvPr/>
        </p:nvSpPr>
        <p:spPr>
          <a:xfrm>
            <a:off x="841248" y="2048256"/>
            <a:ext cx="914400" cy="457200"/>
          </a:xfrm>
          <a:prstGeom prst="rect">
            <a:avLst/>
          </a:prstGeom>
          <a:noFill/>
          <a:ln/>
        </p:spPr>
        <p:txBody>
          <a:bodyPr wrap="square" lIns="0" tIns="0" rIns="0" bIns="0" rtlCol="0" anchor="ctr"/>
          <a:lstStyle/>
          <a:p>
            <a:pPr indent="0" marL="0">
              <a:buNone/>
            </a:pPr>
            <a:r>
              <a:rPr lang="en-US" sz="2800" b="1" dirty="0">
                <a:solidFill>
                  <a:srgbClr val="3803BF"/>
                </a:solidFill>
                <a:latin typeface="Aptos" pitchFamily="34" charset="0"/>
                <a:ea typeface="Aptos" pitchFamily="34" charset="-122"/>
                <a:cs typeface="Aptos" pitchFamily="34" charset="-120"/>
              </a:rPr>
              <a:t>01</a:t>
            </a:r>
            <a:endParaRPr lang="en-US" sz="2800" dirty="0"/>
          </a:p>
        </p:txBody>
      </p:sp>
      <p:sp>
        <p:nvSpPr>
          <p:cNvPr id="7" name="Shape 5"/>
          <p:cNvSpPr/>
          <p:nvPr/>
        </p:nvSpPr>
        <p:spPr>
          <a:xfrm>
            <a:off x="841248" y="2615184"/>
            <a:ext cx="457200" cy="457200"/>
          </a:xfrm>
          <a:prstGeom prst="ellipse">
            <a:avLst/>
          </a:prstGeom>
          <a:solidFill>
            <a:srgbClr val="E7DEF8"/>
          </a:solidFill>
          <a:ln/>
        </p:spPr>
      </p:sp>
      <p:pic>
        <p:nvPicPr>
          <p:cNvPr id="8" name="Image 0" descr="preencoded.png">    </p:cNvPr>
          <p:cNvPicPr>
            <a:picLocks noChangeAspect="1"/>
          </p:cNvPicPr>
          <p:nvPr/>
        </p:nvPicPr>
        <p:blipFill>
          <a:blip r:embed="rId1"/>
          <a:stretch>
            <a:fillRect/>
          </a:stretch>
        </p:blipFill>
        <p:spPr>
          <a:xfrm>
            <a:off x="960120" y="2734056"/>
            <a:ext cx="219456" cy="219456"/>
          </a:xfrm>
          <a:prstGeom prst="rect">
            <a:avLst/>
          </a:prstGeom>
        </p:spPr>
      </p:pic>
      <p:sp>
        <p:nvSpPr>
          <p:cNvPr id="9" name="Text 6"/>
          <p:cNvSpPr txBox="1"/>
          <p:nvPr/>
        </p:nvSpPr>
        <p:spPr>
          <a:xfrm>
            <a:off x="841248" y="3255264"/>
            <a:ext cx="2971800" cy="365760"/>
          </a:xfrm>
          <a:prstGeom prst="rect">
            <a:avLst/>
          </a:prstGeom>
          <a:noFill/>
          <a:ln/>
        </p:spPr>
        <p:txBody>
          <a:bodyPr wrap="square" lIns="0" tIns="0" rIns="0" bIns="0" rtlCol="0" anchor="ctr"/>
          <a:lstStyle/>
          <a:p>
            <a:pPr indent="0" marL="0">
              <a:buNone/>
            </a:pPr>
            <a:r>
              <a:rPr lang="en-US" sz="1700" b="1" dirty="0">
                <a:solidFill>
                  <a:srgbClr val="17111F"/>
                </a:solidFill>
                <a:latin typeface="Aptos" pitchFamily="34" charset="0"/>
                <a:ea typeface="Aptos" pitchFamily="34" charset="-122"/>
                <a:cs typeface="Aptos" pitchFamily="34" charset="-120"/>
              </a:rPr>
              <a:t>Aufnahme</a:t>
            </a:r>
            <a:endParaRPr lang="en-US" sz="1700" dirty="0"/>
          </a:p>
        </p:txBody>
      </p:sp>
      <p:sp>
        <p:nvSpPr>
          <p:cNvPr id="10" name="Text 7"/>
          <p:cNvSpPr txBox="1"/>
          <p:nvPr/>
        </p:nvSpPr>
        <p:spPr>
          <a:xfrm>
            <a:off x="841248" y="3675888"/>
            <a:ext cx="2953512" cy="100584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Kamera und Mikro laufen. Wir sprechen 60 Sekunden über genau diese Folie.</a:t>
            </a:r>
            <a:endParaRPr lang="en-US" sz="1250" dirty="0"/>
          </a:p>
        </p:txBody>
      </p:sp>
      <p:sp>
        <p:nvSpPr>
          <p:cNvPr id="11" name="Shape 8"/>
          <p:cNvSpPr/>
          <p:nvPr/>
        </p:nvSpPr>
        <p:spPr>
          <a:xfrm>
            <a:off x="4361688" y="1828800"/>
            <a:ext cx="3520440" cy="3063240"/>
          </a:xfrm>
          <a:prstGeom prst="roundRect">
            <a:avLst>
              <a:gd name="adj" fmla="val 4179"/>
            </a:avLst>
          </a:prstGeom>
          <a:solidFill>
            <a:srgbClr val="F4F0FC"/>
          </a:solidFill>
          <a:ln/>
        </p:spPr>
      </p:sp>
      <p:sp>
        <p:nvSpPr>
          <p:cNvPr id="12" name="Text 9"/>
          <p:cNvSpPr txBox="1"/>
          <p:nvPr/>
        </p:nvSpPr>
        <p:spPr>
          <a:xfrm>
            <a:off x="4636008" y="2048256"/>
            <a:ext cx="914400" cy="457200"/>
          </a:xfrm>
          <a:prstGeom prst="rect">
            <a:avLst/>
          </a:prstGeom>
          <a:noFill/>
          <a:ln/>
        </p:spPr>
        <p:txBody>
          <a:bodyPr wrap="square" lIns="0" tIns="0" rIns="0" bIns="0" rtlCol="0" anchor="ctr"/>
          <a:lstStyle/>
          <a:p>
            <a:pPr indent="0" marL="0">
              <a:buNone/>
            </a:pPr>
            <a:r>
              <a:rPr lang="en-US" sz="2800" b="1" dirty="0">
                <a:solidFill>
                  <a:srgbClr val="3803BF"/>
                </a:solidFill>
                <a:latin typeface="Aptos" pitchFamily="34" charset="0"/>
                <a:ea typeface="Aptos" pitchFamily="34" charset="-122"/>
                <a:cs typeface="Aptos" pitchFamily="34" charset="-120"/>
              </a:rPr>
              <a:t>02</a:t>
            </a:r>
            <a:endParaRPr lang="en-US" sz="2800" dirty="0"/>
          </a:p>
        </p:txBody>
      </p:sp>
      <p:sp>
        <p:nvSpPr>
          <p:cNvPr id="13" name="Shape 10"/>
          <p:cNvSpPr/>
          <p:nvPr/>
        </p:nvSpPr>
        <p:spPr>
          <a:xfrm>
            <a:off x="4636008" y="2615184"/>
            <a:ext cx="457200" cy="457200"/>
          </a:xfrm>
          <a:prstGeom prst="ellipse">
            <a:avLst/>
          </a:prstGeom>
          <a:solidFill>
            <a:srgbClr val="E7DEF8"/>
          </a:solidFill>
          <a:ln/>
        </p:spPr>
      </p:sp>
      <p:pic>
        <p:nvPicPr>
          <p:cNvPr id="14" name="Image 1" descr="preencoded.png">    </p:cNvPr>
          <p:cNvPicPr>
            <a:picLocks noChangeAspect="1"/>
          </p:cNvPicPr>
          <p:nvPr/>
        </p:nvPicPr>
        <p:blipFill>
          <a:blip r:embed="rId2"/>
          <a:stretch>
            <a:fillRect/>
          </a:stretch>
        </p:blipFill>
        <p:spPr>
          <a:xfrm>
            <a:off x="4754880" y="2734056"/>
            <a:ext cx="219456" cy="219456"/>
          </a:xfrm>
          <a:prstGeom prst="rect">
            <a:avLst/>
          </a:prstGeom>
        </p:spPr>
      </p:pic>
      <p:sp>
        <p:nvSpPr>
          <p:cNvPr id="15" name="Text 11"/>
          <p:cNvSpPr txBox="1"/>
          <p:nvPr/>
        </p:nvSpPr>
        <p:spPr>
          <a:xfrm>
            <a:off x="4636008" y="3255264"/>
            <a:ext cx="2971800" cy="365760"/>
          </a:xfrm>
          <a:prstGeom prst="rect">
            <a:avLst/>
          </a:prstGeom>
          <a:noFill/>
          <a:ln/>
        </p:spPr>
        <p:txBody>
          <a:bodyPr wrap="square" lIns="0" tIns="0" rIns="0" bIns="0" rtlCol="0" anchor="ctr"/>
          <a:lstStyle/>
          <a:p>
            <a:pPr indent="0" marL="0">
              <a:buNone/>
            </a:pPr>
            <a:r>
              <a:rPr lang="en-US" sz="1700" b="1" dirty="0">
                <a:solidFill>
                  <a:srgbClr val="17111F"/>
                </a:solidFill>
                <a:latin typeface="Aptos" pitchFamily="34" charset="0"/>
                <a:ea typeface="Aptos" pitchFamily="34" charset="-122"/>
                <a:cs typeface="Aptos" pitchFamily="34" charset="-120"/>
              </a:rPr>
              <a:t>Review</a:t>
            </a:r>
            <a:endParaRPr lang="en-US" sz="1700" dirty="0"/>
          </a:p>
        </p:txBody>
      </p:sp>
      <p:sp>
        <p:nvSpPr>
          <p:cNvPr id="16" name="Text 12"/>
          <p:cNvSpPr txBox="1"/>
          <p:nvPr/>
        </p:nvSpPr>
        <p:spPr>
          <a:xfrm>
            <a:off x="4636008" y="3675888"/>
            <a:ext cx="2953512" cy="100584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Eine Stelle öffnen, zur Sekunde springen, die drei Kriterien lesen: Gestik, Fachwissen, Flow.</a:t>
            </a:r>
            <a:endParaRPr lang="en-US" sz="1250" dirty="0"/>
          </a:p>
        </p:txBody>
      </p:sp>
      <p:sp>
        <p:nvSpPr>
          <p:cNvPr id="17" name="Shape 13"/>
          <p:cNvSpPr/>
          <p:nvPr/>
        </p:nvSpPr>
        <p:spPr>
          <a:xfrm>
            <a:off x="8156448" y="1828800"/>
            <a:ext cx="3520440" cy="3063240"/>
          </a:xfrm>
          <a:prstGeom prst="roundRect">
            <a:avLst>
              <a:gd name="adj" fmla="val 4179"/>
            </a:avLst>
          </a:prstGeom>
          <a:solidFill>
            <a:srgbClr val="F4F0FC"/>
          </a:solidFill>
          <a:ln/>
        </p:spPr>
      </p:sp>
      <p:sp>
        <p:nvSpPr>
          <p:cNvPr id="18" name="Text 14"/>
          <p:cNvSpPr txBox="1"/>
          <p:nvPr/>
        </p:nvSpPr>
        <p:spPr>
          <a:xfrm>
            <a:off x="8430768" y="2048256"/>
            <a:ext cx="914400" cy="457200"/>
          </a:xfrm>
          <a:prstGeom prst="rect">
            <a:avLst/>
          </a:prstGeom>
          <a:noFill/>
          <a:ln/>
        </p:spPr>
        <p:txBody>
          <a:bodyPr wrap="square" lIns="0" tIns="0" rIns="0" bIns="0" rtlCol="0" anchor="ctr"/>
          <a:lstStyle/>
          <a:p>
            <a:pPr indent="0" marL="0">
              <a:buNone/>
            </a:pPr>
            <a:r>
              <a:rPr lang="en-US" sz="2800" b="1" dirty="0">
                <a:solidFill>
                  <a:srgbClr val="3803BF"/>
                </a:solidFill>
                <a:latin typeface="Aptos" pitchFamily="34" charset="0"/>
                <a:ea typeface="Aptos" pitchFamily="34" charset="-122"/>
                <a:cs typeface="Aptos" pitchFamily="34" charset="-120"/>
              </a:rPr>
              <a:t>03</a:t>
            </a:r>
            <a:endParaRPr lang="en-US" sz="2800" dirty="0"/>
          </a:p>
        </p:txBody>
      </p:sp>
      <p:sp>
        <p:nvSpPr>
          <p:cNvPr id="19" name="Shape 15"/>
          <p:cNvSpPr/>
          <p:nvPr/>
        </p:nvSpPr>
        <p:spPr>
          <a:xfrm>
            <a:off x="8430768" y="2615184"/>
            <a:ext cx="457200" cy="457200"/>
          </a:xfrm>
          <a:prstGeom prst="ellipse">
            <a:avLst/>
          </a:prstGeom>
          <a:solidFill>
            <a:srgbClr val="E7DEF8"/>
          </a:solidFill>
          <a:ln/>
        </p:spPr>
      </p:sp>
      <p:pic>
        <p:nvPicPr>
          <p:cNvPr id="20" name="Image 2" descr="preencoded.png">    </p:cNvPr>
          <p:cNvPicPr>
            <a:picLocks noChangeAspect="1"/>
          </p:cNvPicPr>
          <p:nvPr/>
        </p:nvPicPr>
        <p:blipFill>
          <a:blip r:embed="rId3"/>
          <a:stretch>
            <a:fillRect/>
          </a:stretch>
        </p:blipFill>
        <p:spPr>
          <a:xfrm>
            <a:off x="8549640" y="2734056"/>
            <a:ext cx="219456" cy="219456"/>
          </a:xfrm>
          <a:prstGeom prst="rect">
            <a:avLst/>
          </a:prstGeom>
        </p:spPr>
      </p:pic>
      <p:sp>
        <p:nvSpPr>
          <p:cNvPr id="21" name="Text 16"/>
          <p:cNvSpPr txBox="1"/>
          <p:nvPr/>
        </p:nvSpPr>
        <p:spPr>
          <a:xfrm>
            <a:off x="8430768" y="3255264"/>
            <a:ext cx="2971800" cy="365760"/>
          </a:xfrm>
          <a:prstGeom prst="rect">
            <a:avLst/>
          </a:prstGeom>
          <a:noFill/>
          <a:ln/>
        </p:spPr>
        <p:txBody>
          <a:bodyPr wrap="square" lIns="0" tIns="0" rIns="0" bIns="0" rtlCol="0" anchor="ctr"/>
          <a:lstStyle/>
          <a:p>
            <a:pPr indent="0" marL="0">
              <a:buNone/>
            </a:pPr>
            <a:r>
              <a:rPr lang="en-US" sz="1700" b="1" dirty="0">
                <a:solidFill>
                  <a:srgbClr val="17111F"/>
                </a:solidFill>
                <a:latin typeface="Aptos" pitchFamily="34" charset="0"/>
                <a:ea typeface="Aptos" pitchFamily="34" charset="-122"/>
                <a:cs typeface="Aptos" pitchFamily="34" charset="-120"/>
              </a:rPr>
              <a:t>Quellencheck + Frage</a:t>
            </a:r>
            <a:endParaRPr lang="en-US" sz="1700" dirty="0"/>
          </a:p>
        </p:txBody>
      </p:sp>
      <p:sp>
        <p:nvSpPr>
          <p:cNvPr id="22" name="Text 17"/>
          <p:cNvSpPr txBox="1"/>
          <p:nvPr/>
        </p:nvSpPr>
        <p:spPr>
          <a:xfrm>
            <a:off x="8430768" y="3675888"/>
            <a:ext cx="2953512" cy="100584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Eine Aussage gegen die Quelle prüfen, eine Rückfrage beantworten.</a:t>
            </a:r>
            <a:endParaRPr lang="en-US" sz="1250" dirty="0"/>
          </a:p>
        </p:txBody>
      </p:sp>
      <p:sp>
        <p:nvSpPr>
          <p:cNvPr id="23" name="Shape 18"/>
          <p:cNvSpPr/>
          <p:nvPr/>
        </p:nvSpPr>
        <p:spPr>
          <a:xfrm>
            <a:off x="566928" y="5166360"/>
            <a:ext cx="11064240" cy="868680"/>
          </a:xfrm>
          <a:prstGeom prst="roundRect">
            <a:avLst>
              <a:gd name="adj" fmla="val 14737"/>
            </a:avLst>
          </a:prstGeom>
          <a:solidFill>
            <a:srgbClr val="17111F"/>
          </a:solidFill>
          <a:ln/>
        </p:spPr>
      </p:sp>
      <p:sp>
        <p:nvSpPr>
          <p:cNvPr id="24" name="Text 19"/>
          <p:cNvSpPr txBox="1"/>
          <p:nvPr/>
        </p:nvSpPr>
        <p:spPr>
          <a:xfrm>
            <a:off x="914400" y="5394960"/>
            <a:ext cx="10378440" cy="411480"/>
          </a:xfrm>
          <a:prstGeom prst="rect">
            <a:avLst/>
          </a:prstGeom>
          <a:noFill/>
          <a:ln/>
        </p:spPr>
        <p:txBody>
          <a:bodyPr wrap="square" lIns="0" tIns="0" rIns="0" bIns="0" rtlCol="0" anchor="ctr"/>
          <a:lstStyle/>
          <a:p>
            <a:pPr indent="0" marL="0">
              <a:buNone/>
            </a:pPr>
            <a:r>
              <a:rPr lang="en-US" sz="1500" dirty="0">
                <a:solidFill>
                  <a:srgbClr val="FFFFFF"/>
                </a:solidFill>
                <a:latin typeface="Aptos" pitchFamily="34" charset="0"/>
                <a:ea typeface="Aptos" pitchFamily="34" charset="-122"/>
                <a:cs typeface="Aptos" pitchFamily="34" charset="-120"/>
              </a:rPr>
              <a:t>Die Demo ist der Pitch: eine Aufnahme, ein Review, eine Rückfrage.   ·   Kein Login. Keine Server-Clips.</a:t>
            </a:r>
            <a:endParaRPr lang="en-US" sz="1500" dirty="0"/>
          </a:p>
        </p:txBody>
      </p:sp>
      <p:sp>
        <p:nvSpPr>
          <p:cNvPr id="25" name="Text 20"/>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6B6577"/>
                </a:solidFill>
                <a:latin typeface="Aptos" pitchFamily="34" charset="0"/>
                <a:ea typeface="Aptos" pitchFamily="34" charset="-122"/>
                <a:cs typeface="Aptos" pitchFamily="34" charset="-120"/>
              </a:rPr>
              <a:t>418 pitch practice</a:t>
            </a:r>
            <a:endParaRPr lang="en-US" sz="900" dirty="0"/>
          </a:p>
        </p:txBody>
      </p:sp>
      <p:sp>
        <p:nvSpPr>
          <p:cNvPr id="26" name="Text 21"/>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6B6577"/>
                </a:solidFill>
                <a:latin typeface="Aptos" pitchFamily="34" charset="0"/>
                <a:ea typeface="Aptos" pitchFamily="34" charset="-122"/>
                <a:cs typeface="Aptos"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0A20"/>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56032"/>
          </a:xfrm>
          <a:prstGeom prst="rect">
            <a:avLst/>
          </a:prstGeom>
          <a:noFill/>
          <a:ln/>
        </p:spPr>
        <p:txBody>
          <a:bodyPr wrap="square" lIns="0" tIns="0" rIns="0" bIns="0" rtlCol="0" anchor="ctr"/>
          <a:lstStyle/>
          <a:p>
            <a:pPr indent="0" marL="0">
              <a:buNone/>
            </a:pPr>
            <a:r>
              <a:rPr lang="en-US" sz="1100" b="1" spc="200" kern="0" dirty="0">
                <a:solidFill>
                  <a:srgbClr val="CBB6F6"/>
                </a:solidFill>
                <a:latin typeface="Aptos" pitchFamily="34" charset="0"/>
                <a:ea typeface="Aptos" pitchFamily="34" charset="-122"/>
                <a:cs typeface="Aptos" pitchFamily="34" charset="-120"/>
              </a:rPr>
              <a:t>AI-REFLECTION · 1/2</a:t>
            </a:r>
            <a:endParaRPr lang="en-US" sz="1100" dirty="0"/>
          </a:p>
        </p:txBody>
      </p:sp>
      <p:sp>
        <p:nvSpPr>
          <p:cNvPr id="3" name="Text 1"/>
          <p:cNvSpPr txBox="1"/>
          <p:nvPr/>
        </p:nvSpPr>
        <p:spPr>
          <a:xfrm>
            <a:off x="566928" y="804672"/>
            <a:ext cx="11064240" cy="640080"/>
          </a:xfrm>
          <a:prstGeom prst="rect">
            <a:avLst/>
          </a:prstGeom>
          <a:noFill/>
          <a:ln/>
        </p:spPr>
        <p:txBody>
          <a:bodyPr wrap="square" lIns="0" tIns="0" rIns="0" bIns="0" rtlCol="0" anchor="ctr"/>
          <a:lstStyle/>
          <a:p>
            <a:pPr indent="0" marL="0">
              <a:buNone/>
            </a:pPr>
            <a:r>
              <a:rPr lang="en-US" sz="3400" b="1" dirty="0">
                <a:solidFill>
                  <a:srgbClr val="FFFFFF"/>
                </a:solidFill>
                <a:latin typeface="Aptos" pitchFamily="34" charset="0"/>
                <a:ea typeface="Aptos" pitchFamily="34" charset="-122"/>
                <a:cs typeface="Aptos" pitchFamily="34" charset="-120"/>
              </a:rPr>
              <a:t>KI im Produkt: fünf Rollen, ein Prinzip</a:t>
            </a:r>
            <a:endParaRPr lang="en-US" sz="3400" dirty="0"/>
          </a:p>
        </p:txBody>
      </p:sp>
      <p:sp>
        <p:nvSpPr>
          <p:cNvPr id="4" name="Shape 2"/>
          <p:cNvSpPr/>
          <p:nvPr/>
        </p:nvSpPr>
        <p:spPr>
          <a:xfrm>
            <a:off x="566928" y="1783080"/>
            <a:ext cx="2057400" cy="2606040"/>
          </a:xfrm>
          <a:prstGeom prst="roundRect">
            <a:avLst>
              <a:gd name="adj" fmla="val 6222"/>
            </a:avLst>
          </a:prstGeom>
          <a:solidFill>
            <a:srgbClr val="221040"/>
          </a:solidFill>
          <a:ln/>
        </p:spPr>
      </p:sp>
      <p:sp>
        <p:nvSpPr>
          <p:cNvPr id="5" name="Shape 3"/>
          <p:cNvSpPr/>
          <p:nvPr/>
        </p:nvSpPr>
        <p:spPr>
          <a:xfrm>
            <a:off x="804672" y="2029968"/>
            <a:ext cx="457200" cy="457200"/>
          </a:xfrm>
          <a:prstGeom prst="ellipse">
            <a:avLst/>
          </a:prstGeom>
          <a:solidFill>
            <a:srgbClr val="E7DEF8"/>
          </a:solidFill>
          <a:ln/>
        </p:spPr>
      </p:sp>
      <p:pic>
        <p:nvPicPr>
          <p:cNvPr id="6" name="Image 0" descr="preencoded.png">    </p:cNvPr>
          <p:cNvPicPr>
            <a:picLocks noChangeAspect="1"/>
          </p:cNvPicPr>
          <p:nvPr/>
        </p:nvPicPr>
        <p:blipFill>
          <a:blip r:embed="rId1"/>
          <a:stretch>
            <a:fillRect/>
          </a:stretch>
        </p:blipFill>
        <p:spPr>
          <a:xfrm>
            <a:off x="923544" y="2148840"/>
            <a:ext cx="219456" cy="219456"/>
          </a:xfrm>
          <a:prstGeom prst="rect">
            <a:avLst/>
          </a:prstGeom>
        </p:spPr>
      </p:pic>
      <p:sp>
        <p:nvSpPr>
          <p:cNvPr id="7" name="Text 4"/>
          <p:cNvSpPr txBox="1"/>
          <p:nvPr/>
        </p:nvSpPr>
        <p:spPr>
          <a:xfrm>
            <a:off x="804672" y="2633472"/>
            <a:ext cx="1636776" cy="320040"/>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Pose &amp; Gestik</a:t>
            </a:r>
            <a:endParaRPr lang="en-US" sz="1350" dirty="0"/>
          </a:p>
        </p:txBody>
      </p:sp>
      <p:sp>
        <p:nvSpPr>
          <p:cNvPr id="8" name="Text 5"/>
          <p:cNvSpPr txBox="1"/>
          <p:nvPr/>
        </p:nvSpPr>
        <p:spPr>
          <a:xfrm>
            <a:off x="804672" y="2971800"/>
            <a:ext cx="1636776" cy="256032"/>
          </a:xfrm>
          <a:prstGeom prst="rect">
            <a:avLst/>
          </a:prstGeom>
          <a:noFill/>
          <a:ln/>
        </p:spPr>
        <p:txBody>
          <a:bodyPr wrap="square" lIns="0" tIns="0" rIns="0" bIns="0" rtlCol="0" anchor="ctr"/>
          <a:lstStyle/>
          <a:p>
            <a:pPr indent="0" marL="0">
              <a:buNone/>
            </a:pPr>
            <a:r>
              <a:rPr lang="en-US" sz="1050" b="1" dirty="0">
                <a:solidFill>
                  <a:srgbClr val="CBB6F6"/>
                </a:solidFill>
                <a:latin typeface="Aptos" pitchFamily="34" charset="0"/>
                <a:ea typeface="Aptos" pitchFamily="34" charset="-122"/>
                <a:cs typeface="Aptos" pitchFamily="34" charset="-120"/>
              </a:rPr>
              <a:t>MediaPipe</a:t>
            </a:r>
            <a:endParaRPr lang="en-US" sz="1050" dirty="0"/>
          </a:p>
        </p:txBody>
      </p:sp>
      <p:sp>
        <p:nvSpPr>
          <p:cNvPr id="9" name="Text 6"/>
          <p:cNvSpPr txBox="1"/>
          <p:nvPr/>
        </p:nvSpPr>
        <p:spPr>
          <a:xfrm>
            <a:off x="804672" y="3300984"/>
            <a:ext cx="1636776" cy="914400"/>
          </a:xfrm>
          <a:prstGeom prst="rect">
            <a:avLst/>
          </a:prstGeom>
          <a:noFill/>
          <a:ln/>
        </p:spPr>
        <p:txBody>
          <a:bodyPr wrap="square" lIns="0" tIns="0" rIns="0" bIns="0" rtlCol="0" anchor="t"/>
          <a:lstStyle/>
          <a:p>
            <a:pPr indent="0" marL="0">
              <a:buNone/>
            </a:pPr>
            <a:r>
              <a:rPr lang="en-US" sz="1100" dirty="0">
                <a:solidFill>
                  <a:srgbClr val="D8CFF0"/>
                </a:solidFill>
                <a:latin typeface="Aptos" pitchFamily="34" charset="0"/>
                <a:ea typeface="Aptos" pitchFamily="34" charset="-122"/>
                <a:cs typeface="Aptos" pitchFamily="34" charset="-120"/>
              </a:rPr>
              <a:t>Landmarks im Browser; Regeln auf Winkeln und Kopflage.</a:t>
            </a:r>
            <a:endParaRPr lang="en-US" sz="1100" dirty="0"/>
          </a:p>
        </p:txBody>
      </p:sp>
      <p:sp>
        <p:nvSpPr>
          <p:cNvPr id="10" name="Shape 7"/>
          <p:cNvSpPr/>
          <p:nvPr/>
        </p:nvSpPr>
        <p:spPr>
          <a:xfrm>
            <a:off x="2839212" y="1783080"/>
            <a:ext cx="2057400" cy="2606040"/>
          </a:xfrm>
          <a:prstGeom prst="roundRect">
            <a:avLst>
              <a:gd name="adj" fmla="val 6222"/>
            </a:avLst>
          </a:prstGeom>
          <a:solidFill>
            <a:srgbClr val="221040"/>
          </a:solidFill>
          <a:ln/>
        </p:spPr>
      </p:sp>
      <p:sp>
        <p:nvSpPr>
          <p:cNvPr id="11" name="Shape 8"/>
          <p:cNvSpPr/>
          <p:nvPr/>
        </p:nvSpPr>
        <p:spPr>
          <a:xfrm>
            <a:off x="3076956" y="2029968"/>
            <a:ext cx="457200" cy="457200"/>
          </a:xfrm>
          <a:prstGeom prst="ellipse">
            <a:avLst/>
          </a:prstGeom>
          <a:solidFill>
            <a:srgbClr val="E7DEF8"/>
          </a:solidFill>
          <a:ln/>
        </p:spPr>
      </p:sp>
      <p:pic>
        <p:nvPicPr>
          <p:cNvPr id="12" name="Image 1" descr="preencoded.png">    </p:cNvPr>
          <p:cNvPicPr>
            <a:picLocks noChangeAspect="1"/>
          </p:cNvPicPr>
          <p:nvPr/>
        </p:nvPicPr>
        <p:blipFill>
          <a:blip r:embed="rId2"/>
          <a:stretch>
            <a:fillRect/>
          </a:stretch>
        </p:blipFill>
        <p:spPr>
          <a:xfrm>
            <a:off x="3195828" y="2148840"/>
            <a:ext cx="219456" cy="219456"/>
          </a:xfrm>
          <a:prstGeom prst="rect">
            <a:avLst/>
          </a:prstGeom>
        </p:spPr>
      </p:pic>
      <p:sp>
        <p:nvSpPr>
          <p:cNvPr id="13" name="Text 9"/>
          <p:cNvSpPr txBox="1"/>
          <p:nvPr/>
        </p:nvSpPr>
        <p:spPr>
          <a:xfrm>
            <a:off x="3076956" y="2633472"/>
            <a:ext cx="1636776" cy="320040"/>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Transkript</a:t>
            </a:r>
            <a:endParaRPr lang="en-US" sz="1350" dirty="0"/>
          </a:p>
        </p:txBody>
      </p:sp>
      <p:sp>
        <p:nvSpPr>
          <p:cNvPr id="14" name="Text 10"/>
          <p:cNvSpPr txBox="1"/>
          <p:nvPr/>
        </p:nvSpPr>
        <p:spPr>
          <a:xfrm>
            <a:off x="3076956" y="2971800"/>
            <a:ext cx="1636776" cy="256032"/>
          </a:xfrm>
          <a:prstGeom prst="rect">
            <a:avLst/>
          </a:prstGeom>
          <a:noFill/>
          <a:ln/>
        </p:spPr>
        <p:txBody>
          <a:bodyPr wrap="square" lIns="0" tIns="0" rIns="0" bIns="0" rtlCol="0" anchor="ctr"/>
          <a:lstStyle/>
          <a:p>
            <a:pPr indent="0" marL="0">
              <a:buNone/>
            </a:pPr>
            <a:r>
              <a:rPr lang="en-US" sz="1050" b="1" dirty="0">
                <a:solidFill>
                  <a:srgbClr val="CBB6F6"/>
                </a:solidFill>
                <a:latin typeface="Aptos" pitchFamily="34" charset="0"/>
                <a:ea typeface="Aptos" pitchFamily="34" charset="-122"/>
                <a:cs typeface="Aptos" pitchFamily="34" charset="-120"/>
              </a:rPr>
              <a:t>Whisper · Deepgram</a:t>
            </a:r>
            <a:endParaRPr lang="en-US" sz="1050" dirty="0"/>
          </a:p>
        </p:txBody>
      </p:sp>
      <p:sp>
        <p:nvSpPr>
          <p:cNvPr id="15" name="Text 11"/>
          <p:cNvSpPr txBox="1"/>
          <p:nvPr/>
        </p:nvSpPr>
        <p:spPr>
          <a:xfrm>
            <a:off x="3076956" y="3300984"/>
            <a:ext cx="1636776" cy="914400"/>
          </a:xfrm>
          <a:prstGeom prst="rect">
            <a:avLst/>
          </a:prstGeom>
          <a:noFill/>
          <a:ln/>
        </p:spPr>
        <p:txBody>
          <a:bodyPr wrap="square" lIns="0" tIns="0" rIns="0" bIns="0" rtlCol="0" anchor="t"/>
          <a:lstStyle/>
          <a:p>
            <a:pPr indent="0" marL="0">
              <a:buNone/>
            </a:pPr>
            <a:r>
              <a:rPr lang="en-US" sz="1100" dirty="0">
                <a:solidFill>
                  <a:srgbClr val="D8CFF0"/>
                </a:solidFill>
                <a:latin typeface="Aptos" pitchFamily="34" charset="0"/>
                <a:ea typeface="Aptos" pitchFamily="34" charset="-122"/>
                <a:cs typeface="Aptos" pitchFamily="34" charset="-120"/>
              </a:rPr>
              <a:t>Wort-Timestamps; lokal oder als EU-Stream.</a:t>
            </a:r>
            <a:endParaRPr lang="en-US" sz="1100" dirty="0"/>
          </a:p>
        </p:txBody>
      </p:sp>
      <p:sp>
        <p:nvSpPr>
          <p:cNvPr id="16" name="Shape 12"/>
          <p:cNvSpPr/>
          <p:nvPr/>
        </p:nvSpPr>
        <p:spPr>
          <a:xfrm>
            <a:off x="5111496" y="1783080"/>
            <a:ext cx="2057400" cy="2606040"/>
          </a:xfrm>
          <a:prstGeom prst="roundRect">
            <a:avLst>
              <a:gd name="adj" fmla="val 6222"/>
            </a:avLst>
          </a:prstGeom>
          <a:solidFill>
            <a:srgbClr val="221040"/>
          </a:solidFill>
          <a:ln/>
        </p:spPr>
      </p:sp>
      <p:sp>
        <p:nvSpPr>
          <p:cNvPr id="17" name="Shape 13"/>
          <p:cNvSpPr/>
          <p:nvPr/>
        </p:nvSpPr>
        <p:spPr>
          <a:xfrm>
            <a:off x="5349240" y="2029968"/>
            <a:ext cx="457200" cy="457200"/>
          </a:xfrm>
          <a:prstGeom prst="ellipse">
            <a:avLst/>
          </a:prstGeom>
          <a:solidFill>
            <a:srgbClr val="E7DEF8"/>
          </a:solidFill>
          <a:ln/>
        </p:spPr>
      </p:sp>
      <p:pic>
        <p:nvPicPr>
          <p:cNvPr id="18" name="Image 2" descr="preencoded.png">    </p:cNvPr>
          <p:cNvPicPr>
            <a:picLocks noChangeAspect="1"/>
          </p:cNvPicPr>
          <p:nvPr/>
        </p:nvPicPr>
        <p:blipFill>
          <a:blip r:embed="rId3"/>
          <a:stretch>
            <a:fillRect/>
          </a:stretch>
        </p:blipFill>
        <p:spPr>
          <a:xfrm>
            <a:off x="5468112" y="2148840"/>
            <a:ext cx="219456" cy="219456"/>
          </a:xfrm>
          <a:prstGeom prst="rect">
            <a:avLst/>
          </a:prstGeom>
        </p:spPr>
      </p:pic>
      <p:sp>
        <p:nvSpPr>
          <p:cNvPr id="19" name="Text 14"/>
          <p:cNvSpPr txBox="1"/>
          <p:nvPr/>
        </p:nvSpPr>
        <p:spPr>
          <a:xfrm>
            <a:off x="5349240" y="2633472"/>
            <a:ext cx="1636776" cy="320040"/>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Quellen</a:t>
            </a:r>
            <a:endParaRPr lang="en-US" sz="1350" dirty="0"/>
          </a:p>
        </p:txBody>
      </p:sp>
      <p:sp>
        <p:nvSpPr>
          <p:cNvPr id="20" name="Text 15"/>
          <p:cNvSpPr txBox="1"/>
          <p:nvPr/>
        </p:nvSpPr>
        <p:spPr>
          <a:xfrm>
            <a:off x="5349240" y="2971800"/>
            <a:ext cx="1636776" cy="256032"/>
          </a:xfrm>
          <a:prstGeom prst="rect">
            <a:avLst/>
          </a:prstGeom>
          <a:noFill/>
          <a:ln/>
        </p:spPr>
        <p:txBody>
          <a:bodyPr wrap="square" lIns="0" tIns="0" rIns="0" bIns="0" rtlCol="0" anchor="ctr"/>
          <a:lstStyle/>
          <a:p>
            <a:pPr indent="0" marL="0">
              <a:buNone/>
            </a:pPr>
            <a:r>
              <a:rPr lang="en-US" sz="1050" b="1" dirty="0">
                <a:solidFill>
                  <a:srgbClr val="CBB6F6"/>
                </a:solidFill>
                <a:latin typeface="Aptos" pitchFamily="34" charset="0"/>
                <a:ea typeface="Aptos" pitchFamily="34" charset="-122"/>
                <a:cs typeface="Aptos" pitchFamily="34" charset="-120"/>
              </a:rPr>
              <a:t>Embeddings</a:t>
            </a:r>
            <a:endParaRPr lang="en-US" sz="1050" dirty="0"/>
          </a:p>
        </p:txBody>
      </p:sp>
      <p:sp>
        <p:nvSpPr>
          <p:cNvPr id="21" name="Text 16"/>
          <p:cNvSpPr txBox="1"/>
          <p:nvPr/>
        </p:nvSpPr>
        <p:spPr>
          <a:xfrm>
            <a:off x="5349240" y="3300984"/>
            <a:ext cx="1636776" cy="914400"/>
          </a:xfrm>
          <a:prstGeom prst="rect">
            <a:avLst/>
          </a:prstGeom>
          <a:noFill/>
          <a:ln/>
        </p:spPr>
        <p:txBody>
          <a:bodyPr wrap="square" lIns="0" tIns="0" rIns="0" bIns="0" rtlCol="0" anchor="t"/>
          <a:lstStyle/>
          <a:p>
            <a:pPr indent="0" marL="0">
              <a:buNone/>
            </a:pPr>
            <a:r>
              <a:rPr lang="en-US" sz="1100" dirty="0">
                <a:solidFill>
                  <a:srgbClr val="D8CFF0"/>
                </a:solidFill>
                <a:latin typeface="Aptos" pitchFamily="34" charset="0"/>
                <a:ea typeface="Aptos" pitchFamily="34" charset="-122"/>
                <a:cs typeface="Aptos" pitchFamily="34" charset="-120"/>
              </a:rPr>
              <a:t>Hybrid-Suche in PDF, PPTX, DOCX.</a:t>
            </a:r>
            <a:endParaRPr lang="en-US" sz="1100" dirty="0"/>
          </a:p>
        </p:txBody>
      </p:sp>
      <p:sp>
        <p:nvSpPr>
          <p:cNvPr id="22" name="Shape 17"/>
          <p:cNvSpPr/>
          <p:nvPr/>
        </p:nvSpPr>
        <p:spPr>
          <a:xfrm>
            <a:off x="7383780" y="1783080"/>
            <a:ext cx="2057400" cy="2606040"/>
          </a:xfrm>
          <a:prstGeom prst="roundRect">
            <a:avLst>
              <a:gd name="adj" fmla="val 6222"/>
            </a:avLst>
          </a:prstGeom>
          <a:solidFill>
            <a:srgbClr val="221040"/>
          </a:solidFill>
          <a:ln/>
        </p:spPr>
      </p:sp>
      <p:sp>
        <p:nvSpPr>
          <p:cNvPr id="23" name="Shape 18"/>
          <p:cNvSpPr/>
          <p:nvPr/>
        </p:nvSpPr>
        <p:spPr>
          <a:xfrm>
            <a:off x="7621524" y="2029968"/>
            <a:ext cx="457200" cy="457200"/>
          </a:xfrm>
          <a:prstGeom prst="ellipse">
            <a:avLst/>
          </a:prstGeom>
          <a:solidFill>
            <a:srgbClr val="E7DEF8"/>
          </a:solidFill>
          <a:ln/>
        </p:spPr>
      </p:sp>
      <p:pic>
        <p:nvPicPr>
          <p:cNvPr id="24" name="Image 3" descr="preencoded.png">    </p:cNvPr>
          <p:cNvPicPr>
            <a:picLocks noChangeAspect="1"/>
          </p:cNvPicPr>
          <p:nvPr/>
        </p:nvPicPr>
        <p:blipFill>
          <a:blip r:embed="rId4"/>
          <a:stretch>
            <a:fillRect/>
          </a:stretch>
        </p:blipFill>
        <p:spPr>
          <a:xfrm>
            <a:off x="7740396" y="2148840"/>
            <a:ext cx="219456" cy="219456"/>
          </a:xfrm>
          <a:prstGeom prst="rect">
            <a:avLst/>
          </a:prstGeom>
        </p:spPr>
      </p:pic>
      <p:sp>
        <p:nvSpPr>
          <p:cNvPr id="25" name="Text 19"/>
          <p:cNvSpPr txBox="1"/>
          <p:nvPr/>
        </p:nvSpPr>
        <p:spPr>
          <a:xfrm>
            <a:off x="7621524" y="2633472"/>
            <a:ext cx="1636776" cy="320040"/>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Urteil</a:t>
            </a:r>
            <a:endParaRPr lang="en-US" sz="1350" dirty="0"/>
          </a:p>
        </p:txBody>
      </p:sp>
      <p:sp>
        <p:nvSpPr>
          <p:cNvPr id="26" name="Text 20"/>
          <p:cNvSpPr txBox="1"/>
          <p:nvPr/>
        </p:nvSpPr>
        <p:spPr>
          <a:xfrm>
            <a:off x="7621524" y="2971800"/>
            <a:ext cx="1636776" cy="256032"/>
          </a:xfrm>
          <a:prstGeom prst="rect">
            <a:avLst/>
          </a:prstGeom>
          <a:noFill/>
          <a:ln/>
        </p:spPr>
        <p:txBody>
          <a:bodyPr wrap="square" lIns="0" tIns="0" rIns="0" bIns="0" rtlCol="0" anchor="ctr"/>
          <a:lstStyle/>
          <a:p>
            <a:pPr indent="0" marL="0">
              <a:buNone/>
            </a:pPr>
            <a:r>
              <a:rPr lang="en-US" sz="1050" b="1" dirty="0">
                <a:solidFill>
                  <a:srgbClr val="CBB6F6"/>
                </a:solidFill>
                <a:latin typeface="Aptos" pitchFamily="34" charset="0"/>
                <a:ea typeface="Aptos" pitchFamily="34" charset="-122"/>
                <a:cs typeface="Aptos" pitchFamily="34" charset="-120"/>
              </a:rPr>
              <a:t>Gemini</a:t>
            </a:r>
            <a:endParaRPr lang="en-US" sz="1050" dirty="0"/>
          </a:p>
        </p:txBody>
      </p:sp>
      <p:sp>
        <p:nvSpPr>
          <p:cNvPr id="27" name="Text 21"/>
          <p:cNvSpPr txBox="1"/>
          <p:nvPr/>
        </p:nvSpPr>
        <p:spPr>
          <a:xfrm>
            <a:off x="7621524" y="3300984"/>
            <a:ext cx="1636776" cy="914400"/>
          </a:xfrm>
          <a:prstGeom prst="rect">
            <a:avLst/>
          </a:prstGeom>
          <a:noFill/>
          <a:ln/>
        </p:spPr>
        <p:txBody>
          <a:bodyPr wrap="square" lIns="0" tIns="0" rIns="0" bIns="0" rtlCol="0" anchor="t"/>
          <a:lstStyle/>
          <a:p>
            <a:pPr indent="0" marL="0">
              <a:buNone/>
            </a:pPr>
            <a:r>
              <a:rPr lang="en-US" sz="1100" dirty="0">
                <a:solidFill>
                  <a:srgbClr val="D8CFF0"/>
                </a:solidFill>
                <a:latin typeface="Aptos" pitchFamily="34" charset="0"/>
                <a:ea typeface="Aptos" pitchFamily="34" charset="-122"/>
                <a:cs typeface="Aptos" pitchFamily="34" charset="-120"/>
              </a:rPr>
              <a:t>Aussagen extrahieren, Zitat vorgeben, Unsicherheit benennen.</a:t>
            </a:r>
            <a:endParaRPr lang="en-US" sz="1100" dirty="0"/>
          </a:p>
        </p:txBody>
      </p:sp>
      <p:sp>
        <p:nvSpPr>
          <p:cNvPr id="28" name="Shape 22"/>
          <p:cNvSpPr/>
          <p:nvPr/>
        </p:nvSpPr>
        <p:spPr>
          <a:xfrm>
            <a:off x="9656064" y="1783080"/>
            <a:ext cx="2057400" cy="2606040"/>
          </a:xfrm>
          <a:prstGeom prst="roundRect">
            <a:avLst>
              <a:gd name="adj" fmla="val 6222"/>
            </a:avLst>
          </a:prstGeom>
          <a:solidFill>
            <a:srgbClr val="221040"/>
          </a:solidFill>
          <a:ln/>
        </p:spPr>
      </p:sp>
      <p:sp>
        <p:nvSpPr>
          <p:cNvPr id="29" name="Shape 23"/>
          <p:cNvSpPr/>
          <p:nvPr/>
        </p:nvSpPr>
        <p:spPr>
          <a:xfrm>
            <a:off x="9893808" y="2029968"/>
            <a:ext cx="457200" cy="457200"/>
          </a:xfrm>
          <a:prstGeom prst="ellipse">
            <a:avLst/>
          </a:prstGeom>
          <a:solidFill>
            <a:srgbClr val="E7DEF8"/>
          </a:solidFill>
          <a:ln/>
        </p:spPr>
      </p:sp>
      <p:pic>
        <p:nvPicPr>
          <p:cNvPr id="30" name="Image 4" descr="preencoded.png">    </p:cNvPr>
          <p:cNvPicPr>
            <a:picLocks noChangeAspect="1"/>
          </p:cNvPicPr>
          <p:nvPr/>
        </p:nvPicPr>
        <p:blipFill>
          <a:blip r:embed="rId5"/>
          <a:stretch>
            <a:fillRect/>
          </a:stretch>
        </p:blipFill>
        <p:spPr>
          <a:xfrm>
            <a:off x="10012680" y="2148840"/>
            <a:ext cx="219456" cy="219456"/>
          </a:xfrm>
          <a:prstGeom prst="rect">
            <a:avLst/>
          </a:prstGeom>
        </p:spPr>
      </p:pic>
      <p:sp>
        <p:nvSpPr>
          <p:cNvPr id="31" name="Text 24"/>
          <p:cNvSpPr txBox="1"/>
          <p:nvPr/>
        </p:nvSpPr>
        <p:spPr>
          <a:xfrm>
            <a:off x="9893808" y="2633472"/>
            <a:ext cx="1636776" cy="320040"/>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Dialog</a:t>
            </a:r>
            <a:endParaRPr lang="en-US" sz="1350" dirty="0"/>
          </a:p>
        </p:txBody>
      </p:sp>
      <p:sp>
        <p:nvSpPr>
          <p:cNvPr id="32" name="Text 25"/>
          <p:cNvSpPr txBox="1"/>
          <p:nvPr/>
        </p:nvSpPr>
        <p:spPr>
          <a:xfrm>
            <a:off x="9893808" y="2971800"/>
            <a:ext cx="1636776" cy="256032"/>
          </a:xfrm>
          <a:prstGeom prst="rect">
            <a:avLst/>
          </a:prstGeom>
          <a:noFill/>
          <a:ln/>
        </p:spPr>
        <p:txBody>
          <a:bodyPr wrap="square" lIns="0" tIns="0" rIns="0" bIns="0" rtlCol="0" anchor="ctr"/>
          <a:lstStyle/>
          <a:p>
            <a:pPr indent="0" marL="0">
              <a:buNone/>
            </a:pPr>
            <a:r>
              <a:rPr lang="en-US" sz="1050" b="1" dirty="0">
                <a:solidFill>
                  <a:srgbClr val="CBB6F6"/>
                </a:solidFill>
                <a:latin typeface="Aptos" pitchFamily="34" charset="0"/>
                <a:ea typeface="Aptos" pitchFamily="34" charset="-122"/>
                <a:cs typeface="Aptos" pitchFamily="34" charset="-120"/>
              </a:rPr>
              <a:t>ElevenLabs</a:t>
            </a:r>
            <a:endParaRPr lang="en-US" sz="1050" dirty="0"/>
          </a:p>
        </p:txBody>
      </p:sp>
      <p:sp>
        <p:nvSpPr>
          <p:cNvPr id="33" name="Text 26"/>
          <p:cNvSpPr txBox="1"/>
          <p:nvPr/>
        </p:nvSpPr>
        <p:spPr>
          <a:xfrm>
            <a:off x="9893808" y="3300984"/>
            <a:ext cx="1636776" cy="914400"/>
          </a:xfrm>
          <a:prstGeom prst="rect">
            <a:avLst/>
          </a:prstGeom>
          <a:noFill/>
          <a:ln/>
        </p:spPr>
        <p:txBody>
          <a:bodyPr wrap="square" lIns="0" tIns="0" rIns="0" bIns="0" rtlCol="0" anchor="t"/>
          <a:lstStyle/>
          <a:p>
            <a:pPr indent="0" marL="0">
              <a:buNone/>
            </a:pPr>
            <a:r>
              <a:rPr lang="en-US" sz="1100" dirty="0">
                <a:solidFill>
                  <a:srgbClr val="D8CFF0"/>
                </a:solidFill>
                <a:latin typeface="Aptos" pitchFamily="34" charset="0"/>
                <a:ea typeface="Aptos" pitchFamily="34" charset="-122"/>
                <a:cs typeface="Aptos" pitchFamily="34" charset="-120"/>
              </a:rPr>
              <a:t>Frage vorlesen, Antwort aufnehmen, gegen Quelle prüfen.</a:t>
            </a:r>
            <a:endParaRPr lang="en-US" sz="1100" dirty="0"/>
          </a:p>
        </p:txBody>
      </p:sp>
      <p:sp>
        <p:nvSpPr>
          <p:cNvPr id="34" name="Shape 27"/>
          <p:cNvSpPr/>
          <p:nvPr/>
        </p:nvSpPr>
        <p:spPr>
          <a:xfrm>
            <a:off x="566928" y="4754880"/>
            <a:ext cx="11064240" cy="1280160"/>
          </a:xfrm>
          <a:prstGeom prst="roundRect">
            <a:avLst>
              <a:gd name="adj" fmla="val 10000"/>
            </a:avLst>
          </a:prstGeom>
          <a:solidFill>
            <a:srgbClr val="221040"/>
          </a:solidFill>
          <a:ln/>
        </p:spPr>
      </p:sp>
      <p:sp>
        <p:nvSpPr>
          <p:cNvPr id="35" name="Text 28"/>
          <p:cNvSpPr txBox="1"/>
          <p:nvPr/>
        </p:nvSpPr>
        <p:spPr>
          <a:xfrm>
            <a:off x="868680" y="4937760"/>
            <a:ext cx="2743200" cy="228600"/>
          </a:xfrm>
          <a:prstGeom prst="rect">
            <a:avLst/>
          </a:prstGeom>
          <a:noFill/>
          <a:ln/>
        </p:spPr>
        <p:txBody>
          <a:bodyPr wrap="square" lIns="0" tIns="0" rIns="0" bIns="0" rtlCol="0" anchor="ctr"/>
          <a:lstStyle/>
          <a:p>
            <a:pPr indent="0" marL="0">
              <a:buNone/>
            </a:pPr>
            <a:r>
              <a:rPr lang="en-US" sz="1000" b="1" spc="150" kern="0" dirty="0">
                <a:solidFill>
                  <a:srgbClr val="CBB6F6"/>
                </a:solidFill>
                <a:latin typeface="Aptos" pitchFamily="34" charset="0"/>
                <a:ea typeface="Aptos" pitchFamily="34" charset="-122"/>
                <a:cs typeface="Aptos" pitchFamily="34" charset="-120"/>
              </a:rPr>
              <a:t>DAS PRINZIP</a:t>
            </a:r>
            <a:endParaRPr lang="en-US" sz="1000" dirty="0"/>
          </a:p>
        </p:txBody>
      </p:sp>
      <p:sp>
        <p:nvSpPr>
          <p:cNvPr id="36" name="Text 29"/>
          <p:cNvSpPr txBox="1"/>
          <p:nvPr/>
        </p:nvSpPr>
        <p:spPr>
          <a:xfrm>
            <a:off x="868680" y="5193792"/>
            <a:ext cx="10424160" cy="640080"/>
          </a:xfrm>
          <a:prstGeom prst="rect">
            <a:avLst/>
          </a:prstGeom>
          <a:noFill/>
          <a:ln/>
        </p:spPr>
        <p:txBody>
          <a:bodyPr wrap="square" lIns="0" tIns="0" rIns="0" bIns="0" rtlCol="0" anchor="t"/>
          <a:lstStyle/>
          <a:p>
            <a:pPr indent="0" marL="0">
              <a:buNone/>
            </a:pPr>
            <a:r>
              <a:rPr lang="en-US" sz="1500" dirty="0">
                <a:solidFill>
                  <a:srgbClr val="FFFFFF"/>
                </a:solidFill>
                <a:latin typeface="Aptos" pitchFamily="34" charset="0"/>
                <a:ea typeface="Aptos" pitchFamily="34" charset="-122"/>
                <a:cs typeface="Aptos" pitchFamily="34" charset="-120"/>
              </a:rPr>
              <a:t>Inhaltliche KI-Ausgaben werden geprüft: Zitat-Match, Zahlen-Gate, offene Unsicherheit. Ohne Evidenz bleibt der Score offen — keine Note, keine Emotionsanalyse.</a:t>
            </a:r>
            <a:endParaRPr lang="en-US" sz="1500" dirty="0"/>
          </a:p>
        </p:txBody>
      </p:sp>
      <p:sp>
        <p:nvSpPr>
          <p:cNvPr id="37" name="Text 30"/>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9A8EC0"/>
                </a:solidFill>
                <a:latin typeface="Aptos" pitchFamily="34" charset="0"/>
                <a:ea typeface="Aptos" pitchFamily="34" charset="-122"/>
                <a:cs typeface="Aptos" pitchFamily="34" charset="-120"/>
              </a:rPr>
              <a:t>418 pitch practice</a:t>
            </a:r>
            <a:endParaRPr lang="en-US" sz="900" dirty="0"/>
          </a:p>
        </p:txBody>
      </p:sp>
      <p:sp>
        <p:nvSpPr>
          <p:cNvPr id="38" name="Text 31"/>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9A8EC0"/>
                </a:solidFill>
                <a:latin typeface="Aptos" pitchFamily="34" charset="0"/>
                <a:ea typeface="Aptos" pitchFamily="34" charset="-122"/>
                <a:cs typeface="Aptos"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56032"/>
          </a:xfrm>
          <a:prstGeom prst="rect">
            <a:avLst/>
          </a:prstGeom>
          <a:noFill/>
          <a:ln/>
        </p:spPr>
        <p:txBody>
          <a:bodyPr wrap="square" lIns="0" tIns="0" rIns="0" bIns="0" rtlCol="0" anchor="ctr"/>
          <a:lstStyle/>
          <a:p>
            <a:pPr indent="0" marL="0">
              <a:buNone/>
            </a:pPr>
            <a:r>
              <a:rPr lang="en-US" sz="1100" b="1" spc="200" kern="0" dirty="0">
                <a:solidFill>
                  <a:srgbClr val="3803BF"/>
                </a:solidFill>
                <a:latin typeface="Aptos" pitchFamily="34" charset="0"/>
                <a:ea typeface="Aptos" pitchFamily="34" charset="-122"/>
                <a:cs typeface="Aptos" pitchFamily="34" charset="-120"/>
              </a:rPr>
              <a:t>AI-REFLECTION · 2/2</a:t>
            </a:r>
            <a:endParaRPr lang="en-US" sz="1100" dirty="0"/>
          </a:p>
        </p:txBody>
      </p:sp>
      <p:sp>
        <p:nvSpPr>
          <p:cNvPr id="3" name="Text 1"/>
          <p:cNvSpPr txBox="1"/>
          <p:nvPr/>
        </p:nvSpPr>
        <p:spPr>
          <a:xfrm>
            <a:off x="566928" y="804672"/>
            <a:ext cx="11064240" cy="640080"/>
          </a:xfrm>
          <a:prstGeom prst="rect">
            <a:avLst/>
          </a:prstGeom>
          <a:noFill/>
          <a:ln/>
        </p:spPr>
        <p:txBody>
          <a:bodyPr wrap="square" lIns="0" tIns="0" rIns="0" bIns="0" rtlCol="0" anchor="ctr"/>
          <a:lstStyle/>
          <a:p>
            <a:pPr indent="0" marL="0">
              <a:buNone/>
            </a:pPr>
            <a:r>
              <a:rPr lang="en-US" sz="3400" b="1" dirty="0">
                <a:solidFill>
                  <a:srgbClr val="17111F"/>
                </a:solidFill>
                <a:latin typeface="Aptos" pitchFamily="34" charset="0"/>
                <a:ea typeface="Aptos" pitchFamily="34" charset="-122"/>
                <a:cs typeface="Aptos" pitchFamily="34" charset="-120"/>
              </a:rPr>
              <a:t>KI in der Entwicklung: schnell, aber nicht blind</a:t>
            </a:r>
            <a:endParaRPr lang="en-US" sz="3400" dirty="0"/>
          </a:p>
        </p:txBody>
      </p:sp>
      <p:sp>
        <p:nvSpPr>
          <p:cNvPr id="4" name="Shape 2"/>
          <p:cNvSpPr/>
          <p:nvPr/>
        </p:nvSpPr>
        <p:spPr>
          <a:xfrm>
            <a:off x="566928" y="1691640"/>
            <a:ext cx="3520440" cy="2468880"/>
          </a:xfrm>
          <a:prstGeom prst="roundRect">
            <a:avLst>
              <a:gd name="adj" fmla="val 5185"/>
            </a:avLst>
          </a:prstGeom>
          <a:solidFill>
            <a:srgbClr val="F4F0FC"/>
          </a:solidFill>
          <a:ln/>
        </p:spPr>
      </p:sp>
      <p:sp>
        <p:nvSpPr>
          <p:cNvPr id="5" name="Shape 3"/>
          <p:cNvSpPr/>
          <p:nvPr/>
        </p:nvSpPr>
        <p:spPr>
          <a:xfrm>
            <a:off x="841248" y="1947672"/>
            <a:ext cx="457200" cy="457200"/>
          </a:xfrm>
          <a:prstGeom prst="ellipse">
            <a:avLst/>
          </a:prstGeom>
          <a:solidFill>
            <a:srgbClr val="E7DEF8"/>
          </a:solidFill>
          <a:ln/>
        </p:spPr>
      </p:sp>
      <p:pic>
        <p:nvPicPr>
          <p:cNvPr id="6" name="Image 0" descr="preencoded.png">    </p:cNvPr>
          <p:cNvPicPr>
            <a:picLocks noChangeAspect="1"/>
          </p:cNvPicPr>
          <p:nvPr/>
        </p:nvPicPr>
        <p:blipFill>
          <a:blip r:embed="rId1"/>
          <a:stretch>
            <a:fillRect/>
          </a:stretch>
        </p:blipFill>
        <p:spPr>
          <a:xfrm>
            <a:off x="960120" y="2066544"/>
            <a:ext cx="219456" cy="219456"/>
          </a:xfrm>
          <a:prstGeom prst="rect">
            <a:avLst/>
          </a:prstGeom>
        </p:spPr>
      </p:pic>
      <p:sp>
        <p:nvSpPr>
          <p:cNvPr id="7" name="Text 4"/>
          <p:cNvSpPr txBox="1"/>
          <p:nvPr/>
        </p:nvSpPr>
        <p:spPr>
          <a:xfrm>
            <a:off x="841248" y="2560320"/>
            <a:ext cx="2971800" cy="320040"/>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Recherche</a:t>
            </a:r>
            <a:endParaRPr lang="en-US" sz="1550" dirty="0"/>
          </a:p>
        </p:txBody>
      </p:sp>
      <p:sp>
        <p:nvSpPr>
          <p:cNvPr id="8" name="Text 5"/>
          <p:cNvSpPr txBox="1"/>
          <p:nvPr/>
        </p:nvSpPr>
        <p:spPr>
          <a:xfrm>
            <a:off x="841248" y="2935224"/>
            <a:ext cx="2953512" cy="10515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Technik, Anbieter, Quellen. Zahlen werden nachgeprüft, nicht übernommen.</a:t>
            </a:r>
            <a:endParaRPr lang="en-US" sz="1250" dirty="0"/>
          </a:p>
        </p:txBody>
      </p:sp>
      <p:sp>
        <p:nvSpPr>
          <p:cNvPr id="9" name="Shape 6"/>
          <p:cNvSpPr/>
          <p:nvPr/>
        </p:nvSpPr>
        <p:spPr>
          <a:xfrm>
            <a:off x="4361688" y="1691640"/>
            <a:ext cx="3520440" cy="2468880"/>
          </a:xfrm>
          <a:prstGeom prst="roundRect">
            <a:avLst>
              <a:gd name="adj" fmla="val 5185"/>
            </a:avLst>
          </a:prstGeom>
          <a:solidFill>
            <a:srgbClr val="F4F0FC"/>
          </a:solidFill>
          <a:ln/>
        </p:spPr>
      </p:sp>
      <p:sp>
        <p:nvSpPr>
          <p:cNvPr id="10" name="Shape 7"/>
          <p:cNvSpPr/>
          <p:nvPr/>
        </p:nvSpPr>
        <p:spPr>
          <a:xfrm>
            <a:off x="4636008" y="1947672"/>
            <a:ext cx="457200" cy="457200"/>
          </a:xfrm>
          <a:prstGeom prst="ellipse">
            <a:avLst/>
          </a:prstGeom>
          <a:solidFill>
            <a:srgbClr val="E7DEF8"/>
          </a:solidFill>
          <a:ln/>
        </p:spPr>
      </p:sp>
      <p:pic>
        <p:nvPicPr>
          <p:cNvPr id="11" name="Image 1" descr="preencoded.png">    </p:cNvPr>
          <p:cNvPicPr>
            <a:picLocks noChangeAspect="1"/>
          </p:cNvPicPr>
          <p:nvPr/>
        </p:nvPicPr>
        <p:blipFill>
          <a:blip r:embed="rId2"/>
          <a:stretch>
            <a:fillRect/>
          </a:stretch>
        </p:blipFill>
        <p:spPr>
          <a:xfrm>
            <a:off x="4754880" y="2066544"/>
            <a:ext cx="219456" cy="219456"/>
          </a:xfrm>
          <a:prstGeom prst="rect">
            <a:avLst/>
          </a:prstGeom>
        </p:spPr>
      </p:pic>
      <p:sp>
        <p:nvSpPr>
          <p:cNvPr id="12" name="Text 8"/>
          <p:cNvSpPr txBox="1"/>
          <p:nvPr/>
        </p:nvSpPr>
        <p:spPr>
          <a:xfrm>
            <a:off x="4636008" y="2560320"/>
            <a:ext cx="2971800" cy="320040"/>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Coding</a:t>
            </a:r>
            <a:endParaRPr lang="en-US" sz="1550" dirty="0"/>
          </a:p>
        </p:txBody>
      </p:sp>
      <p:sp>
        <p:nvSpPr>
          <p:cNvPr id="13" name="Text 9"/>
          <p:cNvSpPr txBox="1"/>
          <p:nvPr/>
        </p:nvSpPr>
        <p:spPr>
          <a:xfrm>
            <a:off x="4636008" y="2935224"/>
            <a:ext cx="2953512" cy="10515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Codex und Claude Code: Architektur, Pipelines, Tests. Entscheidungen bleiben beim Team.</a:t>
            </a:r>
            <a:endParaRPr lang="en-US" sz="1250" dirty="0"/>
          </a:p>
        </p:txBody>
      </p:sp>
      <p:sp>
        <p:nvSpPr>
          <p:cNvPr id="14" name="Shape 10"/>
          <p:cNvSpPr/>
          <p:nvPr/>
        </p:nvSpPr>
        <p:spPr>
          <a:xfrm>
            <a:off x="8156448" y="1691640"/>
            <a:ext cx="3520440" cy="2468880"/>
          </a:xfrm>
          <a:prstGeom prst="roundRect">
            <a:avLst>
              <a:gd name="adj" fmla="val 5185"/>
            </a:avLst>
          </a:prstGeom>
          <a:solidFill>
            <a:srgbClr val="F4F0FC"/>
          </a:solidFill>
          <a:ln/>
        </p:spPr>
      </p:sp>
      <p:sp>
        <p:nvSpPr>
          <p:cNvPr id="15" name="Shape 11"/>
          <p:cNvSpPr/>
          <p:nvPr/>
        </p:nvSpPr>
        <p:spPr>
          <a:xfrm>
            <a:off x="8430768" y="1947672"/>
            <a:ext cx="457200" cy="457200"/>
          </a:xfrm>
          <a:prstGeom prst="ellipse">
            <a:avLst/>
          </a:prstGeom>
          <a:solidFill>
            <a:srgbClr val="E7DEF8"/>
          </a:solidFill>
          <a:ln/>
        </p:spPr>
      </p:sp>
      <p:pic>
        <p:nvPicPr>
          <p:cNvPr id="16" name="Image 2" descr="preencoded.png">    </p:cNvPr>
          <p:cNvPicPr>
            <a:picLocks noChangeAspect="1"/>
          </p:cNvPicPr>
          <p:nvPr/>
        </p:nvPicPr>
        <p:blipFill>
          <a:blip r:embed="rId3"/>
          <a:stretch>
            <a:fillRect/>
          </a:stretch>
        </p:blipFill>
        <p:spPr>
          <a:xfrm>
            <a:off x="8549640" y="2066544"/>
            <a:ext cx="219456" cy="219456"/>
          </a:xfrm>
          <a:prstGeom prst="rect">
            <a:avLst/>
          </a:prstGeom>
        </p:spPr>
      </p:pic>
      <p:sp>
        <p:nvSpPr>
          <p:cNvPr id="17" name="Text 12"/>
          <p:cNvSpPr txBox="1"/>
          <p:nvPr/>
        </p:nvSpPr>
        <p:spPr>
          <a:xfrm>
            <a:off x="8430768" y="2560320"/>
            <a:ext cx="2971800" cy="320040"/>
          </a:xfrm>
          <a:prstGeom prst="rect">
            <a:avLst/>
          </a:prstGeom>
          <a:noFill/>
          <a:ln/>
        </p:spPr>
        <p:txBody>
          <a:bodyPr wrap="square" lIns="0" tIns="0" rIns="0" bIns="0" rtlCol="0" anchor="ctr"/>
          <a:lstStyle/>
          <a:p>
            <a:pPr indent="0" marL="0">
              <a:buNone/>
            </a:pPr>
            <a:r>
              <a:rPr lang="en-US" sz="1550" b="1" dirty="0">
                <a:solidFill>
                  <a:srgbClr val="17111F"/>
                </a:solidFill>
                <a:latin typeface="Aptos" pitchFamily="34" charset="0"/>
                <a:ea typeface="Aptos" pitchFamily="34" charset="-122"/>
                <a:cs typeface="Aptos" pitchFamily="34" charset="-120"/>
              </a:rPr>
              <a:t>Deep Testing</a:t>
            </a:r>
            <a:endParaRPr lang="en-US" sz="1550" dirty="0"/>
          </a:p>
        </p:txBody>
      </p:sp>
      <p:sp>
        <p:nvSpPr>
          <p:cNvPr id="18" name="Text 13"/>
          <p:cNvSpPr txBox="1"/>
          <p:nvPr/>
        </p:nvSpPr>
        <p:spPr>
          <a:xfrm>
            <a:off x="8430768" y="2935224"/>
            <a:ext cx="2953512" cy="1051560"/>
          </a:xfrm>
          <a:prstGeom prst="rect">
            <a:avLst/>
          </a:prstGeom>
          <a:noFill/>
          <a:ln/>
        </p:spPr>
        <p:txBody>
          <a:bodyPr wrap="square" lIns="0" tIns="0" rIns="0" bIns="0" rtlCol="0" anchor="t"/>
          <a:lstStyle/>
          <a:p>
            <a:pPr indent="0" marL="0">
              <a:buNone/>
            </a:pPr>
            <a:r>
              <a:rPr lang="en-US" sz="1250" dirty="0">
                <a:solidFill>
                  <a:srgbClr val="6B6577"/>
                </a:solidFill>
                <a:latin typeface="Aptos" pitchFamily="34" charset="0"/>
                <a:ea typeface="Aptos" pitchFamily="34" charset="-122"/>
                <a:cs typeface="Aptos" pitchFamily="34" charset="-120"/>
              </a:rPr>
              <a:t>418 Backend-, 298 Frontend-Tests, 130 Browser-Fälle. Fehler mit Logs jagen.</a:t>
            </a:r>
            <a:endParaRPr lang="en-US" sz="1250" dirty="0"/>
          </a:p>
        </p:txBody>
      </p:sp>
      <p:sp>
        <p:nvSpPr>
          <p:cNvPr id="19" name="Shape 14"/>
          <p:cNvSpPr/>
          <p:nvPr/>
        </p:nvSpPr>
        <p:spPr>
          <a:xfrm>
            <a:off x="566928" y="4389120"/>
            <a:ext cx="11064240" cy="1691640"/>
          </a:xfrm>
          <a:prstGeom prst="roundRect">
            <a:avLst>
              <a:gd name="adj" fmla="val 7568"/>
            </a:avLst>
          </a:prstGeom>
          <a:solidFill>
            <a:srgbClr val="F4F0FC"/>
          </a:solidFill>
          <a:ln/>
        </p:spPr>
      </p:sp>
      <p:sp>
        <p:nvSpPr>
          <p:cNvPr id="20" name="Text 15"/>
          <p:cNvSpPr txBox="1"/>
          <p:nvPr/>
        </p:nvSpPr>
        <p:spPr>
          <a:xfrm>
            <a:off x="868680" y="4553712"/>
            <a:ext cx="8229600" cy="274320"/>
          </a:xfrm>
          <a:prstGeom prst="rect">
            <a:avLst/>
          </a:prstGeom>
          <a:noFill/>
          <a:ln/>
        </p:spPr>
        <p:txBody>
          <a:bodyPr wrap="square" lIns="0" tIns="0" rIns="0" bIns="0" rtlCol="0" anchor="ctr"/>
          <a:lstStyle/>
          <a:p>
            <a:pPr indent="0" marL="0">
              <a:buNone/>
            </a:pPr>
            <a:r>
              <a:rPr lang="en-US" sz="1250" b="1" dirty="0">
                <a:solidFill>
                  <a:srgbClr val="3803BF"/>
                </a:solidFill>
                <a:latin typeface="Aptos" pitchFamily="34" charset="0"/>
                <a:ea typeface="Aptos" pitchFamily="34" charset="-122"/>
                <a:cs typeface="Aptos" pitchFamily="34" charset="-120"/>
              </a:rPr>
              <a:t>Was schiefging → was wir daraus machten</a:t>
            </a:r>
            <a:endParaRPr lang="en-US" sz="1250" dirty="0"/>
          </a:p>
        </p:txBody>
      </p:sp>
      <p:sp>
        <p:nvSpPr>
          <p:cNvPr id="21" name="Text 16"/>
          <p:cNvSpPr txBox="1"/>
          <p:nvPr/>
        </p:nvSpPr>
        <p:spPr>
          <a:xfrm>
            <a:off x="868680" y="4901184"/>
            <a:ext cx="10469880" cy="274320"/>
          </a:xfrm>
          <a:prstGeom prst="rect">
            <a:avLst/>
          </a:prstGeom>
          <a:noFill/>
          <a:ln/>
        </p:spPr>
        <p:txBody>
          <a:bodyPr wrap="square" lIns="0" tIns="0" rIns="0" bIns="0" rtlCol="0" anchor="ctr"/>
          <a:lstStyle/>
          <a:p>
            <a:pPr indent="0" marL="0">
              <a:buNone/>
            </a:pPr>
            <a:r>
              <a:rPr lang="en-US" sz="1200" b="1" dirty="0">
                <a:solidFill>
                  <a:srgbClr val="17111F"/>
                </a:solidFill>
                <a:latin typeface="Aptos" pitchFamily="34" charset="0"/>
                <a:ea typeface="Aptos" pitchFamily="34" charset="-122"/>
                <a:cs typeface="Aptos" pitchFamily="34" charset="-120"/>
              </a:rPr>
              <a:t>Docker-Tag 4.49 gab es nicht</a:t>
            </a:r>
            <a:pPr indent="0" marL="0">
              <a:buNone/>
            </a:pPr>
            <a:r>
              <a:rPr lang="en-US" sz="1200" dirty="0">
                <a:solidFill>
                  <a:srgbClr val="6B6577"/>
                </a:solidFill>
                <a:latin typeface="Aptos" pitchFamily="34" charset="0"/>
                <a:ea typeface="Aptos" pitchFamily="34" charset="-122"/>
                <a:cs typeface="Aptos" pitchFamily="34" charset="-120"/>
              </a:rPr>
              <a:t>  →  Verfügbarkeit geprüft, auf 4.48 korrigiert.</a:t>
            </a:r>
            <a:endParaRPr lang="en-US" sz="1200" dirty="0"/>
          </a:p>
        </p:txBody>
      </p:sp>
      <p:sp>
        <p:nvSpPr>
          <p:cNvPr id="22" name="Text 17"/>
          <p:cNvSpPr txBox="1"/>
          <p:nvPr/>
        </p:nvSpPr>
        <p:spPr>
          <a:xfrm>
            <a:off x="868680" y="5248656"/>
            <a:ext cx="10469880" cy="274320"/>
          </a:xfrm>
          <a:prstGeom prst="rect">
            <a:avLst/>
          </a:prstGeom>
          <a:noFill/>
          <a:ln/>
        </p:spPr>
        <p:txBody>
          <a:bodyPr wrap="square" lIns="0" tIns="0" rIns="0" bIns="0" rtlCol="0" anchor="ctr"/>
          <a:lstStyle/>
          <a:p>
            <a:pPr indent="0" marL="0">
              <a:buNone/>
            </a:pPr>
            <a:r>
              <a:rPr lang="en-US" sz="1200" b="1" dirty="0">
                <a:solidFill>
                  <a:srgbClr val="17111F"/>
                </a:solidFill>
                <a:latin typeface="Aptos" pitchFamily="34" charset="0"/>
                <a:ea typeface="Aptos" pitchFamily="34" charset="-122"/>
                <a:cs typeface="Aptos" pitchFamily="34" charset="-120"/>
              </a:rPr>
              <a:t>Gültiges Zitat, falsches Urteil</a:t>
            </a:r>
            <a:pPr indent="0" marL="0">
              <a:buNone/>
            </a:pPr>
            <a:r>
              <a:rPr lang="en-US" sz="1200" dirty="0">
                <a:solidFill>
                  <a:srgbClr val="6B6577"/>
                </a:solidFill>
                <a:latin typeface="Aptos" pitchFamily="34" charset="0"/>
                <a:ea typeface="Aptos" pitchFamily="34" charset="-122"/>
                <a:cs typeface="Aptos" pitchFamily="34" charset="-120"/>
              </a:rPr>
              <a:t>  →  Prompt getrennt, Code-Gates ergänzt.</a:t>
            </a:r>
            <a:endParaRPr lang="en-US" sz="1200" dirty="0"/>
          </a:p>
        </p:txBody>
      </p:sp>
      <p:sp>
        <p:nvSpPr>
          <p:cNvPr id="23" name="Text 18"/>
          <p:cNvSpPr txBox="1"/>
          <p:nvPr/>
        </p:nvSpPr>
        <p:spPr>
          <a:xfrm>
            <a:off x="868680" y="5632704"/>
            <a:ext cx="10469880" cy="292608"/>
          </a:xfrm>
          <a:prstGeom prst="rect">
            <a:avLst/>
          </a:prstGeom>
          <a:noFill/>
          <a:ln/>
        </p:spPr>
        <p:txBody>
          <a:bodyPr wrap="square" lIns="0" tIns="0" rIns="0" bIns="0" rtlCol="0" anchor="ctr"/>
          <a:lstStyle/>
          <a:p>
            <a:pPr indent="0" marL="0">
              <a:buNone/>
            </a:pPr>
            <a:r>
              <a:rPr lang="en-US" sz="1300" b="1" i="1" dirty="0">
                <a:solidFill>
                  <a:srgbClr val="3803BF"/>
                </a:solidFill>
                <a:latin typeface="Aptos" pitchFamily="34" charset="0"/>
                <a:ea typeface="Aptos" pitchFamily="34" charset="-122"/>
                <a:cs typeface="Aptos" pitchFamily="34" charset="-120"/>
              </a:rPr>
              <a:t>Gültiges JSON und gültiges Zitat beweisen kein richtiges Urteil.</a:t>
            </a:r>
            <a:endParaRPr lang="en-US" sz="1300" dirty="0"/>
          </a:p>
        </p:txBody>
      </p:sp>
      <p:sp>
        <p:nvSpPr>
          <p:cNvPr id="24" name="Text 19"/>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6B6577"/>
                </a:solidFill>
                <a:latin typeface="Aptos" pitchFamily="34" charset="0"/>
                <a:ea typeface="Aptos" pitchFamily="34" charset="-122"/>
                <a:cs typeface="Aptos" pitchFamily="34" charset="-120"/>
              </a:rPr>
              <a:t>418 pitch practice</a:t>
            </a:r>
            <a:endParaRPr lang="en-US" sz="900" dirty="0"/>
          </a:p>
        </p:txBody>
      </p:sp>
      <p:sp>
        <p:nvSpPr>
          <p:cNvPr id="25" name="Text 20"/>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6B6577"/>
                </a:solidFill>
                <a:latin typeface="Aptos" pitchFamily="34" charset="0"/>
                <a:ea typeface="Aptos" pitchFamily="34" charset="-122"/>
                <a:cs typeface="Aptos"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0A20"/>
        </a:solidFill>
      </p:bgPr>
    </p:bg>
    <p:spTree>
      <p:nvGrpSpPr>
        <p:cNvPr id="1" name=""/>
        <p:cNvGrpSpPr/>
        <p:nvPr/>
      </p:nvGrpSpPr>
      <p:grpSpPr>
        <a:xfrm>
          <a:off x="0" y="0"/>
          <a:ext cx="0" cy="0"/>
          <a:chOff x="0" y="0"/>
          <a:chExt cx="0" cy="0"/>
        </a:xfrm>
      </p:grpSpPr>
      <p:pic>
        <p:nvPicPr>
          <p:cNvPr id="2" name="Image 0" descr="418 Pitch Practice Logo">    </p:cNvPr>
          <p:cNvPicPr>
            <a:picLocks noChangeAspect="1"/>
          </p:cNvPicPr>
          <p:nvPr/>
        </p:nvPicPr>
        <p:blipFill>
          <a:blip r:embed="rId1"/>
          <a:stretch>
            <a:fillRect/>
          </a:stretch>
        </p:blipFill>
        <p:spPr>
          <a:xfrm>
            <a:off x="5616245" y="566928"/>
            <a:ext cx="960120" cy="960120"/>
          </a:xfrm>
          <a:prstGeom prst="rect">
            <a:avLst/>
          </a:prstGeom>
        </p:spPr>
      </p:pic>
      <p:sp>
        <p:nvSpPr>
          <p:cNvPr id="3" name="Text 0"/>
          <p:cNvSpPr txBox="1"/>
          <p:nvPr/>
        </p:nvSpPr>
        <p:spPr>
          <a:xfrm>
            <a:off x="457200" y="1691640"/>
            <a:ext cx="11277295" cy="274320"/>
          </a:xfrm>
          <a:prstGeom prst="rect">
            <a:avLst/>
          </a:prstGeom>
          <a:noFill/>
          <a:ln/>
        </p:spPr>
        <p:txBody>
          <a:bodyPr wrap="square" lIns="0" tIns="0" rIns="0" bIns="0" rtlCol="0" anchor="ctr"/>
          <a:lstStyle/>
          <a:p>
            <a:pPr algn="ctr" indent="0" marL="0">
              <a:buNone/>
            </a:pPr>
            <a:r>
              <a:rPr lang="en-US" sz="1100" b="1" spc="200" kern="0" dirty="0">
                <a:solidFill>
                  <a:srgbClr val="CBB6F6"/>
                </a:solidFill>
                <a:latin typeface="Aptos" pitchFamily="34" charset="0"/>
                <a:ea typeface="Aptos" pitchFamily="34" charset="-122"/>
                <a:cs typeface="Aptos" pitchFamily="34" charset="-120"/>
              </a:rPr>
              <a:t>418 PITCH PRACTICE</a:t>
            </a:r>
            <a:endParaRPr lang="en-US" sz="1100" dirty="0"/>
          </a:p>
        </p:txBody>
      </p:sp>
      <p:sp>
        <p:nvSpPr>
          <p:cNvPr id="4" name="Text 1"/>
          <p:cNvSpPr/>
          <p:nvPr/>
        </p:nvSpPr>
        <p:spPr>
          <a:xfrm>
            <a:off x="1180948" y="2423160"/>
            <a:ext cx="2148840" cy="713232"/>
          </a:xfrm>
          <a:prstGeom prst="roundRect">
            <a:avLst>
              <a:gd name="adj" fmla="val 25641"/>
            </a:avLst>
          </a:prstGeom>
          <a:solidFill>
            <a:srgbClr val="221040"/>
          </a:solid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Satz</a:t>
            </a:r>
            <a:endParaRPr lang="en-US" sz="1800" dirty="0"/>
          </a:p>
        </p:txBody>
      </p:sp>
      <p:sp>
        <p:nvSpPr>
          <p:cNvPr id="5" name="Text 2"/>
          <p:cNvSpPr txBox="1"/>
          <p:nvPr/>
        </p:nvSpPr>
        <p:spPr>
          <a:xfrm>
            <a:off x="3366364" y="2523744"/>
            <a:ext cx="338328" cy="512064"/>
          </a:xfrm>
          <a:prstGeom prst="rect">
            <a:avLst/>
          </a:prstGeom>
          <a:noFill/>
          <a:ln/>
        </p:spPr>
        <p:txBody>
          <a:bodyPr wrap="square" lIns="0" tIns="0" rIns="0" bIns="0" rtlCol="0" anchor="ctr"/>
          <a:lstStyle/>
          <a:p>
            <a:pPr algn="ctr" indent="0" marL="0">
              <a:buNone/>
            </a:pPr>
            <a:r>
              <a:rPr lang="en-US" sz="2200" b="1" dirty="0">
                <a:solidFill>
                  <a:srgbClr val="CBB6F6"/>
                </a:solidFill>
                <a:latin typeface="Aptos" pitchFamily="34" charset="0"/>
                <a:ea typeface="Aptos" pitchFamily="34" charset="-122"/>
                <a:cs typeface="Aptos" pitchFamily="34" charset="-120"/>
              </a:rPr>
              <a:t>→</a:t>
            </a:r>
            <a:endParaRPr lang="en-US" sz="2200" dirty="0"/>
          </a:p>
        </p:txBody>
      </p:sp>
      <p:sp>
        <p:nvSpPr>
          <p:cNvPr id="6" name="Text 3"/>
          <p:cNvSpPr/>
          <p:nvPr/>
        </p:nvSpPr>
        <p:spPr>
          <a:xfrm>
            <a:off x="3741268" y="2423160"/>
            <a:ext cx="2148840" cy="713232"/>
          </a:xfrm>
          <a:prstGeom prst="roundRect">
            <a:avLst>
              <a:gd name="adj" fmla="val 25641"/>
            </a:avLst>
          </a:prstGeom>
          <a:solidFill>
            <a:srgbClr val="221040"/>
          </a:solid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Quelle</a:t>
            </a:r>
            <a:endParaRPr lang="en-US" sz="1800" dirty="0"/>
          </a:p>
        </p:txBody>
      </p:sp>
      <p:sp>
        <p:nvSpPr>
          <p:cNvPr id="7" name="Text 4"/>
          <p:cNvSpPr txBox="1"/>
          <p:nvPr/>
        </p:nvSpPr>
        <p:spPr>
          <a:xfrm>
            <a:off x="5926684" y="2523744"/>
            <a:ext cx="338328" cy="512064"/>
          </a:xfrm>
          <a:prstGeom prst="rect">
            <a:avLst/>
          </a:prstGeom>
          <a:noFill/>
          <a:ln/>
        </p:spPr>
        <p:txBody>
          <a:bodyPr wrap="square" lIns="0" tIns="0" rIns="0" bIns="0" rtlCol="0" anchor="ctr"/>
          <a:lstStyle/>
          <a:p>
            <a:pPr algn="ctr" indent="0" marL="0">
              <a:buNone/>
            </a:pPr>
            <a:r>
              <a:rPr lang="en-US" sz="2200" b="1" dirty="0">
                <a:solidFill>
                  <a:srgbClr val="CBB6F6"/>
                </a:solidFill>
                <a:latin typeface="Aptos" pitchFamily="34" charset="0"/>
                <a:ea typeface="Aptos" pitchFamily="34" charset="-122"/>
                <a:cs typeface="Aptos" pitchFamily="34" charset="-120"/>
              </a:rPr>
              <a:t>→</a:t>
            </a:r>
            <a:endParaRPr lang="en-US" sz="2200" dirty="0"/>
          </a:p>
        </p:txBody>
      </p:sp>
      <p:sp>
        <p:nvSpPr>
          <p:cNvPr id="8" name="Text 5"/>
          <p:cNvSpPr/>
          <p:nvPr/>
        </p:nvSpPr>
        <p:spPr>
          <a:xfrm>
            <a:off x="6301588" y="2423160"/>
            <a:ext cx="2148840" cy="713232"/>
          </a:xfrm>
          <a:prstGeom prst="roundRect">
            <a:avLst>
              <a:gd name="adj" fmla="val 25641"/>
            </a:avLst>
          </a:prstGeom>
          <a:solidFill>
            <a:srgbClr val="221040"/>
          </a:solid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Sekunde</a:t>
            </a:r>
            <a:endParaRPr lang="en-US" sz="1800" dirty="0"/>
          </a:p>
        </p:txBody>
      </p:sp>
      <p:sp>
        <p:nvSpPr>
          <p:cNvPr id="9" name="Text 6"/>
          <p:cNvSpPr txBox="1"/>
          <p:nvPr/>
        </p:nvSpPr>
        <p:spPr>
          <a:xfrm>
            <a:off x="8487004" y="2523744"/>
            <a:ext cx="338328" cy="512064"/>
          </a:xfrm>
          <a:prstGeom prst="rect">
            <a:avLst/>
          </a:prstGeom>
          <a:noFill/>
          <a:ln/>
        </p:spPr>
        <p:txBody>
          <a:bodyPr wrap="square" lIns="0" tIns="0" rIns="0" bIns="0" rtlCol="0" anchor="ctr"/>
          <a:lstStyle/>
          <a:p>
            <a:pPr algn="ctr" indent="0" marL="0">
              <a:buNone/>
            </a:pPr>
            <a:r>
              <a:rPr lang="en-US" sz="2200" b="1" dirty="0">
                <a:solidFill>
                  <a:srgbClr val="CBB6F6"/>
                </a:solidFill>
                <a:latin typeface="Aptos" pitchFamily="34" charset="0"/>
                <a:ea typeface="Aptos" pitchFamily="34" charset="-122"/>
                <a:cs typeface="Aptos" pitchFamily="34" charset="-120"/>
              </a:rPr>
              <a:t>→</a:t>
            </a:r>
            <a:endParaRPr lang="en-US" sz="2200" dirty="0"/>
          </a:p>
        </p:txBody>
      </p:sp>
      <p:sp>
        <p:nvSpPr>
          <p:cNvPr id="10" name="Text 7"/>
          <p:cNvSpPr/>
          <p:nvPr/>
        </p:nvSpPr>
        <p:spPr>
          <a:xfrm>
            <a:off x="8861908" y="2423160"/>
            <a:ext cx="2148840" cy="713232"/>
          </a:xfrm>
          <a:prstGeom prst="roundRect">
            <a:avLst>
              <a:gd name="adj" fmla="val 25641"/>
            </a:avLst>
          </a:prstGeom>
          <a:solidFill>
            <a:srgbClr val="221040"/>
          </a:solid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Frage</a:t>
            </a:r>
            <a:endParaRPr lang="en-US" sz="1800" dirty="0"/>
          </a:p>
        </p:txBody>
      </p:sp>
      <p:sp>
        <p:nvSpPr>
          <p:cNvPr id="11" name="Text 8"/>
          <p:cNvSpPr txBox="1"/>
          <p:nvPr/>
        </p:nvSpPr>
        <p:spPr>
          <a:xfrm>
            <a:off x="457200" y="3794760"/>
            <a:ext cx="11277295"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Aptos" pitchFamily="34" charset="0"/>
                <a:ea typeface="Aptos" pitchFamily="34" charset="-122"/>
                <a:cs typeface="Aptos" pitchFamily="34" charset="-120"/>
              </a:rPr>
              <a:t>Danke. Fragen?</a:t>
            </a:r>
            <a:endParaRPr lang="en-US" sz="4000" dirty="0"/>
          </a:p>
        </p:txBody>
      </p:sp>
      <p:sp>
        <p:nvSpPr>
          <p:cNvPr id="12" name="Text 9"/>
          <p:cNvSpPr txBox="1"/>
          <p:nvPr/>
        </p:nvSpPr>
        <p:spPr>
          <a:xfrm>
            <a:off x="457200" y="4663440"/>
            <a:ext cx="11277295" cy="365760"/>
          </a:xfrm>
          <a:prstGeom prst="rect">
            <a:avLst/>
          </a:prstGeom>
          <a:noFill/>
          <a:ln/>
        </p:spPr>
        <p:txBody>
          <a:bodyPr wrap="square" lIns="0" tIns="0" rIns="0" bIns="0" rtlCol="0" anchor="ctr"/>
          <a:lstStyle/>
          <a:p>
            <a:pPr algn="ctr" indent="0" marL="0">
              <a:buNone/>
            </a:pPr>
            <a:r>
              <a:rPr lang="en-US" sz="1600" dirty="0">
                <a:solidFill>
                  <a:srgbClr val="CBB6F6"/>
                </a:solidFill>
                <a:latin typeface="Aptos" pitchFamily="34" charset="0"/>
                <a:ea typeface="Aptos" pitchFamily="34" charset="-122"/>
                <a:cs typeface="Aptos" pitchFamily="34" charset="-120"/>
              </a:rPr>
              <a:t>Prototyp läuft lokal, ohne Login. Live-Demo willkommen.</a:t>
            </a:r>
            <a:endParaRPr lang="en-US" sz="1600" dirty="0"/>
          </a:p>
        </p:txBody>
      </p:sp>
      <p:sp>
        <p:nvSpPr>
          <p:cNvPr id="13" name="Text 10"/>
          <p:cNvSpPr txBox="1"/>
          <p:nvPr/>
        </p:nvSpPr>
        <p:spPr>
          <a:xfrm>
            <a:off x="457200" y="6053328"/>
            <a:ext cx="11277295" cy="274320"/>
          </a:xfrm>
          <a:prstGeom prst="rect">
            <a:avLst/>
          </a:prstGeom>
          <a:noFill/>
          <a:ln/>
        </p:spPr>
        <p:txBody>
          <a:bodyPr wrap="square" lIns="0" tIns="0" rIns="0" bIns="0" rtlCol="0" anchor="ctr"/>
          <a:lstStyle/>
          <a:p>
            <a:pPr algn="ctr" indent="0" marL="0">
              <a:buNone/>
            </a:pPr>
            <a:r>
              <a:rPr lang="en-US" sz="1200" dirty="0">
                <a:solidFill>
                  <a:srgbClr val="9A8EC0"/>
                </a:solidFill>
                <a:latin typeface="Aptos" pitchFamily="34" charset="0"/>
                <a:ea typeface="Aptos" pitchFamily="34" charset="-122"/>
                <a:cs typeface="Aptos" pitchFamily="34" charset="-120"/>
              </a:rPr>
              <a:t>Team 418 · 8. Hackathon Fulda · Future Education 2026</a:t>
            </a:r>
            <a:endParaRPr lang="en-US" sz="1200" dirty="0"/>
          </a:p>
        </p:txBody>
      </p:sp>
      <p:sp>
        <p:nvSpPr>
          <p:cNvPr id="14" name="Text 11"/>
          <p:cNvSpPr txBox="1"/>
          <p:nvPr/>
        </p:nvSpPr>
        <p:spPr>
          <a:xfrm>
            <a:off x="566928" y="6473952"/>
            <a:ext cx="3657600" cy="219456"/>
          </a:xfrm>
          <a:prstGeom prst="rect">
            <a:avLst/>
          </a:prstGeom>
          <a:noFill/>
          <a:ln/>
        </p:spPr>
        <p:txBody>
          <a:bodyPr wrap="square" lIns="0" tIns="0" rIns="0" bIns="0" rtlCol="0" anchor="ctr"/>
          <a:lstStyle/>
          <a:p>
            <a:pPr indent="0" marL="0">
              <a:buNone/>
            </a:pPr>
            <a:r>
              <a:rPr lang="en-US" sz="900" dirty="0">
                <a:solidFill>
                  <a:srgbClr val="9A8EC0"/>
                </a:solidFill>
                <a:latin typeface="Aptos" pitchFamily="34" charset="0"/>
                <a:ea typeface="Aptos" pitchFamily="34" charset="-122"/>
                <a:cs typeface="Aptos" pitchFamily="34" charset="-120"/>
              </a:rPr>
              <a:t>418 pitch practice</a:t>
            </a:r>
            <a:endParaRPr lang="en-US" sz="900" dirty="0"/>
          </a:p>
        </p:txBody>
      </p:sp>
      <p:sp>
        <p:nvSpPr>
          <p:cNvPr id="15" name="Text 12"/>
          <p:cNvSpPr txBox="1"/>
          <p:nvPr/>
        </p:nvSpPr>
        <p:spPr>
          <a:xfrm>
            <a:off x="10698480" y="6473952"/>
            <a:ext cx="914400" cy="219456"/>
          </a:xfrm>
          <a:prstGeom prst="rect">
            <a:avLst/>
          </a:prstGeom>
          <a:noFill/>
          <a:ln/>
        </p:spPr>
        <p:txBody>
          <a:bodyPr wrap="square" lIns="0" tIns="0" rIns="0" bIns="0" rtlCol="0" anchor="ctr"/>
          <a:lstStyle/>
          <a:p>
            <a:pPr algn="r" indent="0" marL="0">
              <a:buNone/>
            </a:pPr>
            <a:r>
              <a:rPr lang="en-US" sz="900" dirty="0">
                <a:solidFill>
                  <a:srgbClr val="9A8EC0"/>
                </a:solidFill>
                <a:latin typeface="Aptos" pitchFamily="34" charset="0"/>
                <a:ea typeface="Aptos" pitchFamily="34" charset="-122"/>
                <a:cs typeface="Aptos" pitchFamily="34" charset="-120"/>
              </a:rPr>
              <a:t>7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418 presentation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Practice — Der Live-Präsentationstrainer</dc:title>
  <dc:subject>8. Hackathon Fulda 2026 — Future Education</dc:subject>
  <dc:creator>Team 418</dc:creator>
  <cp:lastModifiedBy>Team 418</cp:lastModifiedBy>
  <cp:revision>1</cp:revision>
  <dcterms:created xsi:type="dcterms:W3CDTF">2026-10-25T04:21:57Z</dcterms:created>
  <dcterms:modified xsi:type="dcterms:W3CDTF">2026-10-25T04:21:57Z</dcterms:modified>
</cp:coreProperties>
</file>